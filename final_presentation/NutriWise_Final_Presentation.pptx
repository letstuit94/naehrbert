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[Both — Jennifer opens]</a:t>
            </a:r>
          </a:p>
          <a:p>
            <a:r>
              <a:t>Open on the one line: 'Take a photo of your shopping receipt, and we tell you one smart thing to buy next time.' Say both names and who does what. Plan for the room: about 10 minutes, kept simple, and we'll show the real app in about a minute so you can see it before we explain anything.</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[Jennifer — do the live demo here (~1 min)]</a:t>
            </a:r>
          </a:p>
          <a:p>
            <a:r>
              <a:t>Before any slides about how it works, show it. Snap a receipt → the pantry fills → tap one thing you ate → the app shows this card: your week's gaps and ONE thing to buy next time. Keep it to a minute. Say plainly: these are friendly estimates from your shopping, not a doctor's advice. If the live app hiccups, this card is exactly what they'd see. Now that they've seen it — here's the problem it solves.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[Jennifer]</a:t>
            </a:r>
          </a:p>
          <a:p>
            <a:r>
              <a:t>Simple version: people want to eat healthier, but every app makes them type in every meal — that's boring, so they quit. Our way in: the shopping receipt already shows what they bought, with zero extra effort. Target user: health-minded people aged 25–45.</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[Jennifer]</a:t>
            </a:r>
          </a:p>
          <a:p>
            <a:r>
              <a:t>In one breath: our vision is that eating better takes no extra effort — your shopping does the work. Our mission is to turn the receipt everyone already gets into one clear, kind nudge. And the slogan we keep coming back to: upload a receipt, get one smarter thing to buy next time.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[Jennifer]</a:t>
            </a:r>
          </a:p>
          <a:p>
            <a:r>
              <a:t>The whole loop in one picture. First a short chat so we learn your goal. Then a photo of your receipt fills your 'pantry' — the food in your house. Every day you tap what you ate (one tap, no typing). At the end of the week we show what's missing and two easy fixes. Friendly estimates, not a doctor's advice.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[Jennifer]</a:t>
            </a:r>
          </a:p>
          <a:p>
            <a:r>
              <a:t>Think of a new friend who cooks for you. Day one they only know your goal, so they just say what to aim for. After your first shop they can say what's in your kitchen — but that's shopping, not what you ate, so we call it 'your basket,' not 'your diet.' Once you tap meals they get a feel for it, and after a week they can honestly say 'you're a little low on fibre.' If you've only tracked 2 days, we say 'still learning' instead of guessing. That honesty is on purpose — it's how you earn trust in health.</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[Jennifer]</a:t>
            </a:r>
          </a:p>
          <a:p>
            <a:r>
              <a:t>The one number that makes or breaks us: do people keep tapping after week 1? If the daily tap dies, the whole thing dies — so we test that first. Our north star: at least 3 in 10 people change what they buy next time, with no manual food diary. Plus: more than 1 in 5 act on our tip, and they see something useful in under 2 minutes.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[Jennifer → hands to Stuart]</a:t>
            </a:r>
          </a:p>
          <a:p>
            <a:r>
              <a:t>Three phases. DONE: the whole loop already runs end to end. NOW: smarter matching and our first real user tests. NEXT: better accuracy, personalised portions, and the full success-scorecard. And here's the honest bit — a tip is only as good as the data behind it. So I'll hand to Stuart to show how we made that data trustworthy.</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[Stuart]</a:t>
            </a:r>
          </a:p>
          <a:p>
            <a:r>
              <a:t>Stuart here. This isn't a normal 'train a model' project — the real puzzle is turning messy receipt text like 'AB Bud 6x0,3l MW' into an actual food. Nobody handed us an answer key, so we made one: 180 real receipt lines, matched to the true food. A person double-checked; only 3% were off. Our test in plain words: when the app shows its top 5 guesses, is the right food in there? (The technical name is Recall@5 — it's in the backup if anyone wants it.)</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[Stuart]</a:t>
            </a:r>
          </a:p>
          <a:p>
            <a:r>
              <a:t>Three data worlds. One: real German receipts, read on the phone itself — private, no cloud. Two: Open Food Facts, a big crowd list of branded products, as a backup. Three: the official German food table, 7,140 foods, our trusted source for nutrients. For testing we grew our answer key from 45 to 180 real receipt lines. Honest hurdles: receipt text is cryptic; real receipts are harder than tidy text; and we tried the US food database but dropped it — it doesn't know German foods like Quark or Schmand.</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[Stuart]</a:t>
            </a:r>
          </a:p>
          <a:p>
            <a:r>
              <a:t>Two quick pictures. Left: most shopping is fruit, veg and dairy — the basics. Right: but there's a long tail — half the items show up only once. So we can't just memorise the popular foods; the matcher has to handle weird, one-off, badly-abbreviated names it has never seen. That shaped our whole design.</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[Stuart]</a:t>
            </a:r>
          </a:p>
          <a:p>
            <a:r>
              <a:t>It's a ladder: read the receipt, clean it up, then try the safest match first. Known: a match we've confirmed before. German table: the official food database — our main source, it handled almost every line. Branded: Open Food Facts for the few branded gaps. And if it's genuinely unclear, we leave it open instead of guessing. Rules on purpose — you can see exactly why each number is there, which matters for a health app. The clever AI part only breaks ties.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[Stuart]</a:t>
            </a:r>
          </a:p>
          <a:p>
            <a:r>
              <a:t>Our honest scorecard. First, we found a match for 99% of lines — 174 from the German table, 4 from Open Food Facts, and 2 we left open on purpose. Second, the big lever is cleaning the receipt text: the right food lands in the top 5 about 47% of the time after cleanup, up from 32% on raw text. Third, honesty: real receipts are harder than the tidy names we started with. The way we close the gap: every user correction is saved and reused. (Earlier pilot numbers are in the backup if you want them.)</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[Both]</a:t>
            </a:r>
          </a:p>
          <a:p>
            <a:r>
              <a:t>Close on the one-liner and invite questions. If pushed on accuracy: we measure honestly on real receipts (right food in the top 5 about 47% of the time after cleanup, 99% of lines resolved), the clear next lever is saving every user correction, and the deeper question — do people trust it and keep tapping — is what live user testing answers next. Backup slides have the technical detail.</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[Stuart — only if asked]</a:t>
            </a:r>
          </a:p>
          <a:p>
            <a:r>
              <a:t>Technical backstop. Gold set of 180 receipt lines labeled against all 7,140 foods. Metric is Recall@5 — correct food in the top 5. ~3% label error. Resolver is tiered; the embedding only breaks ties.</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[Stuart — only if asked]</a:t>
            </a:r>
          </a:p>
          <a:p>
            <a:r>
              <a:t>Backup for questions. Earlier pilot on 76 items, judged by an LLM panel — a different method, so don't compare its 66% to the 47% Recall@5. It told us Open Food Facts wins on identity, the German table matched worse on its own — which is why the table leads for nutrients only, and why we then built the stricter, human-checked Recall@5 test.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16.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AFAFA"/>
        </a:solidFill>
        <a:effectLst/>
      </p:bgPr>
    </p:bg>
    <p:spTree>
      <p:nvGrpSpPr>
        <p:cNvPr id="1" name=""/>
        <p:cNvGrpSpPr/>
        <p:nvPr/>
      </p:nvGrpSpPr>
      <p:grpSpPr/>
      <p:sp>
        <p:nvSpPr>
          <p:cNvPr id="2" name="Rectangle 1"/>
          <p:cNvSpPr/>
          <p:nvPr/>
        </p:nvSpPr>
        <p:spPr>
          <a:xfrm>
            <a:off x="0" y="0"/>
            <a:ext cx="12191695" cy="128016"/>
          </a:xfrm>
          <a:prstGeom prst="rect">
            <a:avLst/>
          </a:prstGeom>
          <a:solidFill>
            <a:srgbClr val="7C9A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8138160" y="128016"/>
            <a:ext cx="4053535" cy="6729984"/>
          </a:xfrm>
          <a:prstGeom prst="rect">
            <a:avLst/>
          </a:prstGeom>
          <a:solidFill>
            <a:srgbClr val="EEF2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822960" y="777240"/>
            <a:ext cx="310896" cy="310896"/>
          </a:xfrm>
          <a:prstGeom prst="roundRect">
            <a:avLst>
              <a:gd name="adj" fmla="val 30000"/>
            </a:avLst>
          </a:prstGeom>
          <a:solidFill>
            <a:srgbClr val="7C9A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243584" y="749808"/>
            <a:ext cx="3657600" cy="384048"/>
          </a:xfrm>
          <a:prstGeom prst="rect">
            <a:avLst/>
          </a:prstGeom>
          <a:noFill/>
        </p:spPr>
        <p:txBody>
          <a:bodyPr wrap="square" anchor="ctr" lIns="0" rIns="0" tIns="0" bIns="0">
            <a:spAutoFit/>
          </a:bodyPr>
          <a:lstStyle/>
          <a:p>
            <a:pPr algn="l">
              <a:lnSpc>
                <a:spcPct val="100000"/>
              </a:lnSpc>
              <a:spcBef>
                <a:spcPts val="0"/>
              </a:spcBef>
              <a:spcAft>
                <a:spcPts val="400"/>
              </a:spcAft>
            </a:pPr>
            <a:r>
              <a:rPr sz="1300" b="1" i="0">
                <a:solidFill>
                  <a:srgbClr val="1D1D21"/>
                </a:solidFill>
                <a:latin typeface="Arial"/>
              </a:rPr>
              <a:t>NUTRIWISE</a:t>
            </a:r>
          </a:p>
        </p:txBody>
      </p:sp>
      <p:sp>
        <p:nvSpPr>
          <p:cNvPr id="6" name="TextBox 5"/>
          <p:cNvSpPr txBox="1"/>
          <p:nvPr/>
        </p:nvSpPr>
        <p:spPr>
          <a:xfrm>
            <a:off x="822960" y="1965960"/>
            <a:ext cx="7315200" cy="2377440"/>
          </a:xfrm>
          <a:prstGeom prst="rect">
            <a:avLst/>
          </a:prstGeom>
          <a:noFill/>
        </p:spPr>
        <p:txBody>
          <a:bodyPr wrap="square" anchor="t" lIns="0" rIns="0" tIns="0" bIns="0">
            <a:spAutoFit/>
          </a:bodyPr>
          <a:lstStyle/>
          <a:p>
            <a:pPr algn="l">
              <a:lnSpc>
                <a:spcPct val="105000"/>
              </a:lnSpc>
              <a:spcBef>
                <a:spcPts val="0"/>
              </a:spcBef>
              <a:spcAft>
                <a:spcPts val="400"/>
              </a:spcAft>
            </a:pPr>
            <a:r>
              <a:rPr sz="4200" b="1" i="0">
                <a:solidFill>
                  <a:srgbClr val="1D1D21"/>
                </a:solidFill>
                <a:latin typeface="Arial"/>
              </a:rPr>
              <a:t>Upload a grocery receipt.</a:t>
            </a:r>
          </a:p>
          <a:p>
            <a:pPr algn="l">
              <a:lnSpc>
                <a:spcPct val="105000"/>
              </a:lnSpc>
              <a:spcBef>
                <a:spcPts val="0"/>
              </a:spcBef>
              <a:spcAft>
                <a:spcPts val="400"/>
              </a:spcAft>
            </a:pPr>
            <a:r>
              <a:rPr sz="4200" b="1" i="0">
                <a:solidFill>
                  <a:srgbClr val="5F7B4F"/>
                </a:solidFill>
                <a:latin typeface="Arial"/>
              </a:rPr>
              <a:t>Get one smarter thing</a:t>
            </a:r>
          </a:p>
          <a:p>
            <a:pPr algn="l">
              <a:lnSpc>
                <a:spcPct val="105000"/>
              </a:lnSpc>
              <a:spcBef>
                <a:spcPts val="0"/>
              </a:spcBef>
              <a:spcAft>
                <a:spcPts val="400"/>
              </a:spcAft>
            </a:pPr>
            <a:r>
              <a:rPr sz="4200" b="1" i="0">
                <a:solidFill>
                  <a:srgbClr val="5F7B4F"/>
                </a:solidFill>
                <a:latin typeface="Arial"/>
              </a:rPr>
              <a:t>to buy next time.</a:t>
            </a:r>
          </a:p>
        </p:txBody>
      </p:sp>
      <p:sp>
        <p:nvSpPr>
          <p:cNvPr id="7" name="Rectangle 6"/>
          <p:cNvSpPr/>
          <p:nvPr/>
        </p:nvSpPr>
        <p:spPr>
          <a:xfrm>
            <a:off x="841248" y="4160520"/>
            <a:ext cx="3108960" cy="41148"/>
          </a:xfrm>
          <a:prstGeom prst="rect">
            <a:avLst/>
          </a:prstGeom>
          <a:solidFill>
            <a:srgbClr val="7C9A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41248" y="4389120"/>
            <a:ext cx="6949440" cy="640080"/>
          </a:xfrm>
          <a:prstGeom prst="rect">
            <a:avLst/>
          </a:prstGeom>
          <a:noFill/>
        </p:spPr>
        <p:txBody>
          <a:bodyPr wrap="square" anchor="t" lIns="0" rIns="0" tIns="0" bIns="0">
            <a:spAutoFit/>
          </a:bodyPr>
          <a:lstStyle/>
          <a:p>
            <a:pPr algn="l">
              <a:lnSpc>
                <a:spcPct val="100000"/>
              </a:lnSpc>
              <a:spcBef>
                <a:spcPts val="0"/>
              </a:spcBef>
              <a:spcAft>
                <a:spcPts val="400"/>
              </a:spcAft>
            </a:pPr>
            <a:r>
              <a:rPr sz="1500" b="0" i="1">
                <a:solidFill>
                  <a:srgbClr val="6E6F74"/>
                </a:solidFill>
                <a:latin typeface="Arial"/>
              </a:rPr>
              <a:t>A receipt-first nutrition assistant — your pantry works for you: tap what you eat, don't type it.</a:t>
            </a:r>
          </a:p>
        </p:txBody>
      </p:sp>
      <p:sp>
        <p:nvSpPr>
          <p:cNvPr id="9" name="TextBox 8"/>
          <p:cNvSpPr txBox="1"/>
          <p:nvPr/>
        </p:nvSpPr>
        <p:spPr>
          <a:xfrm>
            <a:off x="822960" y="5257800"/>
            <a:ext cx="7132320" cy="1097280"/>
          </a:xfrm>
          <a:prstGeom prst="rect">
            <a:avLst/>
          </a:prstGeom>
          <a:noFill/>
        </p:spPr>
        <p:txBody>
          <a:bodyPr wrap="square" anchor="t" lIns="0" rIns="0" tIns="0" bIns="0">
            <a:spAutoFit/>
          </a:bodyPr>
          <a:lstStyle/>
          <a:p>
            <a:pPr algn="l">
              <a:lnSpc>
                <a:spcPct val="100000"/>
              </a:lnSpc>
              <a:spcBef>
                <a:spcPts val="0"/>
              </a:spcBef>
              <a:spcAft>
                <a:spcPts val="800"/>
              </a:spcAft>
            </a:pPr>
            <a:r>
              <a:rPr sz="1500" b="1" i="0">
                <a:solidFill>
                  <a:srgbClr val="1D1D21"/>
                </a:solidFill>
                <a:latin typeface="Arial"/>
              </a:rPr>
              <a:t>Jennifer Rake</a:t>
            </a:r>
            <a:r>
              <a:rPr sz="1300" b="1" i="0">
                <a:solidFill>
                  <a:srgbClr val="5F7B4F"/>
                </a:solidFill>
                <a:latin typeface="Arial"/>
              </a:rPr>
              <a:t>  · Product &amp; business      </a:t>
            </a:r>
            <a:r>
              <a:rPr sz="1500" b="1" i="0">
                <a:solidFill>
                  <a:srgbClr val="1D1D21"/>
                </a:solidFill>
                <a:latin typeface="Arial"/>
              </a:rPr>
              <a:t>Stuart Kasemeier</a:t>
            </a:r>
            <a:r>
              <a:rPr sz="1300" b="1" i="0">
                <a:solidFill>
                  <a:srgbClr val="6E6F74"/>
                </a:solidFill>
                <a:latin typeface="Arial"/>
              </a:rPr>
              <a:t>  · Data &amp; model</a:t>
            </a:r>
          </a:p>
          <a:p>
            <a:pPr algn="l">
              <a:lnSpc>
                <a:spcPct val="100000"/>
              </a:lnSpc>
              <a:spcBef>
                <a:spcPts val="0"/>
              </a:spcBef>
              <a:spcAft>
                <a:spcPts val="800"/>
              </a:spcAft>
            </a:pPr>
            <a:r>
              <a:rPr sz="1250" b="0" i="0">
                <a:solidFill>
                  <a:srgbClr val="6E6F74"/>
                </a:solidFill>
                <a:latin typeface="Arial"/>
              </a:rPr>
              <a:t>AI Product Management Capstone  ·  Final Presentation  ·  Version 0</a:t>
            </a:r>
          </a:p>
        </p:txBody>
      </p:sp>
      <p:sp>
        <p:nvSpPr>
          <p:cNvPr id="10" name="Oval 9"/>
          <p:cNvSpPr/>
          <p:nvPr/>
        </p:nvSpPr>
        <p:spPr>
          <a:xfrm>
            <a:off x="8686800" y="2148840"/>
            <a:ext cx="237744" cy="237744"/>
          </a:xfrm>
          <a:prstGeom prst="ellipse">
            <a:avLst/>
          </a:prstGeom>
          <a:solidFill>
            <a:srgbClr val="7C9A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098280" y="2093976"/>
            <a:ext cx="2651760" cy="365760"/>
          </a:xfrm>
          <a:prstGeom prst="rect">
            <a:avLst/>
          </a:prstGeom>
          <a:noFill/>
        </p:spPr>
        <p:txBody>
          <a:bodyPr wrap="square" anchor="ctr" lIns="0" rIns="0" tIns="0" bIns="0">
            <a:spAutoFit/>
          </a:bodyPr>
          <a:lstStyle/>
          <a:p>
            <a:pPr algn="l">
              <a:lnSpc>
                <a:spcPct val="100000"/>
              </a:lnSpc>
              <a:spcBef>
                <a:spcPts val="0"/>
              </a:spcBef>
              <a:spcAft>
                <a:spcPts val="400"/>
              </a:spcAft>
            </a:pPr>
            <a:r>
              <a:rPr sz="1400" b="1" i="0">
                <a:solidFill>
                  <a:srgbClr val="1D1D21"/>
                </a:solidFill>
                <a:latin typeface="Arial"/>
              </a:rPr>
              <a:t>Onboard</a:t>
            </a:r>
          </a:p>
        </p:txBody>
      </p:sp>
      <p:sp>
        <p:nvSpPr>
          <p:cNvPr id="12" name="Rectangle 11"/>
          <p:cNvSpPr/>
          <p:nvPr/>
        </p:nvSpPr>
        <p:spPr>
          <a:xfrm>
            <a:off x="8796528" y="2423160"/>
            <a:ext cx="18288" cy="548640"/>
          </a:xfrm>
          <a:prstGeom prst="rect">
            <a:avLst/>
          </a:prstGeom>
          <a:solidFill>
            <a:srgbClr val="B7C9A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8686800" y="2990088"/>
            <a:ext cx="237744" cy="237744"/>
          </a:xfrm>
          <a:prstGeom prst="ellipse">
            <a:avLst/>
          </a:prstGeom>
          <a:solidFill>
            <a:srgbClr val="7C9A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098280" y="2935224"/>
            <a:ext cx="2651760" cy="365760"/>
          </a:xfrm>
          <a:prstGeom prst="rect">
            <a:avLst/>
          </a:prstGeom>
          <a:noFill/>
        </p:spPr>
        <p:txBody>
          <a:bodyPr wrap="square" anchor="ctr" lIns="0" rIns="0" tIns="0" bIns="0">
            <a:spAutoFit/>
          </a:bodyPr>
          <a:lstStyle/>
          <a:p>
            <a:pPr algn="l">
              <a:lnSpc>
                <a:spcPct val="100000"/>
              </a:lnSpc>
              <a:spcBef>
                <a:spcPts val="0"/>
              </a:spcBef>
              <a:spcAft>
                <a:spcPts val="400"/>
              </a:spcAft>
            </a:pPr>
            <a:r>
              <a:rPr sz="1400" b="1" i="0">
                <a:solidFill>
                  <a:srgbClr val="1D1D21"/>
                </a:solidFill>
                <a:latin typeface="Arial"/>
              </a:rPr>
              <a:t>Pantry</a:t>
            </a:r>
          </a:p>
        </p:txBody>
      </p:sp>
      <p:sp>
        <p:nvSpPr>
          <p:cNvPr id="15" name="Rectangle 14"/>
          <p:cNvSpPr/>
          <p:nvPr/>
        </p:nvSpPr>
        <p:spPr>
          <a:xfrm>
            <a:off x="8796528" y="3264408"/>
            <a:ext cx="18288" cy="548640"/>
          </a:xfrm>
          <a:prstGeom prst="rect">
            <a:avLst/>
          </a:prstGeom>
          <a:solidFill>
            <a:srgbClr val="B7C9A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8686800" y="3831336"/>
            <a:ext cx="237744" cy="237744"/>
          </a:xfrm>
          <a:prstGeom prst="ellipse">
            <a:avLst/>
          </a:prstGeom>
          <a:solidFill>
            <a:srgbClr val="7C9A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098280" y="3776472"/>
            <a:ext cx="2651760" cy="365760"/>
          </a:xfrm>
          <a:prstGeom prst="rect">
            <a:avLst/>
          </a:prstGeom>
          <a:noFill/>
        </p:spPr>
        <p:txBody>
          <a:bodyPr wrap="square" anchor="ctr" lIns="0" rIns="0" tIns="0" bIns="0">
            <a:spAutoFit/>
          </a:bodyPr>
          <a:lstStyle/>
          <a:p>
            <a:pPr algn="l">
              <a:lnSpc>
                <a:spcPct val="100000"/>
              </a:lnSpc>
              <a:spcBef>
                <a:spcPts val="0"/>
              </a:spcBef>
              <a:spcAft>
                <a:spcPts val="400"/>
              </a:spcAft>
            </a:pPr>
            <a:r>
              <a:rPr sz="1400" b="1" i="0">
                <a:solidFill>
                  <a:srgbClr val="1D1D21"/>
                </a:solidFill>
                <a:latin typeface="Arial"/>
              </a:rPr>
              <a:t>Check off</a:t>
            </a:r>
          </a:p>
        </p:txBody>
      </p:sp>
      <p:sp>
        <p:nvSpPr>
          <p:cNvPr id="18" name="Rectangle 17"/>
          <p:cNvSpPr/>
          <p:nvPr/>
        </p:nvSpPr>
        <p:spPr>
          <a:xfrm>
            <a:off x="8796528" y="4105656"/>
            <a:ext cx="18288" cy="548640"/>
          </a:xfrm>
          <a:prstGeom prst="rect">
            <a:avLst/>
          </a:prstGeom>
          <a:solidFill>
            <a:srgbClr val="B7C9A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686800" y="4672584"/>
            <a:ext cx="237744" cy="237744"/>
          </a:xfrm>
          <a:prstGeom prst="ellipse">
            <a:avLst/>
          </a:prstGeom>
          <a:solidFill>
            <a:srgbClr val="7C9A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098280" y="4617720"/>
            <a:ext cx="2651760" cy="365760"/>
          </a:xfrm>
          <a:prstGeom prst="rect">
            <a:avLst/>
          </a:prstGeom>
          <a:noFill/>
        </p:spPr>
        <p:txBody>
          <a:bodyPr wrap="square" anchor="ctr" lIns="0" rIns="0" tIns="0" bIns="0">
            <a:spAutoFit/>
          </a:bodyPr>
          <a:lstStyle/>
          <a:p>
            <a:pPr algn="l">
              <a:lnSpc>
                <a:spcPct val="100000"/>
              </a:lnSpc>
              <a:spcBef>
                <a:spcPts val="0"/>
              </a:spcBef>
              <a:spcAft>
                <a:spcPts val="400"/>
              </a:spcAft>
            </a:pPr>
            <a:r>
              <a:rPr sz="1400" b="1" i="0">
                <a:solidFill>
                  <a:srgbClr val="1D1D21"/>
                </a:solidFill>
                <a:latin typeface="Arial"/>
              </a:rPr>
              <a:t>Insights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AFAFA"/>
        </a:solidFill>
        <a:effectLst/>
      </p:bgPr>
    </p:bg>
    <p:spTree>
      <p:nvGrpSpPr>
        <p:cNvPr id="1" name=""/>
        <p:cNvGrpSpPr/>
        <p:nvPr/>
      </p:nvGrpSpPr>
      <p:grpSpPr/>
      <p:sp>
        <p:nvSpPr>
          <p:cNvPr id="2" name="TextBox 1"/>
          <p:cNvSpPr txBox="1"/>
          <p:nvPr/>
        </p:nvSpPr>
        <p:spPr>
          <a:xfrm>
            <a:off x="822960" y="548640"/>
            <a:ext cx="9144000" cy="274320"/>
          </a:xfrm>
          <a:prstGeom prst="rect">
            <a:avLst/>
          </a:prstGeom>
          <a:noFill/>
        </p:spPr>
        <p:txBody>
          <a:bodyPr wrap="square" anchor="t" lIns="0" rIns="0" tIns="0" bIns="0">
            <a:spAutoFit/>
          </a:bodyPr>
          <a:lstStyle/>
          <a:p>
            <a:pPr algn="l">
              <a:lnSpc>
                <a:spcPct val="100000"/>
              </a:lnSpc>
              <a:spcBef>
                <a:spcPts val="0"/>
              </a:spcBef>
              <a:spcAft>
                <a:spcPts val="400"/>
              </a:spcAft>
            </a:pPr>
            <a:r>
              <a:rPr sz="1250" b="1" i="0">
                <a:solidFill>
                  <a:srgbClr val="5F7B4F"/>
                </a:solidFill>
                <a:latin typeface="Arial"/>
              </a:rPr>
              <a:t>SEE IT FIRST — 30-SECOND DEMO</a:t>
            </a:r>
          </a:p>
        </p:txBody>
      </p:sp>
      <p:sp>
        <p:nvSpPr>
          <p:cNvPr id="3" name="TextBox 2"/>
          <p:cNvSpPr txBox="1"/>
          <p:nvPr/>
        </p:nvSpPr>
        <p:spPr>
          <a:xfrm>
            <a:off x="822960" y="841248"/>
            <a:ext cx="10698480" cy="914400"/>
          </a:xfrm>
          <a:prstGeom prst="rect">
            <a:avLst/>
          </a:prstGeom>
          <a:noFill/>
        </p:spPr>
        <p:txBody>
          <a:bodyPr wrap="square" anchor="t" lIns="0" rIns="0" tIns="0" bIns="0">
            <a:spAutoFit/>
          </a:bodyPr>
          <a:lstStyle/>
          <a:p>
            <a:pPr algn="l">
              <a:lnSpc>
                <a:spcPct val="100000"/>
              </a:lnSpc>
              <a:spcBef>
                <a:spcPts val="0"/>
              </a:spcBef>
              <a:spcAft>
                <a:spcPts val="400"/>
              </a:spcAft>
            </a:pPr>
            <a:r>
              <a:rPr sz="2800" b="1" i="0">
                <a:solidFill>
                  <a:srgbClr val="1D1D21"/>
                </a:solidFill>
                <a:latin typeface="Arial"/>
              </a:rPr>
              <a:t>One receipt in → one smart pick out</a:t>
            </a:r>
          </a:p>
        </p:txBody>
      </p:sp>
      <p:sp>
        <p:nvSpPr>
          <p:cNvPr id="4" name="Rectangle 3"/>
          <p:cNvSpPr/>
          <p:nvPr/>
        </p:nvSpPr>
        <p:spPr>
          <a:xfrm>
            <a:off x="841248" y="1536192"/>
            <a:ext cx="1371600" cy="41148"/>
          </a:xfrm>
          <a:prstGeom prst="rect">
            <a:avLst/>
          </a:prstGeom>
          <a:solidFill>
            <a:srgbClr val="7C9A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822960" y="1965960"/>
            <a:ext cx="457200" cy="457200"/>
          </a:xfrm>
          <a:prstGeom prst="ellipse">
            <a:avLst/>
          </a:prstGeom>
          <a:solidFill>
            <a:srgbClr val="7C9A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1947672"/>
            <a:ext cx="457200" cy="457200"/>
          </a:xfrm>
          <a:prstGeom prst="rect">
            <a:avLst/>
          </a:prstGeom>
          <a:noFill/>
        </p:spPr>
        <p:txBody>
          <a:bodyPr wrap="square" anchor="ctr" lIns="0" rIns="0" tIns="0" bIns="0">
            <a:spAutoFit/>
          </a:bodyPr>
          <a:lstStyle/>
          <a:p>
            <a:pPr algn="ctr">
              <a:lnSpc>
                <a:spcPct val="100000"/>
              </a:lnSpc>
              <a:spcBef>
                <a:spcPts val="0"/>
              </a:spcBef>
              <a:spcAft>
                <a:spcPts val="400"/>
              </a:spcAft>
            </a:pPr>
            <a:r>
              <a:rPr sz="1500" b="1" i="0">
                <a:solidFill>
                  <a:srgbClr val="FFFFFF"/>
                </a:solidFill>
                <a:latin typeface="Arial"/>
              </a:rPr>
              <a:t>1</a:t>
            </a:r>
          </a:p>
        </p:txBody>
      </p:sp>
      <p:sp>
        <p:nvSpPr>
          <p:cNvPr id="7" name="TextBox 6"/>
          <p:cNvSpPr txBox="1"/>
          <p:nvPr/>
        </p:nvSpPr>
        <p:spPr>
          <a:xfrm>
            <a:off x="1463040" y="1947672"/>
            <a:ext cx="5120640" cy="457200"/>
          </a:xfrm>
          <a:prstGeom prst="rect">
            <a:avLst/>
          </a:prstGeom>
          <a:noFill/>
        </p:spPr>
        <p:txBody>
          <a:bodyPr wrap="square" anchor="ctr" lIns="0" rIns="0" tIns="0" bIns="0">
            <a:spAutoFit/>
          </a:bodyPr>
          <a:lstStyle/>
          <a:p>
            <a:pPr algn="l">
              <a:lnSpc>
                <a:spcPct val="100000"/>
              </a:lnSpc>
              <a:spcBef>
                <a:spcPts val="0"/>
              </a:spcBef>
              <a:spcAft>
                <a:spcPts val="100"/>
              </a:spcAft>
            </a:pPr>
            <a:r>
              <a:rPr sz="1550" b="1" i="0">
                <a:solidFill>
                  <a:srgbClr val="1D1D21"/>
                </a:solidFill>
                <a:latin typeface="Arial"/>
              </a:rPr>
              <a:t>Snap your receipt</a:t>
            </a:r>
          </a:p>
          <a:p>
            <a:pPr algn="l">
              <a:lnSpc>
                <a:spcPct val="100000"/>
              </a:lnSpc>
              <a:spcBef>
                <a:spcPts val="0"/>
              </a:spcBef>
              <a:spcAft>
                <a:spcPts val="100"/>
              </a:spcAft>
            </a:pPr>
            <a:r>
              <a:rPr sz="1150" b="0" i="0">
                <a:solidFill>
                  <a:srgbClr val="6E6F74"/>
                </a:solidFill>
                <a:latin typeface="Arial"/>
              </a:rPr>
              <a:t>a photo — that's the only input</a:t>
            </a:r>
          </a:p>
        </p:txBody>
      </p:sp>
      <p:sp>
        <p:nvSpPr>
          <p:cNvPr id="8" name="Rectangle 7"/>
          <p:cNvSpPr/>
          <p:nvPr/>
        </p:nvSpPr>
        <p:spPr>
          <a:xfrm>
            <a:off x="1033272" y="2441448"/>
            <a:ext cx="27432" cy="365760"/>
          </a:xfrm>
          <a:prstGeom prst="rect">
            <a:avLst/>
          </a:prstGeom>
          <a:solidFill>
            <a:srgbClr val="B7C9A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822960" y="2807208"/>
            <a:ext cx="457200" cy="457200"/>
          </a:xfrm>
          <a:prstGeom prst="ellipse">
            <a:avLst/>
          </a:prstGeom>
          <a:solidFill>
            <a:srgbClr val="7C9A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60" y="2788920"/>
            <a:ext cx="457200" cy="457200"/>
          </a:xfrm>
          <a:prstGeom prst="rect">
            <a:avLst/>
          </a:prstGeom>
          <a:noFill/>
        </p:spPr>
        <p:txBody>
          <a:bodyPr wrap="square" anchor="ctr" lIns="0" rIns="0" tIns="0" bIns="0">
            <a:spAutoFit/>
          </a:bodyPr>
          <a:lstStyle/>
          <a:p>
            <a:pPr algn="ctr">
              <a:lnSpc>
                <a:spcPct val="100000"/>
              </a:lnSpc>
              <a:spcBef>
                <a:spcPts val="0"/>
              </a:spcBef>
              <a:spcAft>
                <a:spcPts val="400"/>
              </a:spcAft>
            </a:pPr>
            <a:r>
              <a:rPr sz="1500" b="1" i="0">
                <a:solidFill>
                  <a:srgbClr val="FFFFFF"/>
                </a:solidFill>
                <a:latin typeface="Arial"/>
              </a:rPr>
              <a:t>2</a:t>
            </a:r>
          </a:p>
        </p:txBody>
      </p:sp>
      <p:sp>
        <p:nvSpPr>
          <p:cNvPr id="11" name="TextBox 10"/>
          <p:cNvSpPr txBox="1"/>
          <p:nvPr/>
        </p:nvSpPr>
        <p:spPr>
          <a:xfrm>
            <a:off x="1463040" y="2788920"/>
            <a:ext cx="5120640" cy="457200"/>
          </a:xfrm>
          <a:prstGeom prst="rect">
            <a:avLst/>
          </a:prstGeom>
          <a:noFill/>
        </p:spPr>
        <p:txBody>
          <a:bodyPr wrap="square" anchor="ctr" lIns="0" rIns="0" tIns="0" bIns="0">
            <a:spAutoFit/>
          </a:bodyPr>
          <a:lstStyle/>
          <a:p>
            <a:pPr algn="l">
              <a:lnSpc>
                <a:spcPct val="100000"/>
              </a:lnSpc>
              <a:spcBef>
                <a:spcPts val="0"/>
              </a:spcBef>
              <a:spcAft>
                <a:spcPts val="100"/>
              </a:spcAft>
            </a:pPr>
            <a:r>
              <a:rPr sz="1550" b="1" i="0">
                <a:solidFill>
                  <a:srgbClr val="1D1D21"/>
                </a:solidFill>
                <a:latin typeface="Arial"/>
              </a:rPr>
              <a:t>Your pantry fills itself</a:t>
            </a:r>
          </a:p>
          <a:p>
            <a:pPr algn="l">
              <a:lnSpc>
                <a:spcPct val="100000"/>
              </a:lnSpc>
              <a:spcBef>
                <a:spcPts val="0"/>
              </a:spcBef>
              <a:spcAft>
                <a:spcPts val="100"/>
              </a:spcAft>
            </a:pPr>
            <a:r>
              <a:rPr sz="1150" b="0" i="0">
                <a:solidFill>
                  <a:srgbClr val="6E6F74"/>
                </a:solidFill>
                <a:latin typeface="Arial"/>
              </a:rPr>
              <a:t>the food in your house, no typing</a:t>
            </a:r>
          </a:p>
        </p:txBody>
      </p:sp>
      <p:sp>
        <p:nvSpPr>
          <p:cNvPr id="12" name="Rectangle 11"/>
          <p:cNvSpPr/>
          <p:nvPr/>
        </p:nvSpPr>
        <p:spPr>
          <a:xfrm>
            <a:off x="1033272" y="3282696"/>
            <a:ext cx="27432" cy="365760"/>
          </a:xfrm>
          <a:prstGeom prst="rect">
            <a:avLst/>
          </a:prstGeom>
          <a:solidFill>
            <a:srgbClr val="B7C9A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822960" y="3648456"/>
            <a:ext cx="457200" cy="457200"/>
          </a:xfrm>
          <a:prstGeom prst="ellipse">
            <a:avLst/>
          </a:prstGeom>
          <a:solidFill>
            <a:srgbClr val="7C9A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2960" y="3630168"/>
            <a:ext cx="457200" cy="457200"/>
          </a:xfrm>
          <a:prstGeom prst="rect">
            <a:avLst/>
          </a:prstGeom>
          <a:noFill/>
        </p:spPr>
        <p:txBody>
          <a:bodyPr wrap="square" anchor="ctr" lIns="0" rIns="0" tIns="0" bIns="0">
            <a:spAutoFit/>
          </a:bodyPr>
          <a:lstStyle/>
          <a:p>
            <a:pPr algn="ctr">
              <a:lnSpc>
                <a:spcPct val="100000"/>
              </a:lnSpc>
              <a:spcBef>
                <a:spcPts val="0"/>
              </a:spcBef>
              <a:spcAft>
                <a:spcPts val="400"/>
              </a:spcAft>
            </a:pPr>
            <a:r>
              <a:rPr sz="1500" b="1" i="0">
                <a:solidFill>
                  <a:srgbClr val="FFFFFF"/>
                </a:solidFill>
                <a:latin typeface="Arial"/>
              </a:rPr>
              <a:t>3</a:t>
            </a:r>
          </a:p>
        </p:txBody>
      </p:sp>
      <p:sp>
        <p:nvSpPr>
          <p:cNvPr id="15" name="TextBox 14"/>
          <p:cNvSpPr txBox="1"/>
          <p:nvPr/>
        </p:nvSpPr>
        <p:spPr>
          <a:xfrm>
            <a:off x="1463040" y="3630168"/>
            <a:ext cx="5120640" cy="457200"/>
          </a:xfrm>
          <a:prstGeom prst="rect">
            <a:avLst/>
          </a:prstGeom>
          <a:noFill/>
        </p:spPr>
        <p:txBody>
          <a:bodyPr wrap="square" anchor="ctr" lIns="0" rIns="0" tIns="0" bIns="0">
            <a:spAutoFit/>
          </a:bodyPr>
          <a:lstStyle/>
          <a:p>
            <a:pPr algn="l">
              <a:lnSpc>
                <a:spcPct val="100000"/>
              </a:lnSpc>
              <a:spcBef>
                <a:spcPts val="0"/>
              </a:spcBef>
              <a:spcAft>
                <a:spcPts val="100"/>
              </a:spcAft>
            </a:pPr>
            <a:r>
              <a:rPr sz="1550" b="1" i="0">
                <a:solidFill>
                  <a:srgbClr val="1D1D21"/>
                </a:solidFill>
                <a:latin typeface="Arial"/>
              </a:rPr>
              <a:t>Tap what you ate</a:t>
            </a:r>
          </a:p>
          <a:p>
            <a:pPr algn="l">
              <a:lnSpc>
                <a:spcPct val="100000"/>
              </a:lnSpc>
              <a:spcBef>
                <a:spcPts val="0"/>
              </a:spcBef>
              <a:spcAft>
                <a:spcPts val="100"/>
              </a:spcAft>
            </a:pPr>
            <a:r>
              <a:rPr sz="1150" b="0" i="0">
                <a:solidFill>
                  <a:srgbClr val="6E6F74"/>
                </a:solidFill>
                <a:latin typeface="Arial"/>
              </a:rPr>
              <a:t>one tap = one portion</a:t>
            </a:r>
          </a:p>
        </p:txBody>
      </p:sp>
      <p:sp>
        <p:nvSpPr>
          <p:cNvPr id="16" name="Rectangle 15"/>
          <p:cNvSpPr/>
          <p:nvPr/>
        </p:nvSpPr>
        <p:spPr>
          <a:xfrm>
            <a:off x="1033272" y="4123944"/>
            <a:ext cx="27432" cy="365760"/>
          </a:xfrm>
          <a:prstGeom prst="rect">
            <a:avLst/>
          </a:prstGeom>
          <a:solidFill>
            <a:srgbClr val="B7C9A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822960" y="4489704"/>
            <a:ext cx="457200" cy="457200"/>
          </a:xfrm>
          <a:prstGeom prst="ellipse">
            <a:avLst/>
          </a:prstGeom>
          <a:solidFill>
            <a:srgbClr val="7C9A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2960" y="4471416"/>
            <a:ext cx="457200" cy="457200"/>
          </a:xfrm>
          <a:prstGeom prst="rect">
            <a:avLst/>
          </a:prstGeom>
          <a:noFill/>
        </p:spPr>
        <p:txBody>
          <a:bodyPr wrap="square" anchor="ctr" lIns="0" rIns="0" tIns="0" bIns="0">
            <a:spAutoFit/>
          </a:bodyPr>
          <a:lstStyle/>
          <a:p>
            <a:pPr algn="ctr">
              <a:lnSpc>
                <a:spcPct val="100000"/>
              </a:lnSpc>
              <a:spcBef>
                <a:spcPts val="0"/>
              </a:spcBef>
              <a:spcAft>
                <a:spcPts val="400"/>
              </a:spcAft>
            </a:pPr>
            <a:r>
              <a:rPr sz="1500" b="1" i="0">
                <a:solidFill>
                  <a:srgbClr val="FFFFFF"/>
                </a:solidFill>
                <a:latin typeface="Arial"/>
              </a:rPr>
              <a:t>4</a:t>
            </a:r>
          </a:p>
        </p:txBody>
      </p:sp>
      <p:sp>
        <p:nvSpPr>
          <p:cNvPr id="19" name="TextBox 18"/>
          <p:cNvSpPr txBox="1"/>
          <p:nvPr/>
        </p:nvSpPr>
        <p:spPr>
          <a:xfrm>
            <a:off x="1463040" y="4471416"/>
            <a:ext cx="5120640" cy="457200"/>
          </a:xfrm>
          <a:prstGeom prst="rect">
            <a:avLst/>
          </a:prstGeom>
          <a:noFill/>
        </p:spPr>
        <p:txBody>
          <a:bodyPr wrap="square" anchor="ctr" lIns="0" rIns="0" tIns="0" bIns="0">
            <a:spAutoFit/>
          </a:bodyPr>
          <a:lstStyle/>
          <a:p>
            <a:pPr algn="l">
              <a:lnSpc>
                <a:spcPct val="100000"/>
              </a:lnSpc>
              <a:spcBef>
                <a:spcPts val="0"/>
              </a:spcBef>
              <a:spcAft>
                <a:spcPts val="100"/>
              </a:spcAft>
            </a:pPr>
            <a:r>
              <a:rPr sz="1550" b="1" i="0">
                <a:solidFill>
                  <a:srgbClr val="1D1D21"/>
                </a:solidFill>
                <a:latin typeface="Arial"/>
              </a:rPr>
              <a:t>Get one smart pick</a:t>
            </a:r>
          </a:p>
          <a:p>
            <a:pPr algn="l">
              <a:lnSpc>
                <a:spcPct val="100000"/>
              </a:lnSpc>
              <a:spcBef>
                <a:spcPts val="0"/>
              </a:spcBef>
              <a:spcAft>
                <a:spcPts val="100"/>
              </a:spcAft>
            </a:pPr>
            <a:r>
              <a:rPr sz="1150" b="0" i="0">
                <a:solidFill>
                  <a:srgbClr val="6E6F74"/>
                </a:solidFill>
                <a:latin typeface="Arial"/>
              </a:rPr>
              <a:t>the single best thing to buy next</a:t>
            </a:r>
          </a:p>
        </p:txBody>
      </p:sp>
      <p:sp>
        <p:nvSpPr>
          <p:cNvPr id="20" name="Rounded Rectangle 19"/>
          <p:cNvSpPr/>
          <p:nvPr/>
        </p:nvSpPr>
        <p:spPr>
          <a:xfrm>
            <a:off x="6629400" y="1783080"/>
            <a:ext cx="4754880" cy="4160520"/>
          </a:xfrm>
          <a:prstGeom prst="roundRect">
            <a:avLst>
              <a:gd name="adj" fmla="val 4000"/>
            </a:avLst>
          </a:prstGeom>
          <a:solidFill>
            <a:srgbClr val="FFFFFF"/>
          </a:solidFill>
          <a:ln w="9525">
            <a:solidFill>
              <a:srgbClr val="E5E4E0"/>
            </a:solidFill>
          </a:ln>
          <a:effectLst/>
          <a:effectLst>
            <a:outerShdw blurRad="80000" dist="30000" dir="5400000" rotWithShape="0">
              <a:srgbClr val="1D1D21">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 Same Side Corner Rectangle 20"/>
          <p:cNvSpPr/>
          <p:nvPr/>
        </p:nvSpPr>
        <p:spPr>
          <a:xfrm>
            <a:off x="6629400" y="1783080"/>
            <a:ext cx="4754880" cy="603504"/>
          </a:xfrm>
          <a:prstGeom prst="round2SameRect">
            <a:avLst>
              <a:gd name="adj1" fmla="val 5000"/>
              <a:gd name="adj2" fmla="val 0"/>
            </a:avLst>
          </a:prstGeom>
          <a:solidFill>
            <a:srgbClr val="7C9A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903720" y="1819656"/>
            <a:ext cx="4206240" cy="548640"/>
          </a:xfrm>
          <a:prstGeom prst="rect">
            <a:avLst/>
          </a:prstGeom>
          <a:noFill/>
        </p:spPr>
        <p:txBody>
          <a:bodyPr wrap="square" anchor="ctr" lIns="0" rIns="0" tIns="0" bIns="0">
            <a:spAutoFit/>
          </a:bodyPr>
          <a:lstStyle/>
          <a:p>
            <a:pPr algn="l">
              <a:lnSpc>
                <a:spcPct val="100000"/>
              </a:lnSpc>
              <a:spcBef>
                <a:spcPts val="0"/>
              </a:spcBef>
              <a:spcAft>
                <a:spcPts val="400"/>
              </a:spcAft>
            </a:pPr>
            <a:r>
              <a:rPr sz="1300" b="1" i="0">
                <a:solidFill>
                  <a:srgbClr val="FFFFFF"/>
                </a:solidFill>
                <a:latin typeface="Arial"/>
              </a:rPr>
              <a:t>NutriWise  ·  Your results</a:t>
            </a:r>
          </a:p>
        </p:txBody>
      </p:sp>
      <p:sp>
        <p:nvSpPr>
          <p:cNvPr id="23" name="TextBox 22"/>
          <p:cNvSpPr txBox="1"/>
          <p:nvPr/>
        </p:nvSpPr>
        <p:spPr>
          <a:xfrm>
            <a:off x="6903720" y="2542032"/>
            <a:ext cx="4206240" cy="457200"/>
          </a:xfrm>
          <a:prstGeom prst="rect">
            <a:avLst/>
          </a:prstGeom>
          <a:noFill/>
        </p:spPr>
        <p:txBody>
          <a:bodyPr wrap="square" anchor="t" lIns="0" rIns="0" tIns="0" bIns="0">
            <a:spAutoFit/>
          </a:bodyPr>
          <a:lstStyle/>
          <a:p>
            <a:pPr algn="l">
              <a:lnSpc>
                <a:spcPct val="100000"/>
              </a:lnSpc>
              <a:spcBef>
                <a:spcPts val="0"/>
              </a:spcBef>
              <a:spcAft>
                <a:spcPts val="400"/>
              </a:spcAft>
            </a:pPr>
            <a:r>
              <a:rPr sz="1050" b="0" i="1">
                <a:solidFill>
                  <a:srgbClr val="6E6F74"/>
                </a:solidFill>
                <a:latin typeface="Arial"/>
              </a:rPr>
              <a:t>Estimates from your groceries + daily log — not medical advice</a:t>
            </a:r>
          </a:p>
        </p:txBody>
      </p:sp>
      <p:sp>
        <p:nvSpPr>
          <p:cNvPr id="24" name="Rounded Rectangle 23"/>
          <p:cNvSpPr/>
          <p:nvPr/>
        </p:nvSpPr>
        <p:spPr>
          <a:xfrm>
            <a:off x="6903720" y="2971800"/>
            <a:ext cx="4206240" cy="1371600"/>
          </a:xfrm>
          <a:prstGeom prst="roundRect">
            <a:avLst>
              <a:gd name="adj" fmla="val 8000"/>
            </a:avLst>
          </a:prstGeom>
          <a:solidFill>
            <a:srgbClr val="EEF2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132320" y="3108960"/>
            <a:ext cx="3749039" cy="365760"/>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5F7B4F"/>
                </a:solidFill>
                <a:latin typeface="Arial"/>
              </a:rPr>
              <a:t>YOUR NEXT CART</a:t>
            </a:r>
          </a:p>
        </p:txBody>
      </p:sp>
      <p:sp>
        <p:nvSpPr>
          <p:cNvPr id="26" name="TextBox 25"/>
          <p:cNvSpPr txBox="1"/>
          <p:nvPr/>
        </p:nvSpPr>
        <p:spPr>
          <a:xfrm>
            <a:off x="7132320" y="3429000"/>
            <a:ext cx="3749039" cy="457200"/>
          </a:xfrm>
          <a:prstGeom prst="rect">
            <a:avLst/>
          </a:prstGeom>
          <a:noFill/>
        </p:spPr>
        <p:txBody>
          <a:bodyPr wrap="square" anchor="t" lIns="0" rIns="0" tIns="0" bIns="0">
            <a:spAutoFit/>
          </a:bodyPr>
          <a:lstStyle/>
          <a:p>
            <a:pPr algn="l">
              <a:lnSpc>
                <a:spcPct val="100000"/>
              </a:lnSpc>
              <a:spcBef>
                <a:spcPts val="0"/>
              </a:spcBef>
              <a:spcAft>
                <a:spcPts val="400"/>
              </a:spcAft>
            </a:pPr>
            <a:r>
              <a:rPr sz="1700" b="1" i="0">
                <a:solidFill>
                  <a:srgbClr val="1D1D21"/>
                </a:solidFill>
                <a:latin typeface="Arial"/>
              </a:rPr>
              <a:t>+ Red lentils (dried)</a:t>
            </a:r>
          </a:p>
        </p:txBody>
      </p:sp>
      <p:sp>
        <p:nvSpPr>
          <p:cNvPr id="27" name="TextBox 26"/>
          <p:cNvSpPr txBox="1"/>
          <p:nvPr/>
        </p:nvSpPr>
        <p:spPr>
          <a:xfrm>
            <a:off x="7132320" y="3840480"/>
            <a:ext cx="3749039" cy="457200"/>
          </a:xfrm>
          <a:prstGeom prst="rect">
            <a:avLst/>
          </a:prstGeom>
          <a:noFill/>
        </p:spPr>
        <p:txBody>
          <a:bodyPr wrap="square" anchor="t" lIns="0" rIns="0" tIns="0" bIns="0">
            <a:spAutoFit/>
          </a:bodyPr>
          <a:lstStyle/>
          <a:p>
            <a:pPr algn="l">
              <a:lnSpc>
                <a:spcPct val="105000"/>
              </a:lnSpc>
              <a:spcBef>
                <a:spcPts val="0"/>
              </a:spcBef>
              <a:spcAft>
                <a:spcPts val="400"/>
              </a:spcAft>
            </a:pPr>
            <a:r>
              <a:rPr sz="1150" b="0" i="0">
                <a:solidFill>
                  <a:srgbClr val="6E6F74"/>
                </a:solidFill>
                <a:latin typeface="Arial"/>
              </a:rPr>
              <a:t>Closes your fiber &amp; plant-protein gap — and it's peanut-free.</a:t>
            </a:r>
          </a:p>
        </p:txBody>
      </p:sp>
      <p:sp>
        <p:nvSpPr>
          <p:cNvPr id="28" name="Rounded Rectangle 27"/>
          <p:cNvSpPr/>
          <p:nvPr/>
        </p:nvSpPr>
        <p:spPr>
          <a:xfrm>
            <a:off x="6903720" y="4526280"/>
            <a:ext cx="1280160" cy="777240"/>
          </a:xfrm>
          <a:prstGeom prst="roundRect">
            <a:avLst>
              <a:gd name="adj" fmla="val 12000"/>
            </a:avLst>
          </a:prstGeom>
          <a:solidFill>
            <a:srgbClr val="FFFFFF"/>
          </a:solidFill>
          <a:ln w="9525">
            <a:solidFill>
              <a:srgbClr val="E5E4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903720" y="4617720"/>
            <a:ext cx="1280160" cy="365760"/>
          </a:xfrm>
          <a:prstGeom prst="rect">
            <a:avLst/>
          </a:prstGeom>
          <a:noFill/>
        </p:spPr>
        <p:txBody>
          <a:bodyPr wrap="square" anchor="t" lIns="0" rIns="0" tIns="0" bIns="0">
            <a:spAutoFit/>
          </a:bodyPr>
          <a:lstStyle/>
          <a:p>
            <a:pPr algn="ctr">
              <a:lnSpc>
                <a:spcPct val="100000"/>
              </a:lnSpc>
              <a:spcBef>
                <a:spcPts val="0"/>
              </a:spcBef>
              <a:spcAft>
                <a:spcPts val="400"/>
              </a:spcAft>
            </a:pPr>
            <a:r>
              <a:rPr sz="1100" b="1" i="0">
                <a:solidFill>
                  <a:srgbClr val="6E6F74"/>
                </a:solidFill>
                <a:latin typeface="Arial"/>
              </a:rPr>
              <a:t>Fiber</a:t>
            </a:r>
          </a:p>
        </p:txBody>
      </p:sp>
      <p:sp>
        <p:nvSpPr>
          <p:cNvPr id="30" name="TextBox 29"/>
          <p:cNvSpPr txBox="1"/>
          <p:nvPr/>
        </p:nvSpPr>
        <p:spPr>
          <a:xfrm>
            <a:off x="6903720" y="4892040"/>
            <a:ext cx="1280160" cy="365760"/>
          </a:xfrm>
          <a:prstGeom prst="rect">
            <a:avLst/>
          </a:prstGeom>
          <a:noFill/>
        </p:spPr>
        <p:txBody>
          <a:bodyPr wrap="square" anchor="t" lIns="0" rIns="0" tIns="0" bIns="0">
            <a:spAutoFit/>
          </a:bodyPr>
          <a:lstStyle/>
          <a:p>
            <a:pPr algn="ctr">
              <a:lnSpc>
                <a:spcPct val="100000"/>
              </a:lnSpc>
              <a:spcBef>
                <a:spcPts val="0"/>
              </a:spcBef>
              <a:spcAft>
                <a:spcPts val="400"/>
              </a:spcAft>
            </a:pPr>
            <a:r>
              <a:rPr sz="1500" b="1" i="0">
                <a:solidFill>
                  <a:srgbClr val="B36A4A"/>
                </a:solidFill>
                <a:latin typeface="Arial"/>
              </a:rPr>
              <a:t>low</a:t>
            </a:r>
          </a:p>
        </p:txBody>
      </p:sp>
      <p:sp>
        <p:nvSpPr>
          <p:cNvPr id="31" name="Rounded Rectangle 30"/>
          <p:cNvSpPr/>
          <p:nvPr/>
        </p:nvSpPr>
        <p:spPr>
          <a:xfrm>
            <a:off x="8321040" y="4526280"/>
            <a:ext cx="1280160" cy="777240"/>
          </a:xfrm>
          <a:prstGeom prst="roundRect">
            <a:avLst>
              <a:gd name="adj" fmla="val 12000"/>
            </a:avLst>
          </a:prstGeom>
          <a:solidFill>
            <a:srgbClr val="FFFFFF"/>
          </a:solidFill>
          <a:ln w="9525">
            <a:solidFill>
              <a:srgbClr val="E5E4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321040" y="4617720"/>
            <a:ext cx="1280160" cy="365760"/>
          </a:xfrm>
          <a:prstGeom prst="rect">
            <a:avLst/>
          </a:prstGeom>
          <a:noFill/>
        </p:spPr>
        <p:txBody>
          <a:bodyPr wrap="square" anchor="t" lIns="0" rIns="0" tIns="0" bIns="0">
            <a:spAutoFit/>
          </a:bodyPr>
          <a:lstStyle/>
          <a:p>
            <a:pPr algn="ctr">
              <a:lnSpc>
                <a:spcPct val="100000"/>
              </a:lnSpc>
              <a:spcBef>
                <a:spcPts val="0"/>
              </a:spcBef>
              <a:spcAft>
                <a:spcPts val="400"/>
              </a:spcAft>
            </a:pPr>
            <a:r>
              <a:rPr sz="1100" b="1" i="0">
                <a:solidFill>
                  <a:srgbClr val="6E6F74"/>
                </a:solidFill>
                <a:latin typeface="Arial"/>
              </a:rPr>
              <a:t>Protein</a:t>
            </a:r>
          </a:p>
        </p:txBody>
      </p:sp>
      <p:sp>
        <p:nvSpPr>
          <p:cNvPr id="33" name="TextBox 32"/>
          <p:cNvSpPr txBox="1"/>
          <p:nvPr/>
        </p:nvSpPr>
        <p:spPr>
          <a:xfrm>
            <a:off x="8321040" y="4892040"/>
            <a:ext cx="1280160" cy="365760"/>
          </a:xfrm>
          <a:prstGeom prst="rect">
            <a:avLst/>
          </a:prstGeom>
          <a:noFill/>
        </p:spPr>
        <p:txBody>
          <a:bodyPr wrap="square" anchor="t" lIns="0" rIns="0" tIns="0" bIns="0">
            <a:spAutoFit/>
          </a:bodyPr>
          <a:lstStyle/>
          <a:p>
            <a:pPr algn="ctr">
              <a:lnSpc>
                <a:spcPct val="100000"/>
              </a:lnSpc>
              <a:spcBef>
                <a:spcPts val="0"/>
              </a:spcBef>
              <a:spcAft>
                <a:spcPts val="400"/>
              </a:spcAft>
            </a:pPr>
            <a:r>
              <a:rPr sz="1500" b="1" i="0">
                <a:solidFill>
                  <a:srgbClr val="5F7B4F"/>
                </a:solidFill>
                <a:latin typeface="Arial"/>
              </a:rPr>
              <a:t>ok</a:t>
            </a:r>
          </a:p>
        </p:txBody>
      </p:sp>
      <p:sp>
        <p:nvSpPr>
          <p:cNvPr id="34" name="Rounded Rectangle 33"/>
          <p:cNvSpPr/>
          <p:nvPr/>
        </p:nvSpPr>
        <p:spPr>
          <a:xfrm>
            <a:off x="9738360" y="4526280"/>
            <a:ext cx="1280160" cy="777240"/>
          </a:xfrm>
          <a:prstGeom prst="roundRect">
            <a:avLst>
              <a:gd name="adj" fmla="val 12000"/>
            </a:avLst>
          </a:prstGeom>
          <a:solidFill>
            <a:srgbClr val="FFFFFF"/>
          </a:solidFill>
          <a:ln w="9525">
            <a:solidFill>
              <a:srgbClr val="E5E4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9738360" y="4617720"/>
            <a:ext cx="1280160" cy="365760"/>
          </a:xfrm>
          <a:prstGeom prst="rect">
            <a:avLst/>
          </a:prstGeom>
          <a:noFill/>
        </p:spPr>
        <p:txBody>
          <a:bodyPr wrap="square" anchor="t" lIns="0" rIns="0" tIns="0" bIns="0">
            <a:spAutoFit/>
          </a:bodyPr>
          <a:lstStyle/>
          <a:p>
            <a:pPr algn="ctr">
              <a:lnSpc>
                <a:spcPct val="100000"/>
              </a:lnSpc>
              <a:spcBef>
                <a:spcPts val="0"/>
              </a:spcBef>
              <a:spcAft>
                <a:spcPts val="400"/>
              </a:spcAft>
            </a:pPr>
            <a:r>
              <a:rPr sz="1100" b="1" i="0">
                <a:solidFill>
                  <a:srgbClr val="6E6F74"/>
                </a:solidFill>
                <a:latin typeface="Arial"/>
              </a:rPr>
              <a:t>Sugar</a:t>
            </a:r>
          </a:p>
        </p:txBody>
      </p:sp>
      <p:sp>
        <p:nvSpPr>
          <p:cNvPr id="36" name="TextBox 35"/>
          <p:cNvSpPr txBox="1"/>
          <p:nvPr/>
        </p:nvSpPr>
        <p:spPr>
          <a:xfrm>
            <a:off x="9738360" y="4892040"/>
            <a:ext cx="1280160" cy="365760"/>
          </a:xfrm>
          <a:prstGeom prst="rect">
            <a:avLst/>
          </a:prstGeom>
          <a:noFill/>
        </p:spPr>
        <p:txBody>
          <a:bodyPr wrap="square" anchor="t" lIns="0" rIns="0" tIns="0" bIns="0">
            <a:spAutoFit/>
          </a:bodyPr>
          <a:lstStyle/>
          <a:p>
            <a:pPr algn="ctr">
              <a:lnSpc>
                <a:spcPct val="100000"/>
              </a:lnSpc>
              <a:spcBef>
                <a:spcPts val="0"/>
              </a:spcBef>
              <a:spcAft>
                <a:spcPts val="400"/>
              </a:spcAft>
            </a:pPr>
            <a:r>
              <a:rPr sz="1500" b="1" i="0">
                <a:solidFill>
                  <a:srgbClr val="5F7B4F"/>
                </a:solidFill>
                <a:latin typeface="Arial"/>
              </a:rPr>
              <a:t>ok</a:t>
            </a:r>
          </a:p>
        </p:txBody>
      </p:sp>
      <p:sp>
        <p:nvSpPr>
          <p:cNvPr id="37" name="TextBox 36"/>
          <p:cNvSpPr txBox="1"/>
          <p:nvPr/>
        </p:nvSpPr>
        <p:spPr>
          <a:xfrm>
            <a:off x="6629400" y="5532120"/>
            <a:ext cx="4754880" cy="365760"/>
          </a:xfrm>
          <a:prstGeom prst="rect">
            <a:avLst/>
          </a:prstGeom>
          <a:noFill/>
        </p:spPr>
        <p:txBody>
          <a:bodyPr wrap="square" anchor="t" lIns="0" rIns="0" tIns="0" bIns="0">
            <a:spAutoFit/>
          </a:bodyPr>
          <a:lstStyle/>
          <a:p>
            <a:pPr algn="ctr">
              <a:lnSpc>
                <a:spcPct val="100000"/>
              </a:lnSpc>
              <a:spcBef>
                <a:spcPts val="0"/>
              </a:spcBef>
              <a:spcAft>
                <a:spcPts val="400"/>
              </a:spcAft>
            </a:pPr>
            <a:r>
              <a:rPr sz="1000" b="0" i="1">
                <a:solidFill>
                  <a:srgbClr val="6E6F74"/>
                </a:solidFill>
                <a:latin typeface="Arial"/>
              </a:rPr>
              <a:t>shown live now — the app runs end-to-end on a real receipt</a:t>
            </a:r>
          </a:p>
        </p:txBody>
      </p:sp>
      <p:sp>
        <p:nvSpPr>
          <p:cNvPr id="38" name="TextBox 37"/>
          <p:cNvSpPr txBox="1"/>
          <p:nvPr/>
        </p:nvSpPr>
        <p:spPr>
          <a:xfrm>
            <a:off x="548640" y="6428232"/>
            <a:ext cx="4572000" cy="274320"/>
          </a:xfrm>
          <a:prstGeom prst="rect">
            <a:avLst/>
          </a:prstGeom>
          <a:noFill/>
        </p:spPr>
        <p:txBody>
          <a:bodyPr wrap="square" anchor="t" lIns="0" rIns="0" tIns="0" bIns="0">
            <a:spAutoFit/>
          </a:bodyPr>
          <a:lstStyle/>
          <a:p>
            <a:pPr algn="l">
              <a:lnSpc>
                <a:spcPct val="100000"/>
              </a:lnSpc>
              <a:spcBef>
                <a:spcPts val="0"/>
              </a:spcBef>
              <a:spcAft>
                <a:spcPts val="400"/>
              </a:spcAft>
            </a:pPr>
            <a:r>
              <a:rPr sz="900" b="1" i="0">
                <a:solidFill>
                  <a:srgbClr val="6E6F74"/>
                </a:solidFill>
                <a:latin typeface="Arial"/>
              </a:rPr>
              <a:t>NutriWise</a:t>
            </a:r>
            <a:r>
              <a:rPr sz="900" b="0" i="0">
                <a:solidFill>
                  <a:srgbClr val="6E6F74"/>
                </a:solidFill>
                <a:latin typeface="Arial"/>
              </a:rPr>
              <a:t>  ·  Final · V0</a:t>
            </a:r>
          </a:p>
        </p:txBody>
      </p:sp>
      <p:sp>
        <p:nvSpPr>
          <p:cNvPr id="39" name="TextBox 38"/>
          <p:cNvSpPr txBox="1"/>
          <p:nvPr/>
        </p:nvSpPr>
        <p:spPr>
          <a:xfrm>
            <a:off x="9875520" y="6428232"/>
            <a:ext cx="1737360" cy="274320"/>
          </a:xfrm>
          <a:prstGeom prst="rect">
            <a:avLst/>
          </a:prstGeom>
          <a:noFill/>
        </p:spPr>
        <p:txBody>
          <a:bodyPr wrap="square" anchor="t" lIns="0" rIns="0" tIns="0" bIns="0">
            <a:spAutoFit/>
          </a:bodyPr>
          <a:lstStyle/>
          <a:p>
            <a:pPr algn="r">
              <a:lnSpc>
                <a:spcPct val="100000"/>
              </a:lnSpc>
              <a:spcBef>
                <a:spcPts val="0"/>
              </a:spcBef>
              <a:spcAft>
                <a:spcPts val="400"/>
              </a:spcAft>
            </a:pPr>
            <a:r>
              <a:rPr sz="900" b="0" i="0">
                <a:solidFill>
                  <a:srgbClr val="6E6F74"/>
                </a:solidFill>
                <a:latin typeface="Arial"/>
              </a:rPr>
              <a:t>02 / 14</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AFAFA"/>
        </a:solidFill>
        <a:effectLst/>
      </p:bgPr>
    </p:bg>
    <p:spTree>
      <p:nvGrpSpPr>
        <p:cNvPr id="1" name=""/>
        <p:cNvGrpSpPr/>
        <p:nvPr/>
      </p:nvGrpSpPr>
      <p:grpSpPr/>
      <p:sp>
        <p:nvSpPr>
          <p:cNvPr id="2" name="TextBox 1"/>
          <p:cNvSpPr txBox="1"/>
          <p:nvPr/>
        </p:nvSpPr>
        <p:spPr>
          <a:xfrm>
            <a:off x="822960" y="548640"/>
            <a:ext cx="9144000" cy="274320"/>
          </a:xfrm>
          <a:prstGeom prst="rect">
            <a:avLst/>
          </a:prstGeom>
          <a:noFill/>
        </p:spPr>
        <p:txBody>
          <a:bodyPr wrap="square" anchor="t" lIns="0" rIns="0" tIns="0" bIns="0">
            <a:spAutoFit/>
          </a:bodyPr>
          <a:lstStyle/>
          <a:p>
            <a:pPr algn="l">
              <a:lnSpc>
                <a:spcPct val="100000"/>
              </a:lnSpc>
              <a:spcBef>
                <a:spcPts val="0"/>
              </a:spcBef>
              <a:spcAft>
                <a:spcPts val="400"/>
              </a:spcAft>
            </a:pPr>
            <a:r>
              <a:rPr sz="1250" b="1" i="0">
                <a:solidFill>
                  <a:srgbClr val="5F7B4F"/>
                </a:solidFill>
                <a:latin typeface="Arial"/>
              </a:rPr>
              <a:t>THE PROBLEM</a:t>
            </a:r>
          </a:p>
        </p:txBody>
      </p:sp>
      <p:sp>
        <p:nvSpPr>
          <p:cNvPr id="3" name="TextBox 2"/>
          <p:cNvSpPr txBox="1"/>
          <p:nvPr/>
        </p:nvSpPr>
        <p:spPr>
          <a:xfrm>
            <a:off x="822960" y="841248"/>
            <a:ext cx="10058400" cy="914400"/>
          </a:xfrm>
          <a:prstGeom prst="rect">
            <a:avLst/>
          </a:prstGeom>
          <a:noFill/>
        </p:spPr>
        <p:txBody>
          <a:bodyPr wrap="square" anchor="t" lIns="0" rIns="0" tIns="0" bIns="0">
            <a:spAutoFit/>
          </a:bodyPr>
          <a:lstStyle/>
          <a:p>
            <a:pPr algn="l">
              <a:lnSpc>
                <a:spcPct val="100000"/>
              </a:lnSpc>
              <a:spcBef>
                <a:spcPts val="0"/>
              </a:spcBef>
              <a:spcAft>
                <a:spcPts val="400"/>
              </a:spcAft>
            </a:pPr>
            <a:r>
              <a:rPr sz="2900" b="1" i="0">
                <a:solidFill>
                  <a:srgbClr val="1D1D21"/>
                </a:solidFill>
                <a:latin typeface="Arial"/>
              </a:rPr>
              <a:t>Eating well shouldn't require a spreadsheet</a:t>
            </a:r>
          </a:p>
        </p:txBody>
      </p:sp>
      <p:sp>
        <p:nvSpPr>
          <p:cNvPr id="4" name="Rectangle 3"/>
          <p:cNvSpPr/>
          <p:nvPr/>
        </p:nvSpPr>
        <p:spPr>
          <a:xfrm>
            <a:off x="841248" y="1481328"/>
            <a:ext cx="1371600" cy="41148"/>
          </a:xfrm>
          <a:prstGeom prst="rect">
            <a:avLst/>
          </a:prstGeom>
          <a:solidFill>
            <a:srgbClr val="7C9A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1828800"/>
            <a:ext cx="5577840" cy="3291840"/>
          </a:xfrm>
          <a:prstGeom prst="rect">
            <a:avLst/>
          </a:prstGeom>
          <a:noFill/>
        </p:spPr>
        <p:txBody>
          <a:bodyPr wrap="square" anchor="t" lIns="0" rIns="0" tIns="0" bIns="0">
            <a:spAutoFit/>
          </a:bodyPr>
          <a:lstStyle/>
          <a:p>
            <a:pPr algn="l">
              <a:lnSpc>
                <a:spcPct val="114000"/>
              </a:lnSpc>
              <a:spcBef>
                <a:spcPts val="0"/>
              </a:spcBef>
              <a:spcAft>
                <a:spcPts val="400"/>
              </a:spcAft>
            </a:pPr>
            <a:r>
              <a:rPr sz="1550" b="0" i="0">
                <a:solidFill>
                  <a:srgbClr val="1D1D21"/>
                </a:solidFill>
                <a:latin typeface="Arial"/>
              </a:rPr>
              <a:t>Meet Anna, 34. She wants to eat better — but every app asks her to </a:t>
            </a:r>
            <a:r>
              <a:rPr sz="1550" b="1" i="0">
                <a:solidFill>
                  <a:srgbClr val="1D1D21"/>
                </a:solidFill>
                <a:latin typeface="Arial"/>
              </a:rPr>
              <a:t>log every meal by hand.</a:t>
            </a:r>
          </a:p>
          <a:p>
            <a:pPr algn="l">
              <a:lnSpc>
                <a:spcPct val="114000"/>
              </a:lnSpc>
              <a:spcBef>
                <a:spcPts val="0"/>
              </a:spcBef>
              <a:spcAft>
                <a:spcPts val="400"/>
              </a:spcAft>
            </a:pPr>
            <a:r>
              <a:rPr sz="700" b="0" i="0">
                <a:solidFill>
                  <a:srgbClr val="1D1D21"/>
                </a:solidFill>
                <a:latin typeface="Arial"/>
              </a:rPr>
              <a:t/>
            </a:r>
          </a:p>
          <a:p>
            <a:pPr algn="l">
              <a:lnSpc>
                <a:spcPct val="114000"/>
              </a:lnSpc>
              <a:spcBef>
                <a:spcPts val="0"/>
              </a:spcBef>
              <a:spcAft>
                <a:spcPts val="400"/>
              </a:spcAft>
            </a:pPr>
            <a:r>
              <a:rPr sz="1550" b="0" i="0">
                <a:solidFill>
                  <a:srgbClr val="1D1D21"/>
                </a:solidFill>
                <a:latin typeface="Arial"/>
              </a:rPr>
              <a:t>That habit dies within weeks. She gives up — or she guesses.</a:t>
            </a:r>
          </a:p>
          <a:p>
            <a:pPr algn="l">
              <a:lnSpc>
                <a:spcPct val="114000"/>
              </a:lnSpc>
              <a:spcBef>
                <a:spcPts val="0"/>
              </a:spcBef>
              <a:spcAft>
                <a:spcPts val="400"/>
              </a:spcAft>
            </a:pPr>
            <a:r>
              <a:rPr sz="700" b="0" i="0">
                <a:solidFill>
                  <a:srgbClr val="1D1D21"/>
                </a:solidFill>
                <a:latin typeface="Arial"/>
              </a:rPr>
              <a:t/>
            </a:r>
          </a:p>
          <a:p>
            <a:pPr algn="l">
              <a:lnSpc>
                <a:spcPct val="114000"/>
              </a:lnSpc>
              <a:spcBef>
                <a:spcPts val="0"/>
              </a:spcBef>
              <a:spcAft>
                <a:spcPts val="400"/>
              </a:spcAft>
            </a:pPr>
            <a:r>
              <a:rPr sz="1550" b="0" i="0">
                <a:solidFill>
                  <a:srgbClr val="1D1D21"/>
                </a:solidFill>
                <a:latin typeface="Arial"/>
              </a:rPr>
              <a:t>Meanwhile the one honest record of what she actually eats already exists — </a:t>
            </a:r>
            <a:r>
              <a:rPr sz="1550" b="1" i="0">
                <a:solidFill>
                  <a:srgbClr val="5F7B4F"/>
                </a:solidFill>
                <a:latin typeface="Arial"/>
              </a:rPr>
              <a:t>her grocery receipt.</a:t>
            </a:r>
          </a:p>
        </p:txBody>
      </p:sp>
      <p:sp>
        <p:nvSpPr>
          <p:cNvPr id="6" name="Rounded Rectangle 5"/>
          <p:cNvSpPr/>
          <p:nvPr/>
        </p:nvSpPr>
        <p:spPr>
          <a:xfrm>
            <a:off x="6766560" y="1783080"/>
            <a:ext cx="4617720" cy="3520440"/>
          </a:xfrm>
          <a:prstGeom prst="roundRect">
            <a:avLst>
              <a:gd name="adj" fmla="val 5000"/>
            </a:avLst>
          </a:prstGeom>
          <a:solidFill>
            <a:srgbClr val="EEF2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086600" y="2011680"/>
            <a:ext cx="4023360" cy="365760"/>
          </a:xfrm>
          <a:prstGeom prst="rect">
            <a:avLst/>
          </a:prstGeom>
          <a:noFill/>
        </p:spPr>
        <p:txBody>
          <a:bodyPr wrap="square" anchor="t" lIns="0" rIns="0" tIns="0" bIns="0">
            <a:spAutoFit/>
          </a:bodyPr>
          <a:lstStyle/>
          <a:p>
            <a:pPr algn="l">
              <a:lnSpc>
                <a:spcPct val="100000"/>
              </a:lnSpc>
              <a:spcBef>
                <a:spcPts val="0"/>
              </a:spcBef>
              <a:spcAft>
                <a:spcPts val="400"/>
              </a:spcAft>
            </a:pPr>
            <a:r>
              <a:rPr sz="1200" b="1" i="0">
                <a:solidFill>
                  <a:srgbClr val="5F7B4F"/>
                </a:solidFill>
                <a:latin typeface="Arial"/>
              </a:rPr>
              <a:t>WHO IT'S FOR  ·  WHY IT HURTS</a:t>
            </a:r>
          </a:p>
        </p:txBody>
      </p:sp>
      <p:sp>
        <p:nvSpPr>
          <p:cNvPr id="8" name="Oval 7"/>
          <p:cNvSpPr/>
          <p:nvPr/>
        </p:nvSpPr>
        <p:spPr>
          <a:xfrm>
            <a:off x="7086600" y="2459736"/>
            <a:ext cx="310896" cy="310896"/>
          </a:xfrm>
          <a:prstGeom prst="ellipse">
            <a:avLst/>
          </a:prstGeom>
          <a:solidFill>
            <a:srgbClr val="7C9A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086600" y="2423160"/>
            <a:ext cx="310896" cy="310896"/>
          </a:xfrm>
          <a:prstGeom prst="rect">
            <a:avLst/>
          </a:prstGeom>
          <a:noFill/>
        </p:spPr>
        <p:txBody>
          <a:bodyPr wrap="square" anchor="ctr" lIns="0" rIns="0" tIns="0" bIns="0">
            <a:spAutoFit/>
          </a:bodyPr>
          <a:lstStyle/>
          <a:p>
            <a:pPr algn="ctr">
              <a:lnSpc>
                <a:spcPct val="100000"/>
              </a:lnSpc>
              <a:spcBef>
                <a:spcPts val="0"/>
              </a:spcBef>
              <a:spcAft>
                <a:spcPts val="400"/>
              </a:spcAft>
            </a:pPr>
            <a:r>
              <a:rPr sz="1300" b="1" i="0">
                <a:solidFill>
                  <a:srgbClr val="FFFFFF"/>
                </a:solidFill>
                <a:latin typeface="Arial"/>
              </a:rPr>
              <a:t>1</a:t>
            </a:r>
          </a:p>
        </p:txBody>
      </p:sp>
      <p:sp>
        <p:nvSpPr>
          <p:cNvPr id="10" name="TextBox 9"/>
          <p:cNvSpPr txBox="1"/>
          <p:nvPr/>
        </p:nvSpPr>
        <p:spPr>
          <a:xfrm>
            <a:off x="7543800" y="2414016"/>
            <a:ext cx="3566160" cy="685800"/>
          </a:xfrm>
          <a:prstGeom prst="rect">
            <a:avLst/>
          </a:prstGeom>
          <a:noFill/>
        </p:spPr>
        <p:txBody>
          <a:bodyPr wrap="square" anchor="ctr" lIns="0" rIns="0" tIns="0" bIns="0">
            <a:spAutoFit/>
          </a:bodyPr>
          <a:lstStyle/>
          <a:p>
            <a:pPr algn="l">
              <a:lnSpc>
                <a:spcPct val="103000"/>
              </a:lnSpc>
              <a:spcBef>
                <a:spcPts val="0"/>
              </a:spcBef>
              <a:spcAft>
                <a:spcPts val="400"/>
              </a:spcAft>
            </a:pPr>
            <a:r>
              <a:rPr sz="1300" b="0" i="0">
                <a:solidFill>
                  <a:srgbClr val="1D1D21"/>
                </a:solidFill>
                <a:latin typeface="Arial"/>
              </a:rPr>
              <a:t>Health-minded adults 25–45 who want to eat better</a:t>
            </a:r>
          </a:p>
        </p:txBody>
      </p:sp>
      <p:sp>
        <p:nvSpPr>
          <p:cNvPr id="11" name="Oval 10"/>
          <p:cNvSpPr/>
          <p:nvPr/>
        </p:nvSpPr>
        <p:spPr>
          <a:xfrm>
            <a:off x="7086600" y="3172968"/>
            <a:ext cx="310896" cy="310896"/>
          </a:xfrm>
          <a:prstGeom prst="ellipse">
            <a:avLst/>
          </a:prstGeom>
          <a:solidFill>
            <a:srgbClr val="7C9A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086600" y="3136392"/>
            <a:ext cx="310896" cy="310896"/>
          </a:xfrm>
          <a:prstGeom prst="rect">
            <a:avLst/>
          </a:prstGeom>
          <a:noFill/>
        </p:spPr>
        <p:txBody>
          <a:bodyPr wrap="square" anchor="ctr" lIns="0" rIns="0" tIns="0" bIns="0">
            <a:spAutoFit/>
          </a:bodyPr>
          <a:lstStyle/>
          <a:p>
            <a:pPr algn="ctr">
              <a:lnSpc>
                <a:spcPct val="100000"/>
              </a:lnSpc>
              <a:spcBef>
                <a:spcPts val="0"/>
              </a:spcBef>
              <a:spcAft>
                <a:spcPts val="400"/>
              </a:spcAft>
            </a:pPr>
            <a:r>
              <a:rPr sz="1300" b="1" i="0">
                <a:solidFill>
                  <a:srgbClr val="FFFFFF"/>
                </a:solidFill>
                <a:latin typeface="Arial"/>
              </a:rPr>
              <a:t>2</a:t>
            </a:r>
          </a:p>
        </p:txBody>
      </p:sp>
      <p:sp>
        <p:nvSpPr>
          <p:cNvPr id="13" name="TextBox 12"/>
          <p:cNvSpPr txBox="1"/>
          <p:nvPr/>
        </p:nvSpPr>
        <p:spPr>
          <a:xfrm>
            <a:off x="7543800" y="3127248"/>
            <a:ext cx="3566160" cy="685800"/>
          </a:xfrm>
          <a:prstGeom prst="rect">
            <a:avLst/>
          </a:prstGeom>
          <a:noFill/>
        </p:spPr>
        <p:txBody>
          <a:bodyPr wrap="square" anchor="ctr" lIns="0" rIns="0" tIns="0" bIns="0">
            <a:spAutoFit/>
          </a:bodyPr>
          <a:lstStyle/>
          <a:p>
            <a:pPr algn="l">
              <a:lnSpc>
                <a:spcPct val="103000"/>
              </a:lnSpc>
              <a:spcBef>
                <a:spcPts val="0"/>
              </a:spcBef>
              <a:spcAft>
                <a:spcPts val="400"/>
              </a:spcAft>
            </a:pPr>
            <a:r>
              <a:rPr sz="1300" b="0" i="0">
                <a:solidFill>
                  <a:srgbClr val="1D1D21"/>
                </a:solidFill>
                <a:latin typeface="Arial"/>
              </a:rPr>
              <a:t>Manual logging is the #1 reason nutrition apps get abandoned</a:t>
            </a:r>
          </a:p>
        </p:txBody>
      </p:sp>
      <p:sp>
        <p:nvSpPr>
          <p:cNvPr id="14" name="Oval 13"/>
          <p:cNvSpPr/>
          <p:nvPr/>
        </p:nvSpPr>
        <p:spPr>
          <a:xfrm>
            <a:off x="7086600" y="3886200"/>
            <a:ext cx="310896" cy="310896"/>
          </a:xfrm>
          <a:prstGeom prst="ellipse">
            <a:avLst/>
          </a:prstGeom>
          <a:solidFill>
            <a:srgbClr val="7C9A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086600" y="3849624"/>
            <a:ext cx="310896" cy="310896"/>
          </a:xfrm>
          <a:prstGeom prst="rect">
            <a:avLst/>
          </a:prstGeom>
          <a:noFill/>
        </p:spPr>
        <p:txBody>
          <a:bodyPr wrap="square" anchor="ctr" lIns="0" rIns="0" tIns="0" bIns="0">
            <a:spAutoFit/>
          </a:bodyPr>
          <a:lstStyle/>
          <a:p>
            <a:pPr algn="ctr">
              <a:lnSpc>
                <a:spcPct val="100000"/>
              </a:lnSpc>
              <a:spcBef>
                <a:spcPts val="0"/>
              </a:spcBef>
              <a:spcAft>
                <a:spcPts val="400"/>
              </a:spcAft>
            </a:pPr>
            <a:r>
              <a:rPr sz="1300" b="1" i="0">
                <a:solidFill>
                  <a:srgbClr val="FFFFFF"/>
                </a:solidFill>
                <a:latin typeface="Arial"/>
              </a:rPr>
              <a:t>3</a:t>
            </a:r>
          </a:p>
        </p:txBody>
      </p:sp>
      <p:sp>
        <p:nvSpPr>
          <p:cNvPr id="16" name="TextBox 15"/>
          <p:cNvSpPr txBox="1"/>
          <p:nvPr/>
        </p:nvSpPr>
        <p:spPr>
          <a:xfrm>
            <a:off x="7543800" y="3840480"/>
            <a:ext cx="3566160" cy="685800"/>
          </a:xfrm>
          <a:prstGeom prst="rect">
            <a:avLst/>
          </a:prstGeom>
          <a:noFill/>
        </p:spPr>
        <p:txBody>
          <a:bodyPr wrap="square" anchor="ctr" lIns="0" rIns="0" tIns="0" bIns="0">
            <a:spAutoFit/>
          </a:bodyPr>
          <a:lstStyle/>
          <a:p>
            <a:pPr algn="l">
              <a:lnSpc>
                <a:spcPct val="103000"/>
              </a:lnSpc>
              <a:spcBef>
                <a:spcPts val="0"/>
              </a:spcBef>
              <a:spcAft>
                <a:spcPts val="400"/>
              </a:spcAft>
            </a:pPr>
            <a:r>
              <a:rPr sz="1300" b="0" i="0">
                <a:solidFill>
                  <a:srgbClr val="1D1D21"/>
                </a:solidFill>
                <a:latin typeface="Arial"/>
              </a:rPr>
              <a:t>Receipts are passive — zero extra effort for the user</a:t>
            </a:r>
          </a:p>
        </p:txBody>
      </p:sp>
      <p:sp>
        <p:nvSpPr>
          <p:cNvPr id="17" name="Oval 16"/>
          <p:cNvSpPr/>
          <p:nvPr/>
        </p:nvSpPr>
        <p:spPr>
          <a:xfrm>
            <a:off x="7086600" y="4599432"/>
            <a:ext cx="310896" cy="310896"/>
          </a:xfrm>
          <a:prstGeom prst="ellipse">
            <a:avLst/>
          </a:prstGeom>
          <a:solidFill>
            <a:srgbClr val="7C9A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086600" y="4562856"/>
            <a:ext cx="310896" cy="310896"/>
          </a:xfrm>
          <a:prstGeom prst="rect">
            <a:avLst/>
          </a:prstGeom>
          <a:noFill/>
        </p:spPr>
        <p:txBody>
          <a:bodyPr wrap="square" anchor="ctr" lIns="0" rIns="0" tIns="0" bIns="0">
            <a:spAutoFit/>
          </a:bodyPr>
          <a:lstStyle/>
          <a:p>
            <a:pPr algn="ctr">
              <a:lnSpc>
                <a:spcPct val="100000"/>
              </a:lnSpc>
              <a:spcBef>
                <a:spcPts val="0"/>
              </a:spcBef>
              <a:spcAft>
                <a:spcPts val="400"/>
              </a:spcAft>
            </a:pPr>
            <a:r>
              <a:rPr sz="1300" b="1" i="0">
                <a:solidFill>
                  <a:srgbClr val="FFFFFF"/>
                </a:solidFill>
                <a:latin typeface="Arial"/>
              </a:rPr>
              <a:t>4</a:t>
            </a:r>
          </a:p>
        </p:txBody>
      </p:sp>
      <p:sp>
        <p:nvSpPr>
          <p:cNvPr id="19" name="TextBox 18"/>
          <p:cNvSpPr txBox="1"/>
          <p:nvPr/>
        </p:nvSpPr>
        <p:spPr>
          <a:xfrm>
            <a:off x="7543800" y="4553712"/>
            <a:ext cx="3566160" cy="685800"/>
          </a:xfrm>
          <a:prstGeom prst="rect">
            <a:avLst/>
          </a:prstGeom>
          <a:noFill/>
        </p:spPr>
        <p:txBody>
          <a:bodyPr wrap="square" anchor="ctr" lIns="0" rIns="0" tIns="0" bIns="0">
            <a:spAutoFit/>
          </a:bodyPr>
          <a:lstStyle/>
          <a:p>
            <a:pPr algn="l">
              <a:lnSpc>
                <a:spcPct val="103000"/>
              </a:lnSpc>
              <a:spcBef>
                <a:spcPts val="0"/>
              </a:spcBef>
              <a:spcAft>
                <a:spcPts val="400"/>
              </a:spcAft>
            </a:pPr>
            <a:r>
              <a:rPr sz="1300" b="0" i="0">
                <a:solidFill>
                  <a:srgbClr val="1D1D21"/>
                </a:solidFill>
                <a:latin typeface="Arial"/>
              </a:rPr>
              <a:t>One clear “next cart” decision beats another dashboard to ignore</a:t>
            </a:r>
          </a:p>
        </p:txBody>
      </p:sp>
      <p:sp>
        <p:nvSpPr>
          <p:cNvPr id="20" name="TextBox 19"/>
          <p:cNvSpPr txBox="1"/>
          <p:nvPr/>
        </p:nvSpPr>
        <p:spPr>
          <a:xfrm>
            <a:off x="548640" y="6428232"/>
            <a:ext cx="4572000" cy="274320"/>
          </a:xfrm>
          <a:prstGeom prst="rect">
            <a:avLst/>
          </a:prstGeom>
          <a:noFill/>
        </p:spPr>
        <p:txBody>
          <a:bodyPr wrap="square" anchor="t" lIns="0" rIns="0" tIns="0" bIns="0">
            <a:spAutoFit/>
          </a:bodyPr>
          <a:lstStyle/>
          <a:p>
            <a:pPr algn="l">
              <a:lnSpc>
                <a:spcPct val="100000"/>
              </a:lnSpc>
              <a:spcBef>
                <a:spcPts val="0"/>
              </a:spcBef>
              <a:spcAft>
                <a:spcPts val="400"/>
              </a:spcAft>
            </a:pPr>
            <a:r>
              <a:rPr sz="900" b="1" i="0">
                <a:solidFill>
                  <a:srgbClr val="6E6F74"/>
                </a:solidFill>
                <a:latin typeface="Arial"/>
              </a:rPr>
              <a:t>NutriWise</a:t>
            </a:r>
            <a:r>
              <a:rPr sz="900" b="0" i="0">
                <a:solidFill>
                  <a:srgbClr val="6E6F74"/>
                </a:solidFill>
                <a:latin typeface="Arial"/>
              </a:rPr>
              <a:t>  ·  Final · V0</a:t>
            </a:r>
          </a:p>
        </p:txBody>
      </p:sp>
      <p:sp>
        <p:nvSpPr>
          <p:cNvPr id="21" name="TextBox 20"/>
          <p:cNvSpPr txBox="1"/>
          <p:nvPr/>
        </p:nvSpPr>
        <p:spPr>
          <a:xfrm>
            <a:off x="9875520" y="6428232"/>
            <a:ext cx="1737360" cy="274320"/>
          </a:xfrm>
          <a:prstGeom prst="rect">
            <a:avLst/>
          </a:prstGeom>
          <a:noFill/>
        </p:spPr>
        <p:txBody>
          <a:bodyPr wrap="square" anchor="t" lIns="0" rIns="0" tIns="0" bIns="0">
            <a:spAutoFit/>
          </a:bodyPr>
          <a:lstStyle/>
          <a:p>
            <a:pPr algn="r">
              <a:lnSpc>
                <a:spcPct val="100000"/>
              </a:lnSpc>
              <a:spcBef>
                <a:spcPts val="0"/>
              </a:spcBef>
              <a:spcAft>
                <a:spcPts val="400"/>
              </a:spcAft>
            </a:pPr>
            <a:r>
              <a:rPr sz="900" b="0" i="0">
                <a:solidFill>
                  <a:srgbClr val="6E6F74"/>
                </a:solidFill>
                <a:latin typeface="Arial"/>
              </a:rPr>
              <a:t>03 / 14</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AFAFA"/>
        </a:solidFill>
        <a:effectLst/>
      </p:bgPr>
    </p:bg>
    <p:spTree>
      <p:nvGrpSpPr>
        <p:cNvPr id="1" name=""/>
        <p:cNvGrpSpPr/>
        <p:nvPr/>
      </p:nvGrpSpPr>
      <p:grpSpPr/>
      <p:sp>
        <p:nvSpPr>
          <p:cNvPr id="2" name="TextBox 1"/>
          <p:cNvSpPr txBox="1"/>
          <p:nvPr/>
        </p:nvSpPr>
        <p:spPr>
          <a:xfrm>
            <a:off x="822960" y="548640"/>
            <a:ext cx="9144000" cy="274320"/>
          </a:xfrm>
          <a:prstGeom prst="rect">
            <a:avLst/>
          </a:prstGeom>
          <a:noFill/>
        </p:spPr>
        <p:txBody>
          <a:bodyPr wrap="square" anchor="t" lIns="0" rIns="0" tIns="0" bIns="0">
            <a:spAutoFit/>
          </a:bodyPr>
          <a:lstStyle/>
          <a:p>
            <a:pPr algn="l">
              <a:lnSpc>
                <a:spcPct val="100000"/>
              </a:lnSpc>
              <a:spcBef>
                <a:spcPts val="0"/>
              </a:spcBef>
              <a:spcAft>
                <a:spcPts val="400"/>
              </a:spcAft>
            </a:pPr>
            <a:r>
              <a:rPr sz="1250" b="1" i="0">
                <a:solidFill>
                  <a:srgbClr val="5F7B4F"/>
                </a:solidFill>
                <a:latin typeface="Arial"/>
              </a:rPr>
              <a:t>WHAT WE'RE BUILDING &amp; WHY</a:t>
            </a:r>
          </a:p>
        </p:txBody>
      </p:sp>
      <p:sp>
        <p:nvSpPr>
          <p:cNvPr id="3" name="TextBox 2"/>
          <p:cNvSpPr txBox="1"/>
          <p:nvPr/>
        </p:nvSpPr>
        <p:spPr>
          <a:xfrm>
            <a:off x="822960" y="841248"/>
            <a:ext cx="10698480" cy="914400"/>
          </a:xfrm>
          <a:prstGeom prst="rect">
            <a:avLst/>
          </a:prstGeom>
          <a:noFill/>
        </p:spPr>
        <p:txBody>
          <a:bodyPr wrap="square" anchor="t" lIns="0" rIns="0" tIns="0" bIns="0">
            <a:spAutoFit/>
          </a:bodyPr>
          <a:lstStyle/>
          <a:p>
            <a:pPr algn="l">
              <a:lnSpc>
                <a:spcPct val="100000"/>
              </a:lnSpc>
              <a:spcBef>
                <a:spcPts val="0"/>
              </a:spcBef>
              <a:spcAft>
                <a:spcPts val="400"/>
              </a:spcAft>
            </a:pPr>
            <a:r>
              <a:rPr sz="2700" b="1" i="0">
                <a:solidFill>
                  <a:srgbClr val="1D1D21"/>
                </a:solidFill>
                <a:latin typeface="Arial"/>
              </a:rPr>
              <a:t>Vision, mission — and the one line we live by</a:t>
            </a:r>
          </a:p>
        </p:txBody>
      </p:sp>
      <p:sp>
        <p:nvSpPr>
          <p:cNvPr id="4" name="Rectangle 3"/>
          <p:cNvSpPr/>
          <p:nvPr/>
        </p:nvSpPr>
        <p:spPr>
          <a:xfrm>
            <a:off x="841248" y="1481328"/>
            <a:ext cx="1371600" cy="41148"/>
          </a:xfrm>
          <a:prstGeom prst="rect">
            <a:avLst/>
          </a:prstGeom>
          <a:solidFill>
            <a:srgbClr val="7C9A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822960" y="1920240"/>
            <a:ext cx="5230368" cy="2240280"/>
          </a:xfrm>
          <a:prstGeom prst="roundRect">
            <a:avLst>
              <a:gd name="adj" fmla="val 5000"/>
            </a:avLst>
          </a:prstGeom>
          <a:solidFill>
            <a:srgbClr val="FFFFFF"/>
          </a:solidFill>
          <a:ln w="9525">
            <a:solidFill>
              <a:srgbClr val="E5E4E0"/>
            </a:solidFill>
          </a:ln>
          <a:effectLst/>
          <a:effectLst>
            <a:outerShdw blurRad="80000" dist="30000" dir="5400000" rotWithShape="0">
              <a:srgbClr val="1D1D21">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22960" y="2084832"/>
            <a:ext cx="73152" cy="1911096"/>
          </a:xfrm>
          <a:prstGeom prst="rect">
            <a:avLst/>
          </a:prstGeom>
          <a:solidFill>
            <a:srgbClr val="7C9A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143000" y="2157984"/>
            <a:ext cx="4681728" cy="365760"/>
          </a:xfrm>
          <a:prstGeom prst="rect">
            <a:avLst/>
          </a:prstGeom>
          <a:noFill/>
        </p:spPr>
        <p:txBody>
          <a:bodyPr wrap="square" anchor="t" lIns="0" rIns="0" tIns="0" bIns="0">
            <a:spAutoFit/>
          </a:bodyPr>
          <a:lstStyle/>
          <a:p>
            <a:pPr algn="l">
              <a:lnSpc>
                <a:spcPct val="100000"/>
              </a:lnSpc>
              <a:spcBef>
                <a:spcPts val="0"/>
              </a:spcBef>
              <a:spcAft>
                <a:spcPts val="400"/>
              </a:spcAft>
            </a:pPr>
            <a:r>
              <a:rPr sz="1250" b="1" i="0">
                <a:solidFill>
                  <a:srgbClr val="7C9A6A"/>
                </a:solidFill>
                <a:latin typeface="Arial"/>
              </a:rPr>
              <a:t>VISION</a:t>
            </a:r>
          </a:p>
        </p:txBody>
      </p:sp>
      <p:sp>
        <p:nvSpPr>
          <p:cNvPr id="8" name="TextBox 7"/>
          <p:cNvSpPr txBox="1"/>
          <p:nvPr/>
        </p:nvSpPr>
        <p:spPr>
          <a:xfrm>
            <a:off x="1143000" y="2523744"/>
            <a:ext cx="4681728" cy="640080"/>
          </a:xfrm>
          <a:prstGeom prst="rect">
            <a:avLst/>
          </a:prstGeom>
          <a:noFill/>
        </p:spPr>
        <p:txBody>
          <a:bodyPr wrap="square" anchor="t" lIns="0" rIns="0" tIns="0" bIns="0">
            <a:spAutoFit/>
          </a:bodyPr>
          <a:lstStyle/>
          <a:p>
            <a:pPr algn="l">
              <a:lnSpc>
                <a:spcPct val="102000"/>
              </a:lnSpc>
              <a:spcBef>
                <a:spcPts val="0"/>
              </a:spcBef>
              <a:spcAft>
                <a:spcPts val="400"/>
              </a:spcAft>
            </a:pPr>
            <a:r>
              <a:rPr sz="1900" b="1" i="0">
                <a:solidFill>
                  <a:srgbClr val="1D1D21"/>
                </a:solidFill>
                <a:latin typeface="Arial"/>
              </a:rPr>
              <a:t>Eating better takes no extra effort</a:t>
            </a:r>
          </a:p>
        </p:txBody>
      </p:sp>
      <p:sp>
        <p:nvSpPr>
          <p:cNvPr id="9" name="TextBox 8"/>
          <p:cNvSpPr txBox="1"/>
          <p:nvPr/>
        </p:nvSpPr>
        <p:spPr>
          <a:xfrm>
            <a:off x="1143000" y="3291840"/>
            <a:ext cx="4636007" cy="822960"/>
          </a:xfrm>
          <a:prstGeom prst="rect">
            <a:avLst/>
          </a:prstGeom>
          <a:noFill/>
        </p:spPr>
        <p:txBody>
          <a:bodyPr wrap="square" anchor="t" lIns="0" rIns="0" tIns="0" bIns="0">
            <a:spAutoFit/>
          </a:bodyPr>
          <a:lstStyle/>
          <a:p>
            <a:pPr algn="l">
              <a:lnSpc>
                <a:spcPct val="112000"/>
              </a:lnSpc>
              <a:spcBef>
                <a:spcPts val="0"/>
              </a:spcBef>
              <a:spcAft>
                <a:spcPts val="400"/>
              </a:spcAft>
            </a:pPr>
            <a:r>
              <a:rPr sz="1300" b="0" i="0">
                <a:solidFill>
                  <a:srgbClr val="6E6F74"/>
                </a:solidFill>
                <a:latin typeface="Arial"/>
              </a:rPr>
              <a:t>A world where your everyday shopping quietly does the tracking for you — no diary, no willpower tax.</a:t>
            </a:r>
          </a:p>
        </p:txBody>
      </p:sp>
      <p:sp>
        <p:nvSpPr>
          <p:cNvPr id="10" name="Rounded Rectangle 9"/>
          <p:cNvSpPr/>
          <p:nvPr/>
        </p:nvSpPr>
        <p:spPr>
          <a:xfrm>
            <a:off x="6227064" y="1920240"/>
            <a:ext cx="5230368" cy="2240280"/>
          </a:xfrm>
          <a:prstGeom prst="roundRect">
            <a:avLst>
              <a:gd name="adj" fmla="val 5000"/>
            </a:avLst>
          </a:prstGeom>
          <a:solidFill>
            <a:srgbClr val="FFFFFF"/>
          </a:solidFill>
          <a:ln w="9525">
            <a:solidFill>
              <a:srgbClr val="E5E4E0"/>
            </a:solidFill>
          </a:ln>
          <a:effectLst/>
          <a:effectLst>
            <a:outerShdw blurRad="80000" dist="30000" dir="5400000" rotWithShape="0">
              <a:srgbClr val="1D1D21">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227064" y="2084832"/>
            <a:ext cx="73152" cy="1911096"/>
          </a:xfrm>
          <a:prstGeom prst="rect">
            <a:avLst/>
          </a:prstGeom>
          <a:solidFill>
            <a:srgbClr val="5F7B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547104" y="2157984"/>
            <a:ext cx="4681728" cy="365760"/>
          </a:xfrm>
          <a:prstGeom prst="rect">
            <a:avLst/>
          </a:prstGeom>
          <a:noFill/>
        </p:spPr>
        <p:txBody>
          <a:bodyPr wrap="square" anchor="t" lIns="0" rIns="0" tIns="0" bIns="0">
            <a:spAutoFit/>
          </a:bodyPr>
          <a:lstStyle/>
          <a:p>
            <a:pPr algn="l">
              <a:lnSpc>
                <a:spcPct val="100000"/>
              </a:lnSpc>
              <a:spcBef>
                <a:spcPts val="0"/>
              </a:spcBef>
              <a:spcAft>
                <a:spcPts val="400"/>
              </a:spcAft>
            </a:pPr>
            <a:r>
              <a:rPr sz="1250" b="1" i="0">
                <a:solidFill>
                  <a:srgbClr val="5F7B4F"/>
                </a:solidFill>
                <a:latin typeface="Arial"/>
              </a:rPr>
              <a:t>MISSION</a:t>
            </a:r>
          </a:p>
        </p:txBody>
      </p:sp>
      <p:sp>
        <p:nvSpPr>
          <p:cNvPr id="13" name="TextBox 12"/>
          <p:cNvSpPr txBox="1"/>
          <p:nvPr/>
        </p:nvSpPr>
        <p:spPr>
          <a:xfrm>
            <a:off x="6547104" y="2523744"/>
            <a:ext cx="4681728" cy="640080"/>
          </a:xfrm>
          <a:prstGeom prst="rect">
            <a:avLst/>
          </a:prstGeom>
          <a:noFill/>
        </p:spPr>
        <p:txBody>
          <a:bodyPr wrap="square" anchor="t" lIns="0" rIns="0" tIns="0" bIns="0">
            <a:spAutoFit/>
          </a:bodyPr>
          <a:lstStyle/>
          <a:p>
            <a:pPr algn="l">
              <a:lnSpc>
                <a:spcPct val="102000"/>
              </a:lnSpc>
              <a:spcBef>
                <a:spcPts val="0"/>
              </a:spcBef>
              <a:spcAft>
                <a:spcPts val="400"/>
              </a:spcAft>
            </a:pPr>
            <a:r>
              <a:rPr sz="1900" b="1" i="0">
                <a:solidFill>
                  <a:srgbClr val="1D1D21"/>
                </a:solidFill>
                <a:latin typeface="Arial"/>
              </a:rPr>
              <a:t>Turn the receipt into one kind nudge</a:t>
            </a:r>
          </a:p>
        </p:txBody>
      </p:sp>
      <p:sp>
        <p:nvSpPr>
          <p:cNvPr id="14" name="TextBox 13"/>
          <p:cNvSpPr txBox="1"/>
          <p:nvPr/>
        </p:nvSpPr>
        <p:spPr>
          <a:xfrm>
            <a:off x="6547104" y="3291840"/>
            <a:ext cx="4636007" cy="822960"/>
          </a:xfrm>
          <a:prstGeom prst="rect">
            <a:avLst/>
          </a:prstGeom>
          <a:noFill/>
        </p:spPr>
        <p:txBody>
          <a:bodyPr wrap="square" anchor="t" lIns="0" rIns="0" tIns="0" bIns="0">
            <a:spAutoFit/>
          </a:bodyPr>
          <a:lstStyle/>
          <a:p>
            <a:pPr algn="l">
              <a:lnSpc>
                <a:spcPct val="112000"/>
              </a:lnSpc>
              <a:spcBef>
                <a:spcPts val="0"/>
              </a:spcBef>
              <a:spcAft>
                <a:spcPts val="400"/>
              </a:spcAft>
            </a:pPr>
            <a:r>
              <a:rPr sz="1300" b="0" i="0">
                <a:solidFill>
                  <a:srgbClr val="6E6F74"/>
                </a:solidFill>
                <a:latin typeface="Arial"/>
              </a:rPr>
              <a:t>Take the honest record people already create — the grocery receipt — and turn it into one clear, trustworthy step toward a healthier cart.</a:t>
            </a:r>
          </a:p>
        </p:txBody>
      </p:sp>
      <p:sp>
        <p:nvSpPr>
          <p:cNvPr id="15" name="Rounded Rectangle 14"/>
          <p:cNvSpPr/>
          <p:nvPr/>
        </p:nvSpPr>
        <p:spPr>
          <a:xfrm>
            <a:off x="822960" y="4389120"/>
            <a:ext cx="10543032" cy="1463040"/>
          </a:xfrm>
          <a:prstGeom prst="roundRect">
            <a:avLst>
              <a:gd name="adj" fmla="val 7000"/>
            </a:avLst>
          </a:prstGeom>
          <a:solidFill>
            <a:srgbClr val="EEF2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22960" y="4553712"/>
            <a:ext cx="10543032" cy="365760"/>
          </a:xfrm>
          <a:prstGeom prst="rect">
            <a:avLst/>
          </a:prstGeom>
          <a:noFill/>
        </p:spPr>
        <p:txBody>
          <a:bodyPr wrap="square" anchor="t" lIns="0" rIns="0" tIns="0" bIns="0">
            <a:spAutoFit/>
          </a:bodyPr>
          <a:lstStyle/>
          <a:p>
            <a:pPr algn="ctr">
              <a:lnSpc>
                <a:spcPct val="100000"/>
              </a:lnSpc>
              <a:spcBef>
                <a:spcPts val="0"/>
              </a:spcBef>
              <a:spcAft>
                <a:spcPts val="400"/>
              </a:spcAft>
            </a:pPr>
            <a:r>
              <a:rPr sz="1200" b="1" i="0">
                <a:solidFill>
                  <a:srgbClr val="5F7B4F"/>
                </a:solidFill>
                <a:latin typeface="Arial"/>
              </a:rPr>
              <a:t>OUR SLOGAN</a:t>
            </a:r>
          </a:p>
        </p:txBody>
      </p:sp>
      <p:sp>
        <p:nvSpPr>
          <p:cNvPr id="17" name="TextBox 16"/>
          <p:cNvSpPr txBox="1"/>
          <p:nvPr/>
        </p:nvSpPr>
        <p:spPr>
          <a:xfrm>
            <a:off x="822960" y="4892040"/>
            <a:ext cx="10543032" cy="822960"/>
          </a:xfrm>
          <a:prstGeom prst="rect">
            <a:avLst/>
          </a:prstGeom>
          <a:noFill/>
        </p:spPr>
        <p:txBody>
          <a:bodyPr wrap="square" anchor="ctr" lIns="0" rIns="0" tIns="0" bIns="0">
            <a:spAutoFit/>
          </a:bodyPr>
          <a:lstStyle/>
          <a:p>
            <a:pPr algn="ctr">
              <a:lnSpc>
                <a:spcPct val="100000"/>
              </a:lnSpc>
              <a:spcBef>
                <a:spcPts val="0"/>
              </a:spcBef>
              <a:spcAft>
                <a:spcPts val="400"/>
              </a:spcAft>
            </a:pPr>
            <a:r>
              <a:rPr sz="2600" b="1" i="0">
                <a:solidFill>
                  <a:srgbClr val="5F7B4F"/>
                </a:solidFill>
                <a:latin typeface="Arial"/>
              </a:rPr>
              <a:t>“Upload a receipt. Get one smarter thing to buy next time.”</a:t>
            </a:r>
          </a:p>
        </p:txBody>
      </p:sp>
      <p:sp>
        <p:nvSpPr>
          <p:cNvPr id="18" name="TextBox 17"/>
          <p:cNvSpPr txBox="1"/>
          <p:nvPr/>
        </p:nvSpPr>
        <p:spPr>
          <a:xfrm>
            <a:off x="548640" y="6428232"/>
            <a:ext cx="4572000" cy="274320"/>
          </a:xfrm>
          <a:prstGeom prst="rect">
            <a:avLst/>
          </a:prstGeom>
          <a:noFill/>
        </p:spPr>
        <p:txBody>
          <a:bodyPr wrap="square" anchor="t" lIns="0" rIns="0" tIns="0" bIns="0">
            <a:spAutoFit/>
          </a:bodyPr>
          <a:lstStyle/>
          <a:p>
            <a:pPr algn="l">
              <a:lnSpc>
                <a:spcPct val="100000"/>
              </a:lnSpc>
              <a:spcBef>
                <a:spcPts val="0"/>
              </a:spcBef>
              <a:spcAft>
                <a:spcPts val="400"/>
              </a:spcAft>
            </a:pPr>
            <a:r>
              <a:rPr sz="900" b="1" i="0">
                <a:solidFill>
                  <a:srgbClr val="6E6F74"/>
                </a:solidFill>
                <a:latin typeface="Arial"/>
              </a:rPr>
              <a:t>NutriWise</a:t>
            </a:r>
            <a:r>
              <a:rPr sz="900" b="0" i="0">
                <a:solidFill>
                  <a:srgbClr val="6E6F74"/>
                </a:solidFill>
                <a:latin typeface="Arial"/>
              </a:rPr>
              <a:t>  ·  Final · V0</a:t>
            </a:r>
          </a:p>
        </p:txBody>
      </p:sp>
      <p:sp>
        <p:nvSpPr>
          <p:cNvPr id="19" name="TextBox 18"/>
          <p:cNvSpPr txBox="1"/>
          <p:nvPr/>
        </p:nvSpPr>
        <p:spPr>
          <a:xfrm>
            <a:off x="9875520" y="6428232"/>
            <a:ext cx="1737360" cy="274320"/>
          </a:xfrm>
          <a:prstGeom prst="rect">
            <a:avLst/>
          </a:prstGeom>
          <a:noFill/>
        </p:spPr>
        <p:txBody>
          <a:bodyPr wrap="square" anchor="t" lIns="0" rIns="0" tIns="0" bIns="0">
            <a:spAutoFit/>
          </a:bodyPr>
          <a:lstStyle/>
          <a:p>
            <a:pPr algn="r">
              <a:lnSpc>
                <a:spcPct val="100000"/>
              </a:lnSpc>
              <a:spcBef>
                <a:spcPts val="0"/>
              </a:spcBef>
              <a:spcAft>
                <a:spcPts val="400"/>
              </a:spcAft>
            </a:pPr>
            <a:r>
              <a:rPr sz="900" b="0" i="0">
                <a:solidFill>
                  <a:srgbClr val="6E6F74"/>
                </a:solidFill>
                <a:latin typeface="Arial"/>
              </a:rPr>
              <a:t>04 / 14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AFAFA"/>
        </a:solidFill>
        <a:effectLst/>
      </p:bgPr>
    </p:bg>
    <p:spTree>
      <p:nvGrpSpPr>
        <p:cNvPr id="1" name=""/>
        <p:cNvGrpSpPr/>
        <p:nvPr/>
      </p:nvGrpSpPr>
      <p:grpSpPr/>
      <p:sp>
        <p:nvSpPr>
          <p:cNvPr id="2" name="TextBox 1"/>
          <p:cNvSpPr txBox="1"/>
          <p:nvPr/>
        </p:nvSpPr>
        <p:spPr>
          <a:xfrm>
            <a:off x="822960" y="548640"/>
            <a:ext cx="9144000" cy="274320"/>
          </a:xfrm>
          <a:prstGeom prst="rect">
            <a:avLst/>
          </a:prstGeom>
          <a:noFill/>
        </p:spPr>
        <p:txBody>
          <a:bodyPr wrap="square" anchor="t" lIns="0" rIns="0" tIns="0" bIns="0">
            <a:spAutoFit/>
          </a:bodyPr>
          <a:lstStyle/>
          <a:p>
            <a:pPr algn="l">
              <a:lnSpc>
                <a:spcPct val="100000"/>
              </a:lnSpc>
              <a:spcBef>
                <a:spcPts val="0"/>
              </a:spcBef>
              <a:spcAft>
                <a:spcPts val="400"/>
              </a:spcAft>
            </a:pPr>
            <a:r>
              <a:rPr sz="1250" b="1" i="0">
                <a:solidFill>
                  <a:srgbClr val="5F7B4F"/>
                </a:solidFill>
                <a:latin typeface="Arial"/>
              </a:rPr>
              <a:t>THE SOLUTION</a:t>
            </a:r>
          </a:p>
        </p:txBody>
      </p:sp>
      <p:sp>
        <p:nvSpPr>
          <p:cNvPr id="3" name="TextBox 2"/>
          <p:cNvSpPr txBox="1"/>
          <p:nvPr/>
        </p:nvSpPr>
        <p:spPr>
          <a:xfrm>
            <a:off x="822960" y="841248"/>
            <a:ext cx="10698480" cy="914400"/>
          </a:xfrm>
          <a:prstGeom prst="rect">
            <a:avLst/>
          </a:prstGeom>
          <a:noFill/>
        </p:spPr>
        <p:txBody>
          <a:bodyPr wrap="square" anchor="t" lIns="0" rIns="0" tIns="0" bIns="0">
            <a:spAutoFit/>
          </a:bodyPr>
          <a:lstStyle/>
          <a:p>
            <a:pPr algn="l">
              <a:lnSpc>
                <a:spcPct val="100000"/>
              </a:lnSpc>
              <a:spcBef>
                <a:spcPts val="0"/>
              </a:spcBef>
              <a:spcAft>
                <a:spcPts val="400"/>
              </a:spcAft>
            </a:pPr>
            <a:r>
              <a:rPr sz="2700" b="1" i="0">
                <a:solidFill>
                  <a:srgbClr val="1D1D21"/>
                </a:solidFill>
                <a:latin typeface="Arial"/>
              </a:rPr>
              <a:t>One receipt in → a pantry that works for you</a:t>
            </a:r>
          </a:p>
        </p:txBody>
      </p:sp>
      <p:sp>
        <p:nvSpPr>
          <p:cNvPr id="4" name="Rectangle 3"/>
          <p:cNvSpPr/>
          <p:nvPr/>
        </p:nvSpPr>
        <p:spPr>
          <a:xfrm>
            <a:off x="841248" y="1481328"/>
            <a:ext cx="1371600" cy="41148"/>
          </a:xfrm>
          <a:prstGeom prst="rect">
            <a:avLst/>
          </a:prstGeom>
          <a:solidFill>
            <a:srgbClr val="7C9A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1481328"/>
            <a:ext cx="10515600" cy="365760"/>
          </a:xfrm>
          <a:prstGeom prst="rect">
            <a:avLst/>
          </a:prstGeom>
          <a:noFill/>
        </p:spPr>
        <p:txBody>
          <a:bodyPr wrap="square" anchor="t" lIns="0" rIns="0" tIns="0" bIns="0">
            <a:spAutoFit/>
          </a:bodyPr>
          <a:lstStyle/>
          <a:p>
            <a:pPr algn="l">
              <a:lnSpc>
                <a:spcPct val="100000"/>
              </a:lnSpc>
              <a:spcBef>
                <a:spcPts val="0"/>
              </a:spcBef>
              <a:spcAft>
                <a:spcPts val="400"/>
              </a:spcAft>
            </a:pPr>
            <a:r>
              <a:rPr sz="1300" b="1" i="0">
                <a:solidFill>
                  <a:srgbClr val="5F7B4F"/>
                </a:solidFill>
                <a:latin typeface="Arial"/>
              </a:rPr>
              <a:t>Upload  ›  Your Pantry  ›  Check off what you ate  ›  Weekly gaps + 2 picks</a:t>
            </a:r>
          </a:p>
        </p:txBody>
      </p:sp>
      <p:sp>
        <p:nvSpPr>
          <p:cNvPr id="6" name="TextBox 5"/>
          <p:cNvSpPr txBox="1"/>
          <p:nvPr/>
        </p:nvSpPr>
        <p:spPr>
          <a:xfrm>
            <a:off x="3218688" y="3337560"/>
            <a:ext cx="365760" cy="457200"/>
          </a:xfrm>
          <a:prstGeom prst="rect">
            <a:avLst/>
          </a:prstGeom>
          <a:noFill/>
        </p:spPr>
        <p:txBody>
          <a:bodyPr wrap="square" anchor="t" lIns="0" rIns="0" tIns="0" bIns="0">
            <a:spAutoFit/>
          </a:bodyPr>
          <a:lstStyle/>
          <a:p>
            <a:pPr algn="ctr">
              <a:lnSpc>
                <a:spcPct val="100000"/>
              </a:lnSpc>
              <a:spcBef>
                <a:spcPts val="0"/>
              </a:spcBef>
              <a:spcAft>
                <a:spcPts val="400"/>
              </a:spcAft>
            </a:pPr>
            <a:r>
              <a:rPr sz="2200" b="1" i="0">
                <a:solidFill>
                  <a:srgbClr val="7C9A6A"/>
                </a:solidFill>
                <a:latin typeface="Arial"/>
              </a:rPr>
              <a:t>›</a:t>
            </a:r>
          </a:p>
        </p:txBody>
      </p:sp>
      <p:sp>
        <p:nvSpPr>
          <p:cNvPr id="7" name="TextBox 6"/>
          <p:cNvSpPr txBox="1"/>
          <p:nvPr/>
        </p:nvSpPr>
        <p:spPr>
          <a:xfrm>
            <a:off x="5934455" y="3337560"/>
            <a:ext cx="365760" cy="457200"/>
          </a:xfrm>
          <a:prstGeom prst="rect">
            <a:avLst/>
          </a:prstGeom>
          <a:noFill/>
        </p:spPr>
        <p:txBody>
          <a:bodyPr wrap="square" anchor="t" lIns="0" rIns="0" tIns="0" bIns="0">
            <a:spAutoFit/>
          </a:bodyPr>
          <a:lstStyle/>
          <a:p>
            <a:pPr algn="ctr">
              <a:lnSpc>
                <a:spcPct val="100000"/>
              </a:lnSpc>
              <a:spcBef>
                <a:spcPts val="0"/>
              </a:spcBef>
              <a:spcAft>
                <a:spcPts val="400"/>
              </a:spcAft>
            </a:pPr>
            <a:r>
              <a:rPr sz="2200" b="1" i="0">
                <a:solidFill>
                  <a:srgbClr val="7C9A6A"/>
                </a:solidFill>
                <a:latin typeface="Arial"/>
              </a:rPr>
              <a:t>›</a:t>
            </a:r>
          </a:p>
        </p:txBody>
      </p:sp>
      <p:sp>
        <p:nvSpPr>
          <p:cNvPr id="8" name="TextBox 7"/>
          <p:cNvSpPr txBox="1"/>
          <p:nvPr/>
        </p:nvSpPr>
        <p:spPr>
          <a:xfrm>
            <a:off x="8650224" y="3337560"/>
            <a:ext cx="365760" cy="457200"/>
          </a:xfrm>
          <a:prstGeom prst="rect">
            <a:avLst/>
          </a:prstGeom>
          <a:noFill/>
        </p:spPr>
        <p:txBody>
          <a:bodyPr wrap="square" anchor="t" lIns="0" rIns="0" tIns="0" bIns="0">
            <a:spAutoFit/>
          </a:bodyPr>
          <a:lstStyle/>
          <a:p>
            <a:pPr algn="ctr">
              <a:lnSpc>
                <a:spcPct val="100000"/>
              </a:lnSpc>
              <a:spcBef>
                <a:spcPts val="0"/>
              </a:spcBef>
              <a:spcAft>
                <a:spcPts val="400"/>
              </a:spcAft>
            </a:pPr>
            <a:r>
              <a:rPr sz="2200" b="1" i="0">
                <a:solidFill>
                  <a:srgbClr val="7C9A6A"/>
                </a:solidFill>
                <a:latin typeface="Arial"/>
              </a:rPr>
              <a:t>›</a:t>
            </a:r>
          </a:p>
        </p:txBody>
      </p:sp>
      <p:sp>
        <p:nvSpPr>
          <p:cNvPr id="9" name="TextBox 8"/>
          <p:cNvSpPr txBox="1"/>
          <p:nvPr/>
        </p:nvSpPr>
        <p:spPr>
          <a:xfrm>
            <a:off x="868680" y="5276088"/>
            <a:ext cx="2331720" cy="502920"/>
          </a:xfrm>
          <a:prstGeom prst="rect">
            <a:avLst/>
          </a:prstGeom>
          <a:noFill/>
        </p:spPr>
        <p:txBody>
          <a:bodyPr wrap="square" anchor="t" lIns="0" rIns="0" tIns="0" bIns="0">
            <a:spAutoFit/>
          </a:bodyPr>
          <a:lstStyle/>
          <a:p>
            <a:pPr algn="ctr">
              <a:lnSpc>
                <a:spcPct val="100000"/>
              </a:lnSpc>
              <a:spcBef>
                <a:spcPts val="0"/>
              </a:spcBef>
              <a:spcAft>
                <a:spcPts val="100"/>
              </a:spcAft>
            </a:pPr>
            <a:r>
              <a:rPr sz="1150" b="1" i="0">
                <a:solidFill>
                  <a:srgbClr val="1D1D21"/>
                </a:solidFill>
                <a:latin typeface="Arial"/>
              </a:rPr>
              <a:t>1 · Onboarding chat</a:t>
            </a:r>
          </a:p>
          <a:p>
            <a:pPr algn="ctr">
              <a:lnSpc>
                <a:spcPct val="100000"/>
              </a:lnSpc>
              <a:spcBef>
                <a:spcPts val="0"/>
              </a:spcBef>
              <a:spcAft>
                <a:spcPts val="100"/>
              </a:spcAft>
            </a:pPr>
            <a:r>
              <a:rPr sz="1000" b="0" i="0">
                <a:solidFill>
                  <a:srgbClr val="6E6F74"/>
                </a:solidFill>
                <a:latin typeface="Arial"/>
              </a:rPr>
              <a:t>conversational profile</a:t>
            </a:r>
          </a:p>
        </p:txBody>
      </p:sp>
      <p:sp>
        <p:nvSpPr>
          <p:cNvPr id="10" name="TextBox 9"/>
          <p:cNvSpPr txBox="1"/>
          <p:nvPr/>
        </p:nvSpPr>
        <p:spPr>
          <a:xfrm>
            <a:off x="3584448" y="5276088"/>
            <a:ext cx="2331720" cy="502920"/>
          </a:xfrm>
          <a:prstGeom prst="rect">
            <a:avLst/>
          </a:prstGeom>
          <a:noFill/>
        </p:spPr>
        <p:txBody>
          <a:bodyPr wrap="square" anchor="t" lIns="0" rIns="0" tIns="0" bIns="0">
            <a:spAutoFit/>
          </a:bodyPr>
          <a:lstStyle/>
          <a:p>
            <a:pPr algn="ctr">
              <a:lnSpc>
                <a:spcPct val="100000"/>
              </a:lnSpc>
              <a:spcBef>
                <a:spcPts val="0"/>
              </a:spcBef>
              <a:spcAft>
                <a:spcPts val="100"/>
              </a:spcAft>
            </a:pPr>
            <a:r>
              <a:rPr sz="1150" b="1" i="0">
                <a:solidFill>
                  <a:srgbClr val="1D1D21"/>
                </a:solidFill>
                <a:latin typeface="Arial"/>
              </a:rPr>
              <a:t>2 · Your Pantry</a:t>
            </a:r>
          </a:p>
          <a:p>
            <a:pPr algn="ctr">
              <a:lnSpc>
                <a:spcPct val="100000"/>
              </a:lnSpc>
              <a:spcBef>
                <a:spcPts val="0"/>
              </a:spcBef>
              <a:spcAft>
                <a:spcPts val="100"/>
              </a:spcAft>
            </a:pPr>
            <a:r>
              <a:rPr sz="1000" b="0" i="0">
                <a:solidFill>
                  <a:srgbClr val="6E6F74"/>
                </a:solidFill>
                <a:latin typeface="Arial"/>
              </a:rPr>
              <a:t>home · expiry-aware</a:t>
            </a:r>
          </a:p>
        </p:txBody>
      </p:sp>
      <p:sp>
        <p:nvSpPr>
          <p:cNvPr id="11" name="TextBox 10"/>
          <p:cNvSpPr txBox="1"/>
          <p:nvPr/>
        </p:nvSpPr>
        <p:spPr>
          <a:xfrm>
            <a:off x="6300216" y="5276088"/>
            <a:ext cx="2331720" cy="502920"/>
          </a:xfrm>
          <a:prstGeom prst="rect">
            <a:avLst/>
          </a:prstGeom>
          <a:noFill/>
        </p:spPr>
        <p:txBody>
          <a:bodyPr wrap="square" anchor="t" lIns="0" rIns="0" tIns="0" bIns="0">
            <a:spAutoFit/>
          </a:bodyPr>
          <a:lstStyle/>
          <a:p>
            <a:pPr algn="ctr">
              <a:lnSpc>
                <a:spcPct val="100000"/>
              </a:lnSpc>
              <a:spcBef>
                <a:spcPts val="0"/>
              </a:spcBef>
              <a:spcAft>
                <a:spcPts val="100"/>
              </a:spcAft>
            </a:pPr>
            <a:r>
              <a:rPr sz="1150" b="1" i="0">
                <a:solidFill>
                  <a:srgbClr val="1D1D21"/>
                </a:solidFill>
                <a:latin typeface="Arial"/>
              </a:rPr>
              <a:t>3 · Daily log</a:t>
            </a:r>
          </a:p>
          <a:p>
            <a:pPr algn="ctr">
              <a:lnSpc>
                <a:spcPct val="100000"/>
              </a:lnSpc>
              <a:spcBef>
                <a:spcPts val="0"/>
              </a:spcBef>
              <a:spcAft>
                <a:spcPts val="100"/>
              </a:spcAft>
            </a:pPr>
            <a:r>
              <a:rPr sz="1000" b="0" i="0">
                <a:solidFill>
                  <a:srgbClr val="6E6F74"/>
                </a:solidFill>
                <a:latin typeface="Arial"/>
              </a:rPr>
              <a:t>1 tap = 1 portion</a:t>
            </a:r>
          </a:p>
        </p:txBody>
      </p:sp>
      <p:sp>
        <p:nvSpPr>
          <p:cNvPr id="12" name="TextBox 11"/>
          <p:cNvSpPr txBox="1"/>
          <p:nvPr/>
        </p:nvSpPr>
        <p:spPr>
          <a:xfrm>
            <a:off x="9015984" y="5276088"/>
            <a:ext cx="2331720" cy="502920"/>
          </a:xfrm>
          <a:prstGeom prst="rect">
            <a:avLst/>
          </a:prstGeom>
          <a:noFill/>
        </p:spPr>
        <p:txBody>
          <a:bodyPr wrap="square" anchor="t" lIns="0" rIns="0" tIns="0" bIns="0">
            <a:spAutoFit/>
          </a:bodyPr>
          <a:lstStyle/>
          <a:p>
            <a:pPr algn="ctr">
              <a:lnSpc>
                <a:spcPct val="100000"/>
              </a:lnSpc>
              <a:spcBef>
                <a:spcPts val="0"/>
              </a:spcBef>
              <a:spcAft>
                <a:spcPts val="100"/>
              </a:spcAft>
            </a:pPr>
            <a:r>
              <a:rPr sz="1150" b="1" i="0">
                <a:solidFill>
                  <a:srgbClr val="1D1D21"/>
                </a:solidFill>
                <a:latin typeface="Arial"/>
              </a:rPr>
              <a:t>4 · Insights</a:t>
            </a:r>
          </a:p>
          <a:p>
            <a:pPr algn="ctr">
              <a:lnSpc>
                <a:spcPct val="100000"/>
              </a:lnSpc>
              <a:spcBef>
                <a:spcPts val="0"/>
              </a:spcBef>
              <a:spcAft>
                <a:spcPts val="100"/>
              </a:spcAft>
            </a:pPr>
            <a:r>
              <a:rPr sz="1000" b="0" i="0">
                <a:solidFill>
                  <a:srgbClr val="6E6F74"/>
                </a:solidFill>
                <a:latin typeface="Arial"/>
              </a:rPr>
              <a:t>weekly gaps + picks</a:t>
            </a:r>
          </a:p>
        </p:txBody>
      </p:sp>
      <p:sp>
        <p:nvSpPr>
          <p:cNvPr id="13" name="Rounded Rectangle 12"/>
          <p:cNvSpPr/>
          <p:nvPr/>
        </p:nvSpPr>
        <p:spPr>
          <a:xfrm>
            <a:off x="868680" y="2057400"/>
            <a:ext cx="2331720" cy="3108960"/>
          </a:xfrm>
          <a:prstGeom prst="roundRect">
            <a:avLst>
              <a:gd name="adj" fmla="val 7000"/>
            </a:avLst>
          </a:prstGeom>
          <a:solidFill>
            <a:srgbClr val="FFFFFF"/>
          </a:solidFill>
          <a:ln w="9525">
            <a:solidFill>
              <a:srgbClr val="E5E4E0"/>
            </a:solidFill>
          </a:ln>
          <a:effectLst/>
          <a:effectLst>
            <a:outerShdw blurRad="80000" dist="30000" dir="5400000" rotWithShape="0">
              <a:srgbClr val="1D1D21">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 Same Side Corner Rectangle 13"/>
          <p:cNvSpPr/>
          <p:nvPr/>
        </p:nvSpPr>
        <p:spPr>
          <a:xfrm>
            <a:off x="868680" y="2057400"/>
            <a:ext cx="2331720" cy="457200"/>
          </a:xfrm>
          <a:prstGeom prst="round2SameRect">
            <a:avLst>
              <a:gd name="adj1" fmla="val 12000"/>
              <a:gd name="adj2" fmla="val 0"/>
            </a:avLst>
          </a:prstGeom>
          <a:solidFill>
            <a:srgbClr val="7C9A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51560" y="2103120"/>
            <a:ext cx="2057400" cy="384048"/>
          </a:xfrm>
          <a:prstGeom prst="rect">
            <a:avLst/>
          </a:prstGeom>
          <a:noFill/>
        </p:spPr>
        <p:txBody>
          <a:bodyPr wrap="square" anchor="ctr" lIns="0" rIns="0" tIns="0" bIns="0">
            <a:spAutoFit/>
          </a:bodyPr>
          <a:lstStyle/>
          <a:p>
            <a:pPr algn="l">
              <a:lnSpc>
                <a:spcPct val="100000"/>
              </a:lnSpc>
              <a:spcBef>
                <a:spcPts val="0"/>
              </a:spcBef>
              <a:spcAft>
                <a:spcPts val="400"/>
              </a:spcAft>
            </a:pPr>
            <a:r>
              <a:rPr sz="1000" b="1" i="0">
                <a:solidFill>
                  <a:srgbClr val="FFFFFF"/>
                </a:solidFill>
                <a:latin typeface="Arial"/>
              </a:rPr>
              <a:t>NutriWise</a:t>
            </a:r>
          </a:p>
        </p:txBody>
      </p:sp>
      <p:sp>
        <p:nvSpPr>
          <p:cNvPr id="16" name="Rounded Rectangle 15"/>
          <p:cNvSpPr/>
          <p:nvPr/>
        </p:nvSpPr>
        <p:spPr>
          <a:xfrm>
            <a:off x="1051560" y="2715768"/>
            <a:ext cx="1417320" cy="365760"/>
          </a:xfrm>
          <a:prstGeom prst="roundRect">
            <a:avLst>
              <a:gd name="adj" fmla="val 45000"/>
            </a:avLst>
          </a:prstGeom>
          <a:solidFill>
            <a:srgbClr val="EEF2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170432" y="2734056"/>
            <a:ext cx="1280160" cy="329184"/>
          </a:xfrm>
          <a:prstGeom prst="rect">
            <a:avLst/>
          </a:prstGeom>
          <a:noFill/>
        </p:spPr>
        <p:txBody>
          <a:bodyPr wrap="square" anchor="ctr" lIns="0" rIns="0" tIns="0" bIns="0">
            <a:spAutoFit/>
          </a:bodyPr>
          <a:lstStyle/>
          <a:p>
            <a:pPr algn="l">
              <a:lnSpc>
                <a:spcPct val="100000"/>
              </a:lnSpc>
              <a:spcBef>
                <a:spcPts val="0"/>
              </a:spcBef>
              <a:spcAft>
                <a:spcPts val="400"/>
              </a:spcAft>
            </a:pPr>
            <a:r>
              <a:rPr sz="800" b="0" i="0">
                <a:solidFill>
                  <a:srgbClr val="1D1D21"/>
                </a:solidFill>
                <a:latin typeface="Arial"/>
              </a:rPr>
              <a:t>Dein Ziel?</a:t>
            </a:r>
          </a:p>
        </p:txBody>
      </p:sp>
      <p:sp>
        <p:nvSpPr>
          <p:cNvPr id="18" name="Rounded Rectangle 17"/>
          <p:cNvSpPr/>
          <p:nvPr/>
        </p:nvSpPr>
        <p:spPr>
          <a:xfrm>
            <a:off x="1600200" y="3191256"/>
            <a:ext cx="1417320" cy="365760"/>
          </a:xfrm>
          <a:prstGeom prst="roundRect">
            <a:avLst>
              <a:gd name="adj" fmla="val 45000"/>
            </a:avLst>
          </a:prstGeom>
          <a:solidFill>
            <a:srgbClr val="7C9A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719072" y="3209544"/>
            <a:ext cx="1280160" cy="329184"/>
          </a:xfrm>
          <a:prstGeom prst="rect">
            <a:avLst/>
          </a:prstGeom>
          <a:noFill/>
        </p:spPr>
        <p:txBody>
          <a:bodyPr wrap="square" anchor="ctr" lIns="0" rIns="0" tIns="0" bIns="0">
            <a:spAutoFit/>
          </a:bodyPr>
          <a:lstStyle/>
          <a:p>
            <a:pPr algn="l">
              <a:lnSpc>
                <a:spcPct val="100000"/>
              </a:lnSpc>
              <a:spcBef>
                <a:spcPts val="0"/>
              </a:spcBef>
              <a:spcAft>
                <a:spcPts val="400"/>
              </a:spcAft>
            </a:pPr>
            <a:r>
              <a:rPr sz="750" b="0" i="0">
                <a:solidFill>
                  <a:srgbClr val="FFFFFF"/>
                </a:solidFill>
                <a:latin typeface="Arial"/>
              </a:rPr>
              <a:t>Gesünder essen</a:t>
            </a:r>
          </a:p>
        </p:txBody>
      </p:sp>
      <p:sp>
        <p:nvSpPr>
          <p:cNvPr id="20" name="Rounded Rectangle 19"/>
          <p:cNvSpPr/>
          <p:nvPr/>
        </p:nvSpPr>
        <p:spPr>
          <a:xfrm>
            <a:off x="1051560" y="3813048"/>
            <a:ext cx="603504" cy="310896"/>
          </a:xfrm>
          <a:prstGeom prst="roundRect">
            <a:avLst>
              <a:gd name="adj" fmla="val 50000"/>
            </a:avLst>
          </a:prstGeom>
          <a:solidFill>
            <a:srgbClr val="FFFFFF"/>
          </a:solidFill>
          <a:ln w="9525">
            <a:solidFill>
              <a:srgbClr val="7C9A6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051560" y="3831335"/>
            <a:ext cx="603504" cy="274320"/>
          </a:xfrm>
          <a:prstGeom prst="rect">
            <a:avLst/>
          </a:prstGeom>
          <a:noFill/>
        </p:spPr>
        <p:txBody>
          <a:bodyPr wrap="square" anchor="ctr" lIns="0" rIns="0" tIns="0" bIns="0">
            <a:spAutoFit/>
          </a:bodyPr>
          <a:lstStyle/>
          <a:p>
            <a:pPr algn="ctr">
              <a:lnSpc>
                <a:spcPct val="100000"/>
              </a:lnSpc>
              <a:spcBef>
                <a:spcPts val="0"/>
              </a:spcBef>
              <a:spcAft>
                <a:spcPts val="400"/>
              </a:spcAft>
            </a:pPr>
            <a:r>
              <a:rPr sz="700" b="1" i="0">
                <a:solidFill>
                  <a:srgbClr val="5F7B4F"/>
                </a:solidFill>
                <a:latin typeface="Arial"/>
              </a:rPr>
              <a:t>Wenig</a:t>
            </a:r>
          </a:p>
        </p:txBody>
      </p:sp>
      <p:sp>
        <p:nvSpPr>
          <p:cNvPr id="22" name="Rounded Rectangle 21"/>
          <p:cNvSpPr/>
          <p:nvPr/>
        </p:nvSpPr>
        <p:spPr>
          <a:xfrm>
            <a:off x="1709928" y="3813048"/>
            <a:ext cx="603504" cy="310896"/>
          </a:xfrm>
          <a:prstGeom prst="roundRect">
            <a:avLst>
              <a:gd name="adj" fmla="val 50000"/>
            </a:avLst>
          </a:prstGeom>
          <a:solidFill>
            <a:srgbClr val="FFFFFF"/>
          </a:solidFill>
          <a:ln w="9525">
            <a:solidFill>
              <a:srgbClr val="7C9A6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709928" y="3831335"/>
            <a:ext cx="603504" cy="274320"/>
          </a:xfrm>
          <a:prstGeom prst="rect">
            <a:avLst/>
          </a:prstGeom>
          <a:noFill/>
        </p:spPr>
        <p:txBody>
          <a:bodyPr wrap="square" anchor="ctr" lIns="0" rIns="0" tIns="0" bIns="0">
            <a:spAutoFit/>
          </a:bodyPr>
          <a:lstStyle/>
          <a:p>
            <a:pPr algn="ctr">
              <a:lnSpc>
                <a:spcPct val="100000"/>
              </a:lnSpc>
              <a:spcBef>
                <a:spcPts val="0"/>
              </a:spcBef>
              <a:spcAft>
                <a:spcPts val="400"/>
              </a:spcAft>
            </a:pPr>
            <a:r>
              <a:rPr sz="700" b="1" i="0">
                <a:solidFill>
                  <a:srgbClr val="5F7B4F"/>
                </a:solidFill>
                <a:latin typeface="Arial"/>
              </a:rPr>
              <a:t>Mittel</a:t>
            </a:r>
          </a:p>
        </p:txBody>
      </p:sp>
      <p:sp>
        <p:nvSpPr>
          <p:cNvPr id="24" name="Rounded Rectangle 23"/>
          <p:cNvSpPr/>
          <p:nvPr/>
        </p:nvSpPr>
        <p:spPr>
          <a:xfrm>
            <a:off x="2368296" y="3813048"/>
            <a:ext cx="603504" cy="310896"/>
          </a:xfrm>
          <a:prstGeom prst="roundRect">
            <a:avLst>
              <a:gd name="adj" fmla="val 50000"/>
            </a:avLst>
          </a:prstGeom>
          <a:solidFill>
            <a:srgbClr val="FFFFFF"/>
          </a:solidFill>
          <a:ln w="9525">
            <a:solidFill>
              <a:srgbClr val="7C9A6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2368296" y="3831335"/>
            <a:ext cx="603504" cy="274320"/>
          </a:xfrm>
          <a:prstGeom prst="rect">
            <a:avLst/>
          </a:prstGeom>
          <a:noFill/>
        </p:spPr>
        <p:txBody>
          <a:bodyPr wrap="square" anchor="ctr" lIns="0" rIns="0" tIns="0" bIns="0">
            <a:spAutoFit/>
          </a:bodyPr>
          <a:lstStyle/>
          <a:p>
            <a:pPr algn="ctr">
              <a:lnSpc>
                <a:spcPct val="100000"/>
              </a:lnSpc>
              <a:spcBef>
                <a:spcPts val="0"/>
              </a:spcBef>
              <a:spcAft>
                <a:spcPts val="400"/>
              </a:spcAft>
            </a:pPr>
            <a:r>
              <a:rPr sz="700" b="1" i="0">
                <a:solidFill>
                  <a:srgbClr val="5F7B4F"/>
                </a:solidFill>
                <a:latin typeface="Arial"/>
              </a:rPr>
              <a:t>Hoch</a:t>
            </a:r>
          </a:p>
        </p:txBody>
      </p:sp>
      <p:sp>
        <p:nvSpPr>
          <p:cNvPr id="26" name="Rectangle 25"/>
          <p:cNvSpPr/>
          <p:nvPr/>
        </p:nvSpPr>
        <p:spPr>
          <a:xfrm>
            <a:off x="1051560" y="4434840"/>
            <a:ext cx="128016" cy="45720"/>
          </a:xfrm>
          <a:prstGeom prst="rect">
            <a:avLst/>
          </a:prstGeom>
          <a:solidFill>
            <a:srgbClr val="7C9A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1234439" y="4434840"/>
            <a:ext cx="128016" cy="45720"/>
          </a:xfrm>
          <a:prstGeom prst="rect">
            <a:avLst/>
          </a:prstGeom>
          <a:solidFill>
            <a:srgbClr val="E5E4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1417319" y="4434840"/>
            <a:ext cx="128016" cy="45720"/>
          </a:xfrm>
          <a:prstGeom prst="rect">
            <a:avLst/>
          </a:prstGeom>
          <a:solidFill>
            <a:srgbClr val="E5E4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1600200" y="4434840"/>
            <a:ext cx="128016" cy="45720"/>
          </a:xfrm>
          <a:prstGeom prst="rect">
            <a:avLst/>
          </a:prstGeom>
          <a:solidFill>
            <a:srgbClr val="E5E4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ounded Rectangle 29"/>
          <p:cNvSpPr/>
          <p:nvPr/>
        </p:nvSpPr>
        <p:spPr>
          <a:xfrm>
            <a:off x="3584448" y="2057400"/>
            <a:ext cx="2331720" cy="3108960"/>
          </a:xfrm>
          <a:prstGeom prst="roundRect">
            <a:avLst>
              <a:gd name="adj" fmla="val 7000"/>
            </a:avLst>
          </a:prstGeom>
          <a:solidFill>
            <a:srgbClr val="FFFFFF"/>
          </a:solidFill>
          <a:ln w="9525">
            <a:solidFill>
              <a:srgbClr val="E5E4E0"/>
            </a:solidFill>
          </a:ln>
          <a:effectLst/>
          <a:effectLst>
            <a:outerShdw blurRad="80000" dist="30000" dir="5400000" rotWithShape="0">
              <a:srgbClr val="1D1D21">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ound Same Side Corner Rectangle 30"/>
          <p:cNvSpPr/>
          <p:nvPr/>
        </p:nvSpPr>
        <p:spPr>
          <a:xfrm>
            <a:off x="3584448" y="2057400"/>
            <a:ext cx="2331720" cy="457200"/>
          </a:xfrm>
          <a:prstGeom prst="round2SameRect">
            <a:avLst>
              <a:gd name="adj1" fmla="val 12000"/>
              <a:gd name="adj2" fmla="val 0"/>
            </a:avLst>
          </a:prstGeom>
          <a:solidFill>
            <a:srgbClr val="7C9A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3767328" y="2103120"/>
            <a:ext cx="2057400" cy="384048"/>
          </a:xfrm>
          <a:prstGeom prst="rect">
            <a:avLst/>
          </a:prstGeom>
          <a:noFill/>
        </p:spPr>
        <p:txBody>
          <a:bodyPr wrap="square" anchor="ctr" lIns="0" rIns="0" tIns="0" bIns="0">
            <a:spAutoFit/>
          </a:bodyPr>
          <a:lstStyle/>
          <a:p>
            <a:pPr algn="l">
              <a:lnSpc>
                <a:spcPct val="100000"/>
              </a:lnSpc>
              <a:spcBef>
                <a:spcPts val="0"/>
              </a:spcBef>
              <a:spcAft>
                <a:spcPts val="400"/>
              </a:spcAft>
            </a:pPr>
            <a:r>
              <a:rPr sz="1000" b="1" i="0">
                <a:solidFill>
                  <a:srgbClr val="FFFFFF"/>
                </a:solidFill>
                <a:latin typeface="Arial"/>
              </a:rPr>
              <a:t>Dein Vorrat</a:t>
            </a:r>
          </a:p>
        </p:txBody>
      </p:sp>
      <p:sp>
        <p:nvSpPr>
          <p:cNvPr id="33" name="Rounded Rectangle 32"/>
          <p:cNvSpPr/>
          <p:nvPr/>
        </p:nvSpPr>
        <p:spPr>
          <a:xfrm>
            <a:off x="3767328" y="2679192"/>
            <a:ext cx="1965960" cy="502920"/>
          </a:xfrm>
          <a:prstGeom prst="roundRect">
            <a:avLst>
              <a:gd name="adj" fmla="val 20000"/>
            </a:avLst>
          </a:prstGeom>
          <a:solidFill>
            <a:srgbClr val="EEF2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3886200" y="2715768"/>
            <a:ext cx="1783080" cy="457200"/>
          </a:xfrm>
          <a:prstGeom prst="rect">
            <a:avLst/>
          </a:prstGeom>
          <a:noFill/>
        </p:spPr>
        <p:txBody>
          <a:bodyPr wrap="square" anchor="t" lIns="0" rIns="0" tIns="0" bIns="0">
            <a:spAutoFit/>
          </a:bodyPr>
          <a:lstStyle/>
          <a:p>
            <a:pPr algn="l">
              <a:lnSpc>
                <a:spcPct val="100000"/>
              </a:lnSpc>
              <a:spcBef>
                <a:spcPts val="0"/>
              </a:spcBef>
              <a:spcAft>
                <a:spcPts val="100"/>
              </a:spcAft>
            </a:pPr>
            <a:r>
              <a:rPr sz="700" b="1" i="0">
                <a:solidFill>
                  <a:srgbClr val="5F7B4F"/>
                </a:solidFill>
                <a:latin typeface="Arial"/>
              </a:rPr>
              <a:t>EMPFOHLEN</a:t>
            </a:r>
          </a:p>
          <a:p>
            <a:pPr algn="l">
              <a:lnSpc>
                <a:spcPct val="100000"/>
              </a:lnSpc>
              <a:spcBef>
                <a:spcPts val="0"/>
              </a:spcBef>
              <a:spcAft>
                <a:spcPts val="100"/>
              </a:spcAft>
            </a:pPr>
            <a:r>
              <a:rPr sz="850" b="1" i="0">
                <a:solidFill>
                  <a:srgbClr val="1D1D21"/>
                </a:solidFill>
                <a:latin typeface="Arial"/>
              </a:rPr>
              <a:t>🥛 Trink deine Buttermilch</a:t>
            </a:r>
          </a:p>
        </p:txBody>
      </p:sp>
      <p:sp>
        <p:nvSpPr>
          <p:cNvPr id="35" name="Rounded Rectangle 34"/>
          <p:cNvSpPr/>
          <p:nvPr/>
        </p:nvSpPr>
        <p:spPr>
          <a:xfrm>
            <a:off x="3767328" y="3355848"/>
            <a:ext cx="1965960" cy="457200"/>
          </a:xfrm>
          <a:prstGeom prst="roundRect">
            <a:avLst>
              <a:gd name="adj" fmla="val 20000"/>
            </a:avLst>
          </a:prstGeom>
          <a:solidFill>
            <a:srgbClr val="FFFFFF"/>
          </a:solidFill>
          <a:ln w="7620">
            <a:solidFill>
              <a:srgbClr val="E5E4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3886200" y="3355848"/>
            <a:ext cx="1371600" cy="457200"/>
          </a:xfrm>
          <a:prstGeom prst="rect">
            <a:avLst/>
          </a:prstGeom>
          <a:noFill/>
        </p:spPr>
        <p:txBody>
          <a:bodyPr wrap="square" anchor="ctr" lIns="0" rIns="0" tIns="0" bIns="0">
            <a:spAutoFit/>
          </a:bodyPr>
          <a:lstStyle/>
          <a:p>
            <a:pPr algn="l">
              <a:lnSpc>
                <a:spcPct val="100000"/>
              </a:lnSpc>
              <a:spcBef>
                <a:spcPts val="0"/>
              </a:spcBef>
              <a:spcAft>
                <a:spcPts val="400"/>
              </a:spcAft>
            </a:pPr>
            <a:r>
              <a:rPr sz="800" b="0" i="0">
                <a:solidFill>
                  <a:srgbClr val="1D1D21"/>
                </a:solidFill>
                <a:latin typeface="Arial"/>
              </a:rPr>
              <a:t>🍗 Hähnchenbrust</a:t>
            </a:r>
          </a:p>
        </p:txBody>
      </p:sp>
      <p:sp>
        <p:nvSpPr>
          <p:cNvPr id="37" name="TextBox 36"/>
          <p:cNvSpPr txBox="1"/>
          <p:nvPr/>
        </p:nvSpPr>
        <p:spPr>
          <a:xfrm>
            <a:off x="5138928" y="3355848"/>
            <a:ext cx="548640" cy="457200"/>
          </a:xfrm>
          <a:prstGeom prst="rect">
            <a:avLst/>
          </a:prstGeom>
          <a:noFill/>
        </p:spPr>
        <p:txBody>
          <a:bodyPr wrap="square" anchor="ctr" lIns="0" rIns="0" tIns="0" bIns="0">
            <a:spAutoFit/>
          </a:bodyPr>
          <a:lstStyle/>
          <a:p>
            <a:pPr algn="r">
              <a:lnSpc>
                <a:spcPct val="100000"/>
              </a:lnSpc>
              <a:spcBef>
                <a:spcPts val="0"/>
              </a:spcBef>
              <a:spcAft>
                <a:spcPts val="400"/>
              </a:spcAft>
            </a:pPr>
            <a:r>
              <a:rPr sz="700" b="1" i="0">
                <a:solidFill>
                  <a:srgbClr val="B36A4A"/>
                </a:solidFill>
                <a:latin typeface="Arial"/>
              </a:rPr>
              <a:t>1 Tag</a:t>
            </a:r>
          </a:p>
        </p:txBody>
      </p:sp>
      <p:sp>
        <p:nvSpPr>
          <p:cNvPr id="38" name="Rounded Rectangle 37"/>
          <p:cNvSpPr/>
          <p:nvPr/>
        </p:nvSpPr>
        <p:spPr>
          <a:xfrm>
            <a:off x="3767328" y="3904487"/>
            <a:ext cx="1965960" cy="457200"/>
          </a:xfrm>
          <a:prstGeom prst="roundRect">
            <a:avLst>
              <a:gd name="adj" fmla="val 20000"/>
            </a:avLst>
          </a:prstGeom>
          <a:solidFill>
            <a:srgbClr val="FFFFFF"/>
          </a:solidFill>
          <a:ln w="7620">
            <a:solidFill>
              <a:srgbClr val="E5E4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3886200" y="3904487"/>
            <a:ext cx="1371600" cy="457200"/>
          </a:xfrm>
          <a:prstGeom prst="rect">
            <a:avLst/>
          </a:prstGeom>
          <a:noFill/>
        </p:spPr>
        <p:txBody>
          <a:bodyPr wrap="square" anchor="ctr" lIns="0" rIns="0" tIns="0" bIns="0">
            <a:spAutoFit/>
          </a:bodyPr>
          <a:lstStyle/>
          <a:p>
            <a:pPr algn="l">
              <a:lnSpc>
                <a:spcPct val="100000"/>
              </a:lnSpc>
              <a:spcBef>
                <a:spcPts val="0"/>
              </a:spcBef>
              <a:spcAft>
                <a:spcPts val="400"/>
              </a:spcAft>
            </a:pPr>
            <a:r>
              <a:rPr sz="800" b="0" i="0">
                <a:solidFill>
                  <a:srgbClr val="1D1D21"/>
                </a:solidFill>
                <a:latin typeface="Arial"/>
              </a:rPr>
              <a:t>🥛 Buttermilch</a:t>
            </a:r>
          </a:p>
        </p:txBody>
      </p:sp>
      <p:sp>
        <p:nvSpPr>
          <p:cNvPr id="40" name="TextBox 39"/>
          <p:cNvSpPr txBox="1"/>
          <p:nvPr/>
        </p:nvSpPr>
        <p:spPr>
          <a:xfrm>
            <a:off x="5138928" y="3904487"/>
            <a:ext cx="548640" cy="457200"/>
          </a:xfrm>
          <a:prstGeom prst="rect">
            <a:avLst/>
          </a:prstGeom>
          <a:noFill/>
        </p:spPr>
        <p:txBody>
          <a:bodyPr wrap="square" anchor="ctr" lIns="0" rIns="0" tIns="0" bIns="0">
            <a:spAutoFit/>
          </a:bodyPr>
          <a:lstStyle/>
          <a:p>
            <a:pPr algn="r">
              <a:lnSpc>
                <a:spcPct val="100000"/>
              </a:lnSpc>
              <a:spcBef>
                <a:spcPts val="0"/>
              </a:spcBef>
              <a:spcAft>
                <a:spcPts val="400"/>
              </a:spcAft>
            </a:pPr>
            <a:r>
              <a:rPr sz="700" b="1" i="0">
                <a:solidFill>
                  <a:srgbClr val="B36A4A"/>
                </a:solidFill>
                <a:latin typeface="Arial"/>
              </a:rPr>
              <a:t>2 Tage</a:t>
            </a:r>
          </a:p>
        </p:txBody>
      </p:sp>
      <p:sp>
        <p:nvSpPr>
          <p:cNvPr id="41" name="Rounded Rectangle 40"/>
          <p:cNvSpPr/>
          <p:nvPr/>
        </p:nvSpPr>
        <p:spPr>
          <a:xfrm>
            <a:off x="3767328" y="4453128"/>
            <a:ext cx="1965960" cy="457200"/>
          </a:xfrm>
          <a:prstGeom prst="roundRect">
            <a:avLst>
              <a:gd name="adj" fmla="val 20000"/>
            </a:avLst>
          </a:prstGeom>
          <a:solidFill>
            <a:srgbClr val="FFFFFF"/>
          </a:solidFill>
          <a:ln w="7620">
            <a:solidFill>
              <a:srgbClr val="E5E4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3886200" y="4453128"/>
            <a:ext cx="1371600" cy="457200"/>
          </a:xfrm>
          <a:prstGeom prst="rect">
            <a:avLst/>
          </a:prstGeom>
          <a:noFill/>
        </p:spPr>
        <p:txBody>
          <a:bodyPr wrap="square" anchor="ctr" lIns="0" rIns="0" tIns="0" bIns="0">
            <a:spAutoFit/>
          </a:bodyPr>
          <a:lstStyle/>
          <a:p>
            <a:pPr algn="l">
              <a:lnSpc>
                <a:spcPct val="100000"/>
              </a:lnSpc>
              <a:spcBef>
                <a:spcPts val="0"/>
              </a:spcBef>
              <a:spcAft>
                <a:spcPts val="400"/>
              </a:spcAft>
            </a:pPr>
            <a:r>
              <a:rPr sz="800" b="0" i="0">
                <a:solidFill>
                  <a:srgbClr val="1D1D21"/>
                </a:solidFill>
                <a:latin typeface="Arial"/>
              </a:rPr>
              <a:t>🥦 Brokkoli</a:t>
            </a:r>
          </a:p>
        </p:txBody>
      </p:sp>
      <p:sp>
        <p:nvSpPr>
          <p:cNvPr id="43" name="TextBox 42"/>
          <p:cNvSpPr txBox="1"/>
          <p:nvPr/>
        </p:nvSpPr>
        <p:spPr>
          <a:xfrm>
            <a:off x="5138928" y="4453128"/>
            <a:ext cx="548640" cy="457200"/>
          </a:xfrm>
          <a:prstGeom prst="rect">
            <a:avLst/>
          </a:prstGeom>
          <a:noFill/>
        </p:spPr>
        <p:txBody>
          <a:bodyPr wrap="square" anchor="ctr" lIns="0" rIns="0" tIns="0" bIns="0">
            <a:spAutoFit/>
          </a:bodyPr>
          <a:lstStyle/>
          <a:p>
            <a:pPr algn="r">
              <a:lnSpc>
                <a:spcPct val="100000"/>
              </a:lnSpc>
              <a:spcBef>
                <a:spcPts val="0"/>
              </a:spcBef>
              <a:spcAft>
                <a:spcPts val="400"/>
              </a:spcAft>
            </a:pPr>
            <a:r>
              <a:rPr sz="700" b="1" i="0">
                <a:solidFill>
                  <a:srgbClr val="5F7B4F"/>
                </a:solidFill>
                <a:latin typeface="Arial"/>
              </a:rPr>
              <a:t>frisch</a:t>
            </a:r>
          </a:p>
        </p:txBody>
      </p:sp>
      <p:sp>
        <p:nvSpPr>
          <p:cNvPr id="44" name="Rounded Rectangle 43"/>
          <p:cNvSpPr/>
          <p:nvPr/>
        </p:nvSpPr>
        <p:spPr>
          <a:xfrm>
            <a:off x="6300216" y="2057400"/>
            <a:ext cx="2331720" cy="3108960"/>
          </a:xfrm>
          <a:prstGeom prst="roundRect">
            <a:avLst>
              <a:gd name="adj" fmla="val 7000"/>
            </a:avLst>
          </a:prstGeom>
          <a:solidFill>
            <a:srgbClr val="FFFFFF"/>
          </a:solidFill>
          <a:ln w="9525">
            <a:solidFill>
              <a:srgbClr val="E5E4E0"/>
            </a:solidFill>
          </a:ln>
          <a:effectLst/>
          <a:effectLst>
            <a:outerShdw blurRad="80000" dist="30000" dir="5400000" rotWithShape="0">
              <a:srgbClr val="1D1D21">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ound Same Side Corner Rectangle 44"/>
          <p:cNvSpPr/>
          <p:nvPr/>
        </p:nvSpPr>
        <p:spPr>
          <a:xfrm>
            <a:off x="6300216" y="2057400"/>
            <a:ext cx="2331720" cy="457200"/>
          </a:xfrm>
          <a:prstGeom prst="round2SameRect">
            <a:avLst>
              <a:gd name="adj1" fmla="val 12000"/>
              <a:gd name="adj2" fmla="val 0"/>
            </a:avLst>
          </a:prstGeom>
          <a:solidFill>
            <a:srgbClr val="7C9A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6483096" y="2103120"/>
            <a:ext cx="2057400" cy="384048"/>
          </a:xfrm>
          <a:prstGeom prst="rect">
            <a:avLst/>
          </a:prstGeom>
          <a:noFill/>
        </p:spPr>
        <p:txBody>
          <a:bodyPr wrap="square" anchor="ctr" lIns="0" rIns="0" tIns="0" bIns="0">
            <a:spAutoFit/>
          </a:bodyPr>
          <a:lstStyle/>
          <a:p>
            <a:pPr algn="l">
              <a:lnSpc>
                <a:spcPct val="100000"/>
              </a:lnSpc>
              <a:spcBef>
                <a:spcPts val="0"/>
              </a:spcBef>
              <a:spcAft>
                <a:spcPts val="400"/>
              </a:spcAft>
            </a:pPr>
            <a:r>
              <a:rPr sz="1000" b="1" i="0">
                <a:solidFill>
                  <a:srgbClr val="FFFFFF"/>
                </a:solidFill>
                <a:latin typeface="Arial"/>
              </a:rPr>
              <a:t>Tages-Log</a:t>
            </a:r>
          </a:p>
        </p:txBody>
      </p:sp>
      <p:sp>
        <p:nvSpPr>
          <p:cNvPr id="47" name="TextBox 46"/>
          <p:cNvSpPr txBox="1"/>
          <p:nvPr/>
        </p:nvSpPr>
        <p:spPr>
          <a:xfrm>
            <a:off x="6483096" y="2807208"/>
            <a:ext cx="1965960" cy="237744"/>
          </a:xfrm>
          <a:prstGeom prst="rect">
            <a:avLst/>
          </a:prstGeom>
          <a:noFill/>
        </p:spPr>
        <p:txBody>
          <a:bodyPr wrap="square" anchor="t" lIns="0" rIns="0" tIns="0" bIns="0">
            <a:spAutoFit/>
          </a:bodyPr>
          <a:lstStyle/>
          <a:p>
            <a:pPr algn="l">
              <a:lnSpc>
                <a:spcPct val="100000"/>
              </a:lnSpc>
              <a:spcBef>
                <a:spcPts val="0"/>
              </a:spcBef>
              <a:spcAft>
                <a:spcPts val="400"/>
              </a:spcAft>
            </a:pPr>
            <a:r>
              <a:rPr sz="750" b="1" i="0">
                <a:solidFill>
                  <a:srgbClr val="1D1D21"/>
                </a:solidFill>
                <a:latin typeface="Arial"/>
              </a:rPr>
              <a:t>Protein</a:t>
            </a:r>
            <a:r>
              <a:rPr sz="700" b="0" i="0">
                <a:solidFill>
                  <a:srgbClr val="6E6F74"/>
                </a:solidFill>
                <a:latin typeface="Arial"/>
              </a:rPr>
              <a:t>   62 / 120 g</a:t>
            </a:r>
          </a:p>
        </p:txBody>
      </p:sp>
      <p:sp>
        <p:nvSpPr>
          <p:cNvPr id="48" name="Rounded Rectangle 47"/>
          <p:cNvSpPr/>
          <p:nvPr/>
        </p:nvSpPr>
        <p:spPr>
          <a:xfrm>
            <a:off x="6483096" y="3081527"/>
            <a:ext cx="1965960" cy="128016"/>
          </a:xfrm>
          <a:prstGeom prst="roundRect">
            <a:avLst>
              <a:gd name="adj" fmla="val 50000"/>
            </a:avLst>
          </a:prstGeom>
          <a:solidFill>
            <a:srgbClr val="E5E4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Rounded Rectangle 48"/>
          <p:cNvSpPr/>
          <p:nvPr/>
        </p:nvSpPr>
        <p:spPr>
          <a:xfrm>
            <a:off x="6483096" y="3081527"/>
            <a:ext cx="1022299" cy="128016"/>
          </a:xfrm>
          <a:prstGeom prst="roundRect">
            <a:avLst>
              <a:gd name="adj" fmla="val 50000"/>
            </a:avLst>
          </a:prstGeom>
          <a:solidFill>
            <a:srgbClr val="B36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6483096" y="3465576"/>
            <a:ext cx="1965960" cy="237744"/>
          </a:xfrm>
          <a:prstGeom prst="rect">
            <a:avLst/>
          </a:prstGeom>
          <a:noFill/>
        </p:spPr>
        <p:txBody>
          <a:bodyPr wrap="square" anchor="t" lIns="0" rIns="0" tIns="0" bIns="0">
            <a:spAutoFit/>
          </a:bodyPr>
          <a:lstStyle/>
          <a:p>
            <a:pPr algn="l">
              <a:lnSpc>
                <a:spcPct val="100000"/>
              </a:lnSpc>
              <a:spcBef>
                <a:spcPts val="0"/>
              </a:spcBef>
              <a:spcAft>
                <a:spcPts val="400"/>
              </a:spcAft>
            </a:pPr>
            <a:r>
              <a:rPr sz="750" b="1" i="0">
                <a:solidFill>
                  <a:srgbClr val="1D1D21"/>
                </a:solidFill>
                <a:latin typeface="Arial"/>
              </a:rPr>
              <a:t>Ballaststoffe</a:t>
            </a:r>
            <a:r>
              <a:rPr sz="700" b="0" i="0">
                <a:solidFill>
                  <a:srgbClr val="6E6F74"/>
                </a:solidFill>
                <a:latin typeface="Arial"/>
              </a:rPr>
              <a:t>   11 / 30 g</a:t>
            </a:r>
          </a:p>
        </p:txBody>
      </p:sp>
      <p:sp>
        <p:nvSpPr>
          <p:cNvPr id="51" name="Rounded Rectangle 50"/>
          <p:cNvSpPr/>
          <p:nvPr/>
        </p:nvSpPr>
        <p:spPr>
          <a:xfrm>
            <a:off x="6483096" y="3739896"/>
            <a:ext cx="1965960" cy="128016"/>
          </a:xfrm>
          <a:prstGeom prst="roundRect">
            <a:avLst>
              <a:gd name="adj" fmla="val 50000"/>
            </a:avLst>
          </a:prstGeom>
          <a:solidFill>
            <a:srgbClr val="E5E4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Rounded Rectangle 51"/>
          <p:cNvSpPr/>
          <p:nvPr/>
        </p:nvSpPr>
        <p:spPr>
          <a:xfrm>
            <a:off x="6483096" y="3739896"/>
            <a:ext cx="727405" cy="128016"/>
          </a:xfrm>
          <a:prstGeom prst="roundRect">
            <a:avLst>
              <a:gd name="adj" fmla="val 50000"/>
            </a:avLst>
          </a:prstGeom>
          <a:solidFill>
            <a:srgbClr val="B36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6483096" y="4123944"/>
            <a:ext cx="1965960" cy="237744"/>
          </a:xfrm>
          <a:prstGeom prst="rect">
            <a:avLst/>
          </a:prstGeom>
          <a:noFill/>
        </p:spPr>
        <p:txBody>
          <a:bodyPr wrap="square" anchor="t" lIns="0" rIns="0" tIns="0" bIns="0">
            <a:spAutoFit/>
          </a:bodyPr>
          <a:lstStyle/>
          <a:p>
            <a:pPr algn="l">
              <a:lnSpc>
                <a:spcPct val="100000"/>
              </a:lnSpc>
              <a:spcBef>
                <a:spcPts val="0"/>
              </a:spcBef>
              <a:spcAft>
                <a:spcPts val="400"/>
              </a:spcAft>
            </a:pPr>
            <a:r>
              <a:rPr sz="750" b="1" i="0">
                <a:solidFill>
                  <a:srgbClr val="1D1D21"/>
                </a:solidFill>
                <a:latin typeface="Arial"/>
              </a:rPr>
              <a:t>Kalorien</a:t>
            </a:r>
            <a:r>
              <a:rPr sz="700" b="0" i="0">
                <a:solidFill>
                  <a:srgbClr val="6E6F74"/>
                </a:solidFill>
                <a:latin typeface="Arial"/>
              </a:rPr>
              <a:t>   1.340 / 2.100</a:t>
            </a:r>
          </a:p>
        </p:txBody>
      </p:sp>
      <p:sp>
        <p:nvSpPr>
          <p:cNvPr id="54" name="Rounded Rectangle 53"/>
          <p:cNvSpPr/>
          <p:nvPr/>
        </p:nvSpPr>
        <p:spPr>
          <a:xfrm>
            <a:off x="6483096" y="4398264"/>
            <a:ext cx="1965960" cy="128016"/>
          </a:xfrm>
          <a:prstGeom prst="roundRect">
            <a:avLst>
              <a:gd name="adj" fmla="val 50000"/>
            </a:avLst>
          </a:prstGeom>
          <a:solidFill>
            <a:srgbClr val="E5E4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Rounded Rectangle 54"/>
          <p:cNvSpPr/>
          <p:nvPr/>
        </p:nvSpPr>
        <p:spPr>
          <a:xfrm>
            <a:off x="6483096" y="4398264"/>
            <a:ext cx="1258214" cy="128016"/>
          </a:xfrm>
          <a:prstGeom prst="roundRect">
            <a:avLst>
              <a:gd name="adj" fmla="val 50000"/>
            </a:avLst>
          </a:prstGeom>
          <a:solidFill>
            <a:srgbClr val="7C9A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Rounded Rectangle 55"/>
          <p:cNvSpPr/>
          <p:nvPr/>
        </p:nvSpPr>
        <p:spPr>
          <a:xfrm>
            <a:off x="9015984" y="2057400"/>
            <a:ext cx="2331720" cy="3108960"/>
          </a:xfrm>
          <a:prstGeom prst="roundRect">
            <a:avLst>
              <a:gd name="adj" fmla="val 7000"/>
            </a:avLst>
          </a:prstGeom>
          <a:solidFill>
            <a:srgbClr val="FFFFFF"/>
          </a:solidFill>
          <a:ln w="9525">
            <a:solidFill>
              <a:srgbClr val="E5E4E0"/>
            </a:solidFill>
          </a:ln>
          <a:effectLst/>
          <a:effectLst>
            <a:outerShdw blurRad="80000" dist="30000" dir="5400000" rotWithShape="0">
              <a:srgbClr val="1D1D21">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Round Same Side Corner Rectangle 56"/>
          <p:cNvSpPr/>
          <p:nvPr/>
        </p:nvSpPr>
        <p:spPr>
          <a:xfrm>
            <a:off x="9015984" y="2057400"/>
            <a:ext cx="2331720" cy="457200"/>
          </a:xfrm>
          <a:prstGeom prst="round2SameRect">
            <a:avLst>
              <a:gd name="adj1" fmla="val 12000"/>
              <a:gd name="adj2" fmla="val 0"/>
            </a:avLst>
          </a:prstGeom>
          <a:solidFill>
            <a:srgbClr val="7C9A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9198863" y="2103120"/>
            <a:ext cx="2057400" cy="384048"/>
          </a:xfrm>
          <a:prstGeom prst="rect">
            <a:avLst/>
          </a:prstGeom>
          <a:noFill/>
        </p:spPr>
        <p:txBody>
          <a:bodyPr wrap="square" anchor="ctr" lIns="0" rIns="0" tIns="0" bIns="0">
            <a:spAutoFit/>
          </a:bodyPr>
          <a:lstStyle/>
          <a:p>
            <a:pPr algn="l">
              <a:lnSpc>
                <a:spcPct val="100000"/>
              </a:lnSpc>
              <a:spcBef>
                <a:spcPts val="0"/>
              </a:spcBef>
              <a:spcAft>
                <a:spcPts val="400"/>
              </a:spcAft>
            </a:pPr>
            <a:r>
              <a:rPr sz="1000" b="1" i="0">
                <a:solidFill>
                  <a:srgbClr val="FFFFFF"/>
                </a:solidFill>
                <a:latin typeface="Arial"/>
              </a:rPr>
              <a:t>Insights</a:t>
            </a:r>
          </a:p>
        </p:txBody>
      </p:sp>
      <p:sp>
        <p:nvSpPr>
          <p:cNvPr id="59" name="TextBox 58"/>
          <p:cNvSpPr txBox="1"/>
          <p:nvPr/>
        </p:nvSpPr>
        <p:spPr>
          <a:xfrm>
            <a:off x="9198863" y="2624328"/>
            <a:ext cx="1965960" cy="603504"/>
          </a:xfrm>
          <a:prstGeom prst="rect">
            <a:avLst/>
          </a:prstGeom>
          <a:noFill/>
        </p:spPr>
        <p:txBody>
          <a:bodyPr wrap="square" anchor="t" lIns="0" rIns="0" tIns="0" bIns="0">
            <a:spAutoFit/>
          </a:bodyPr>
          <a:lstStyle/>
          <a:p>
            <a:pPr algn="ctr">
              <a:lnSpc>
                <a:spcPct val="100000"/>
              </a:lnSpc>
              <a:spcBef>
                <a:spcPts val="0"/>
              </a:spcBef>
              <a:spcAft>
                <a:spcPts val="400"/>
              </a:spcAft>
            </a:pPr>
            <a:r>
              <a:rPr sz="3000" b="1" i="0">
                <a:solidFill>
                  <a:srgbClr val="5F7B4F"/>
                </a:solidFill>
                <a:latin typeface="Arial"/>
              </a:rPr>
              <a:t>72</a:t>
            </a:r>
          </a:p>
        </p:txBody>
      </p:sp>
      <p:sp>
        <p:nvSpPr>
          <p:cNvPr id="60" name="TextBox 59"/>
          <p:cNvSpPr txBox="1"/>
          <p:nvPr/>
        </p:nvSpPr>
        <p:spPr>
          <a:xfrm>
            <a:off x="9198863" y="3227832"/>
            <a:ext cx="1965960" cy="274320"/>
          </a:xfrm>
          <a:prstGeom prst="rect">
            <a:avLst/>
          </a:prstGeom>
          <a:noFill/>
        </p:spPr>
        <p:txBody>
          <a:bodyPr wrap="square" anchor="t" lIns="0" rIns="0" tIns="0" bIns="0">
            <a:spAutoFit/>
          </a:bodyPr>
          <a:lstStyle/>
          <a:p>
            <a:pPr algn="ctr">
              <a:lnSpc>
                <a:spcPct val="100000"/>
              </a:lnSpc>
              <a:spcBef>
                <a:spcPts val="0"/>
              </a:spcBef>
              <a:spcAft>
                <a:spcPts val="400"/>
              </a:spcAft>
            </a:pPr>
            <a:r>
              <a:rPr sz="800" b="0" i="0">
                <a:solidFill>
                  <a:srgbClr val="6E6F74"/>
                </a:solidFill>
                <a:latin typeface="Arial"/>
              </a:rPr>
              <a:t>Wochen-Score · Gut</a:t>
            </a:r>
          </a:p>
        </p:txBody>
      </p:sp>
      <p:sp>
        <p:nvSpPr>
          <p:cNvPr id="61" name="Rounded Rectangle 60"/>
          <p:cNvSpPr/>
          <p:nvPr/>
        </p:nvSpPr>
        <p:spPr>
          <a:xfrm>
            <a:off x="9198863" y="3593591"/>
            <a:ext cx="932688" cy="457200"/>
          </a:xfrm>
          <a:prstGeom prst="roundRect">
            <a:avLst>
              <a:gd name="adj" fmla="val 20000"/>
            </a:avLst>
          </a:prstGeom>
          <a:solidFill>
            <a:srgbClr val="FFFFFF"/>
          </a:solidFill>
          <a:ln w="7620">
            <a:solidFill>
              <a:srgbClr val="E5E4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9299447" y="3593591"/>
            <a:ext cx="777240" cy="457200"/>
          </a:xfrm>
          <a:prstGeom prst="rect">
            <a:avLst/>
          </a:prstGeom>
          <a:noFill/>
        </p:spPr>
        <p:txBody>
          <a:bodyPr wrap="square" anchor="ctr" lIns="0" rIns="0" tIns="0" bIns="0">
            <a:spAutoFit/>
          </a:bodyPr>
          <a:lstStyle/>
          <a:p>
            <a:pPr algn="l">
              <a:lnSpc>
                <a:spcPct val="100000"/>
              </a:lnSpc>
              <a:spcBef>
                <a:spcPts val="0"/>
              </a:spcBef>
              <a:spcAft>
                <a:spcPts val="0"/>
              </a:spcAft>
            </a:pPr>
            <a:r>
              <a:rPr sz="700" b="0" i="0">
                <a:solidFill>
                  <a:srgbClr val="1D1D21"/>
                </a:solidFill>
                <a:latin typeface="Arial"/>
              </a:rPr>
              <a:t>Protein</a:t>
            </a:r>
          </a:p>
          <a:p>
            <a:pPr algn="l">
              <a:lnSpc>
                <a:spcPct val="100000"/>
              </a:lnSpc>
              <a:spcBef>
                <a:spcPts val="0"/>
              </a:spcBef>
              <a:spcAft>
                <a:spcPts val="0"/>
              </a:spcAft>
            </a:pPr>
            <a:r>
              <a:rPr sz="750" b="1" i="0">
                <a:solidFill>
                  <a:srgbClr val="B36A4A"/>
                </a:solidFill>
                <a:latin typeface="Arial"/>
              </a:rPr>
              <a:t>niedrig</a:t>
            </a:r>
          </a:p>
        </p:txBody>
      </p:sp>
      <p:sp>
        <p:nvSpPr>
          <p:cNvPr id="63" name="Rounded Rectangle 62"/>
          <p:cNvSpPr/>
          <p:nvPr/>
        </p:nvSpPr>
        <p:spPr>
          <a:xfrm>
            <a:off x="10204703" y="3593591"/>
            <a:ext cx="932688" cy="457200"/>
          </a:xfrm>
          <a:prstGeom prst="roundRect">
            <a:avLst>
              <a:gd name="adj" fmla="val 20000"/>
            </a:avLst>
          </a:prstGeom>
          <a:solidFill>
            <a:srgbClr val="FFFFFF"/>
          </a:solidFill>
          <a:ln w="7620">
            <a:solidFill>
              <a:srgbClr val="E5E4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10305287" y="3593591"/>
            <a:ext cx="777240" cy="457200"/>
          </a:xfrm>
          <a:prstGeom prst="rect">
            <a:avLst/>
          </a:prstGeom>
          <a:noFill/>
        </p:spPr>
        <p:txBody>
          <a:bodyPr wrap="square" anchor="ctr" lIns="0" rIns="0" tIns="0" bIns="0">
            <a:spAutoFit/>
          </a:bodyPr>
          <a:lstStyle/>
          <a:p>
            <a:pPr algn="l">
              <a:lnSpc>
                <a:spcPct val="100000"/>
              </a:lnSpc>
              <a:spcBef>
                <a:spcPts val="0"/>
              </a:spcBef>
              <a:spcAft>
                <a:spcPts val="0"/>
              </a:spcAft>
            </a:pPr>
            <a:r>
              <a:rPr sz="700" b="0" i="0">
                <a:solidFill>
                  <a:srgbClr val="1D1D21"/>
                </a:solidFill>
                <a:latin typeface="Arial"/>
              </a:rPr>
              <a:t>Ballastst.</a:t>
            </a:r>
          </a:p>
          <a:p>
            <a:pPr algn="l">
              <a:lnSpc>
                <a:spcPct val="100000"/>
              </a:lnSpc>
              <a:spcBef>
                <a:spcPts val="0"/>
              </a:spcBef>
              <a:spcAft>
                <a:spcPts val="0"/>
              </a:spcAft>
            </a:pPr>
            <a:r>
              <a:rPr sz="750" b="1" i="0">
                <a:solidFill>
                  <a:srgbClr val="B36A4A"/>
                </a:solidFill>
                <a:latin typeface="Arial"/>
              </a:rPr>
              <a:t>niedrig</a:t>
            </a:r>
          </a:p>
        </p:txBody>
      </p:sp>
      <p:sp>
        <p:nvSpPr>
          <p:cNvPr id="65" name="Rounded Rectangle 64"/>
          <p:cNvSpPr/>
          <p:nvPr/>
        </p:nvSpPr>
        <p:spPr>
          <a:xfrm>
            <a:off x="9198863" y="4142231"/>
            <a:ext cx="932688" cy="457200"/>
          </a:xfrm>
          <a:prstGeom prst="roundRect">
            <a:avLst>
              <a:gd name="adj" fmla="val 20000"/>
            </a:avLst>
          </a:prstGeom>
          <a:solidFill>
            <a:srgbClr val="FFFFFF"/>
          </a:solidFill>
          <a:ln w="7620">
            <a:solidFill>
              <a:srgbClr val="E5E4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TextBox 65"/>
          <p:cNvSpPr txBox="1"/>
          <p:nvPr/>
        </p:nvSpPr>
        <p:spPr>
          <a:xfrm>
            <a:off x="9299447" y="4142231"/>
            <a:ext cx="777240" cy="457200"/>
          </a:xfrm>
          <a:prstGeom prst="rect">
            <a:avLst/>
          </a:prstGeom>
          <a:noFill/>
        </p:spPr>
        <p:txBody>
          <a:bodyPr wrap="square" anchor="ctr" lIns="0" rIns="0" tIns="0" bIns="0">
            <a:spAutoFit/>
          </a:bodyPr>
          <a:lstStyle/>
          <a:p>
            <a:pPr algn="l">
              <a:lnSpc>
                <a:spcPct val="100000"/>
              </a:lnSpc>
              <a:spcBef>
                <a:spcPts val="0"/>
              </a:spcBef>
              <a:spcAft>
                <a:spcPts val="0"/>
              </a:spcAft>
            </a:pPr>
            <a:r>
              <a:rPr sz="700" b="0" i="0">
                <a:solidFill>
                  <a:srgbClr val="1D1D21"/>
                </a:solidFill>
                <a:latin typeface="Arial"/>
              </a:rPr>
              <a:t>Zucker</a:t>
            </a:r>
          </a:p>
          <a:p>
            <a:pPr algn="l">
              <a:lnSpc>
                <a:spcPct val="100000"/>
              </a:lnSpc>
              <a:spcBef>
                <a:spcPts val="0"/>
              </a:spcBef>
              <a:spcAft>
                <a:spcPts val="0"/>
              </a:spcAft>
            </a:pPr>
            <a:r>
              <a:rPr sz="750" b="1" i="0">
                <a:solidFill>
                  <a:srgbClr val="5F7B4F"/>
                </a:solidFill>
                <a:latin typeface="Arial"/>
              </a:rPr>
              <a:t>ok</a:t>
            </a:r>
          </a:p>
        </p:txBody>
      </p:sp>
      <p:sp>
        <p:nvSpPr>
          <p:cNvPr id="67" name="Rounded Rectangle 66"/>
          <p:cNvSpPr/>
          <p:nvPr/>
        </p:nvSpPr>
        <p:spPr>
          <a:xfrm>
            <a:off x="10204703" y="4142231"/>
            <a:ext cx="932688" cy="457200"/>
          </a:xfrm>
          <a:prstGeom prst="roundRect">
            <a:avLst>
              <a:gd name="adj" fmla="val 20000"/>
            </a:avLst>
          </a:prstGeom>
          <a:solidFill>
            <a:srgbClr val="FFFFFF"/>
          </a:solidFill>
          <a:ln w="7620">
            <a:solidFill>
              <a:srgbClr val="E5E4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TextBox 67"/>
          <p:cNvSpPr txBox="1"/>
          <p:nvPr/>
        </p:nvSpPr>
        <p:spPr>
          <a:xfrm>
            <a:off x="10305287" y="4142231"/>
            <a:ext cx="777240" cy="457200"/>
          </a:xfrm>
          <a:prstGeom prst="rect">
            <a:avLst/>
          </a:prstGeom>
          <a:noFill/>
        </p:spPr>
        <p:txBody>
          <a:bodyPr wrap="square" anchor="ctr" lIns="0" rIns="0" tIns="0" bIns="0">
            <a:spAutoFit/>
          </a:bodyPr>
          <a:lstStyle/>
          <a:p>
            <a:pPr algn="l">
              <a:lnSpc>
                <a:spcPct val="100000"/>
              </a:lnSpc>
              <a:spcBef>
                <a:spcPts val="0"/>
              </a:spcBef>
              <a:spcAft>
                <a:spcPts val="0"/>
              </a:spcAft>
            </a:pPr>
            <a:r>
              <a:rPr sz="700" b="0" i="0">
                <a:solidFill>
                  <a:srgbClr val="1D1D21"/>
                </a:solidFill>
                <a:latin typeface="Arial"/>
              </a:rPr>
              <a:t>Kalorien</a:t>
            </a:r>
          </a:p>
          <a:p>
            <a:pPr algn="l">
              <a:lnSpc>
                <a:spcPct val="100000"/>
              </a:lnSpc>
              <a:spcBef>
                <a:spcPts val="0"/>
              </a:spcBef>
              <a:spcAft>
                <a:spcPts val="0"/>
              </a:spcAft>
            </a:pPr>
            <a:r>
              <a:rPr sz="750" b="1" i="0">
                <a:solidFill>
                  <a:srgbClr val="5F7B4F"/>
                </a:solidFill>
                <a:latin typeface="Arial"/>
              </a:rPr>
              <a:t>ok</a:t>
            </a:r>
          </a:p>
        </p:txBody>
      </p:sp>
      <p:sp>
        <p:nvSpPr>
          <p:cNvPr id="69" name="TextBox 68"/>
          <p:cNvSpPr txBox="1"/>
          <p:nvPr/>
        </p:nvSpPr>
        <p:spPr>
          <a:xfrm>
            <a:off x="822960" y="5852160"/>
            <a:ext cx="10515600" cy="365760"/>
          </a:xfrm>
          <a:prstGeom prst="rect">
            <a:avLst/>
          </a:prstGeom>
          <a:noFill/>
        </p:spPr>
        <p:txBody>
          <a:bodyPr wrap="square" anchor="t" lIns="0" rIns="0" tIns="0" bIns="0">
            <a:spAutoFit/>
          </a:bodyPr>
          <a:lstStyle/>
          <a:p>
            <a:pPr algn="ctr">
              <a:lnSpc>
                <a:spcPct val="100000"/>
              </a:lnSpc>
              <a:spcBef>
                <a:spcPts val="0"/>
              </a:spcBef>
              <a:spcAft>
                <a:spcPts val="400"/>
              </a:spcAft>
            </a:pPr>
            <a:r>
              <a:rPr sz="1100" b="0" i="1">
                <a:solidFill>
                  <a:srgbClr val="6E6F74"/>
                </a:solidFill>
                <a:latin typeface="Arial"/>
              </a:rPr>
              <a:t>Fully clickable prototype — light &amp; dark.  </a:t>
            </a:r>
            <a:r>
              <a:rPr sz="1100" b="1" i="1">
                <a:solidFill>
                  <a:srgbClr val="5F7B4F"/>
                </a:solidFill>
                <a:latin typeface="Arial"/>
              </a:rPr>
              <a:t>Estimates from your groceries + taps — not medical advice.</a:t>
            </a:r>
          </a:p>
        </p:txBody>
      </p:sp>
      <p:sp>
        <p:nvSpPr>
          <p:cNvPr id="70" name="TextBox 69"/>
          <p:cNvSpPr txBox="1"/>
          <p:nvPr/>
        </p:nvSpPr>
        <p:spPr>
          <a:xfrm>
            <a:off x="548640" y="6428232"/>
            <a:ext cx="4572000" cy="274320"/>
          </a:xfrm>
          <a:prstGeom prst="rect">
            <a:avLst/>
          </a:prstGeom>
          <a:noFill/>
        </p:spPr>
        <p:txBody>
          <a:bodyPr wrap="square" anchor="t" lIns="0" rIns="0" tIns="0" bIns="0">
            <a:spAutoFit/>
          </a:bodyPr>
          <a:lstStyle/>
          <a:p>
            <a:pPr algn="l">
              <a:lnSpc>
                <a:spcPct val="100000"/>
              </a:lnSpc>
              <a:spcBef>
                <a:spcPts val="0"/>
              </a:spcBef>
              <a:spcAft>
                <a:spcPts val="400"/>
              </a:spcAft>
            </a:pPr>
            <a:r>
              <a:rPr sz="900" b="1" i="0">
                <a:solidFill>
                  <a:srgbClr val="6E6F74"/>
                </a:solidFill>
                <a:latin typeface="Arial"/>
              </a:rPr>
              <a:t>NutriWise</a:t>
            </a:r>
            <a:r>
              <a:rPr sz="900" b="0" i="0">
                <a:solidFill>
                  <a:srgbClr val="6E6F74"/>
                </a:solidFill>
                <a:latin typeface="Arial"/>
              </a:rPr>
              <a:t>  ·  Final · V0</a:t>
            </a:r>
          </a:p>
        </p:txBody>
      </p:sp>
      <p:sp>
        <p:nvSpPr>
          <p:cNvPr id="71" name="TextBox 70"/>
          <p:cNvSpPr txBox="1"/>
          <p:nvPr/>
        </p:nvSpPr>
        <p:spPr>
          <a:xfrm>
            <a:off x="9875520" y="6428232"/>
            <a:ext cx="1737360" cy="274320"/>
          </a:xfrm>
          <a:prstGeom prst="rect">
            <a:avLst/>
          </a:prstGeom>
          <a:noFill/>
        </p:spPr>
        <p:txBody>
          <a:bodyPr wrap="square" anchor="t" lIns="0" rIns="0" tIns="0" bIns="0">
            <a:spAutoFit/>
          </a:bodyPr>
          <a:lstStyle/>
          <a:p>
            <a:pPr algn="r">
              <a:lnSpc>
                <a:spcPct val="100000"/>
              </a:lnSpc>
              <a:spcBef>
                <a:spcPts val="0"/>
              </a:spcBef>
              <a:spcAft>
                <a:spcPts val="400"/>
              </a:spcAft>
            </a:pPr>
            <a:r>
              <a:rPr sz="900" b="0" i="0">
                <a:solidFill>
                  <a:srgbClr val="6E6F74"/>
                </a:solidFill>
                <a:latin typeface="Arial"/>
              </a:rPr>
              <a:t>05 / 14</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AFAFA"/>
        </a:solidFill>
        <a:effectLst/>
      </p:bgPr>
    </p:bg>
    <p:spTree>
      <p:nvGrpSpPr>
        <p:cNvPr id="1" name=""/>
        <p:cNvGrpSpPr/>
        <p:nvPr/>
      </p:nvGrpSpPr>
      <p:grpSpPr/>
      <p:sp>
        <p:nvSpPr>
          <p:cNvPr id="2" name="TextBox 1"/>
          <p:cNvSpPr txBox="1"/>
          <p:nvPr/>
        </p:nvSpPr>
        <p:spPr>
          <a:xfrm>
            <a:off x="822960" y="548640"/>
            <a:ext cx="9144000" cy="274320"/>
          </a:xfrm>
          <a:prstGeom prst="rect">
            <a:avLst/>
          </a:prstGeom>
          <a:noFill/>
        </p:spPr>
        <p:txBody>
          <a:bodyPr wrap="square" anchor="t" lIns="0" rIns="0" tIns="0" bIns="0">
            <a:spAutoFit/>
          </a:bodyPr>
          <a:lstStyle/>
          <a:p>
            <a:pPr algn="l">
              <a:lnSpc>
                <a:spcPct val="100000"/>
              </a:lnSpc>
              <a:spcBef>
                <a:spcPts val="0"/>
              </a:spcBef>
              <a:spcAft>
                <a:spcPts val="400"/>
              </a:spcAft>
            </a:pPr>
            <a:r>
              <a:rPr sz="1250" b="1" i="0">
                <a:solidFill>
                  <a:srgbClr val="5F7B4F"/>
                </a:solidFill>
                <a:latin typeface="Arial"/>
              </a:rPr>
              <a:t>HONEST BY DESIGN</a:t>
            </a:r>
          </a:p>
        </p:txBody>
      </p:sp>
      <p:sp>
        <p:nvSpPr>
          <p:cNvPr id="3" name="TextBox 2"/>
          <p:cNvSpPr txBox="1"/>
          <p:nvPr/>
        </p:nvSpPr>
        <p:spPr>
          <a:xfrm>
            <a:off x="822960" y="841248"/>
            <a:ext cx="10698480" cy="914400"/>
          </a:xfrm>
          <a:prstGeom prst="rect">
            <a:avLst/>
          </a:prstGeom>
          <a:noFill/>
        </p:spPr>
        <p:txBody>
          <a:bodyPr wrap="square" anchor="t" lIns="0" rIns="0" tIns="0" bIns="0">
            <a:spAutoFit/>
          </a:bodyPr>
          <a:lstStyle/>
          <a:p>
            <a:pPr algn="l">
              <a:lnSpc>
                <a:spcPct val="100000"/>
              </a:lnSpc>
              <a:spcBef>
                <a:spcPts val="0"/>
              </a:spcBef>
              <a:spcAft>
                <a:spcPts val="400"/>
              </a:spcAft>
            </a:pPr>
            <a:r>
              <a:rPr sz="2700" b="1" i="0">
                <a:solidFill>
                  <a:srgbClr val="1D1D21"/>
                </a:solidFill>
                <a:latin typeface="Arial"/>
              </a:rPr>
              <a:t>We show only what your data actually supports</a:t>
            </a:r>
          </a:p>
        </p:txBody>
      </p:sp>
      <p:sp>
        <p:nvSpPr>
          <p:cNvPr id="4" name="Rectangle 3"/>
          <p:cNvSpPr/>
          <p:nvPr/>
        </p:nvSpPr>
        <p:spPr>
          <a:xfrm>
            <a:off x="841248" y="1481328"/>
            <a:ext cx="1371600" cy="41148"/>
          </a:xfrm>
          <a:prstGeom prst="rect">
            <a:avLst/>
          </a:prstGeom>
          <a:solidFill>
            <a:srgbClr val="7C9A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1517904"/>
            <a:ext cx="10515600" cy="365760"/>
          </a:xfrm>
          <a:prstGeom prst="rect">
            <a:avLst/>
          </a:prstGeom>
          <a:noFill/>
        </p:spPr>
        <p:txBody>
          <a:bodyPr wrap="square" anchor="t" lIns="0" rIns="0" tIns="0" bIns="0">
            <a:spAutoFit/>
          </a:bodyPr>
          <a:lstStyle/>
          <a:p>
            <a:pPr algn="l">
              <a:lnSpc>
                <a:spcPct val="100000"/>
              </a:lnSpc>
              <a:spcBef>
                <a:spcPts val="0"/>
              </a:spcBef>
              <a:spcAft>
                <a:spcPts val="400"/>
              </a:spcAft>
            </a:pPr>
            <a:r>
              <a:rPr sz="1300" b="0" i="1">
                <a:solidFill>
                  <a:srgbClr val="6E6F74"/>
                </a:solidFill>
                <a:latin typeface="Arial"/>
              </a:rPr>
              <a:t>The more you track, the more we can say — and we never pretend to know more than we do.</a:t>
            </a:r>
          </a:p>
        </p:txBody>
      </p:sp>
      <p:sp>
        <p:nvSpPr>
          <p:cNvPr id="6" name="Rounded Rectangle 5"/>
          <p:cNvSpPr/>
          <p:nvPr/>
        </p:nvSpPr>
        <p:spPr>
          <a:xfrm>
            <a:off x="822960" y="2148840"/>
            <a:ext cx="1956816" cy="2514600"/>
          </a:xfrm>
          <a:prstGeom prst="roundRect">
            <a:avLst>
              <a:gd name="adj" fmla="val 5000"/>
            </a:avLst>
          </a:prstGeom>
          <a:solidFill>
            <a:srgbClr val="FFFFFF"/>
          </a:solidFill>
          <a:ln w="9525">
            <a:solidFill>
              <a:srgbClr val="E5E4E0"/>
            </a:solidFill>
          </a:ln>
          <a:effectLst/>
          <a:effectLst>
            <a:outerShdw blurRad="80000" dist="30000" dir="5400000" rotWithShape="0">
              <a:srgbClr val="1D1D21">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 Same Side Corner Rectangle 6"/>
          <p:cNvSpPr/>
          <p:nvPr/>
        </p:nvSpPr>
        <p:spPr>
          <a:xfrm>
            <a:off x="822960" y="2148840"/>
            <a:ext cx="1956816" cy="603504"/>
          </a:xfrm>
          <a:prstGeom prst="round2SameRect">
            <a:avLst>
              <a:gd name="adj1" fmla="val 9000"/>
              <a:gd name="adj2" fmla="val 0"/>
            </a:avLst>
          </a:prstGeom>
          <a:solidFill>
            <a:srgbClr val="B7C9A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2240280"/>
            <a:ext cx="1956816" cy="420624"/>
          </a:xfrm>
          <a:prstGeom prst="rect">
            <a:avLst/>
          </a:prstGeom>
          <a:noFill/>
        </p:spPr>
        <p:txBody>
          <a:bodyPr wrap="square" anchor="ctr" lIns="0" rIns="0" tIns="0" bIns="0">
            <a:spAutoFit/>
          </a:bodyPr>
          <a:lstStyle/>
          <a:p>
            <a:pPr algn="ctr">
              <a:lnSpc>
                <a:spcPct val="100000"/>
              </a:lnSpc>
              <a:spcBef>
                <a:spcPts val="0"/>
              </a:spcBef>
              <a:spcAft>
                <a:spcPts val="400"/>
              </a:spcAft>
            </a:pPr>
            <a:r>
              <a:rPr sz="1050" b="1" i="0">
                <a:solidFill>
                  <a:srgbClr val="1D1D21"/>
                </a:solidFill>
                <a:latin typeface="Arial"/>
              </a:rPr>
              <a:t>DAY 0</a:t>
            </a:r>
          </a:p>
        </p:txBody>
      </p:sp>
      <p:sp>
        <p:nvSpPr>
          <p:cNvPr id="9" name="TextBox 8"/>
          <p:cNvSpPr txBox="1"/>
          <p:nvPr/>
        </p:nvSpPr>
        <p:spPr>
          <a:xfrm>
            <a:off x="1024128" y="2898648"/>
            <a:ext cx="1591056" cy="457200"/>
          </a:xfrm>
          <a:prstGeom prst="rect">
            <a:avLst/>
          </a:prstGeom>
          <a:noFill/>
        </p:spPr>
        <p:txBody>
          <a:bodyPr wrap="square" anchor="t" lIns="0" rIns="0" tIns="0" bIns="0">
            <a:spAutoFit/>
          </a:bodyPr>
          <a:lstStyle/>
          <a:p>
            <a:pPr algn="l">
              <a:lnSpc>
                <a:spcPct val="100000"/>
              </a:lnSpc>
              <a:spcBef>
                <a:spcPts val="0"/>
              </a:spcBef>
              <a:spcAft>
                <a:spcPts val="400"/>
              </a:spcAft>
            </a:pPr>
            <a:r>
              <a:rPr sz="1500" b="1" i="0">
                <a:solidFill>
                  <a:srgbClr val="1D1D21"/>
                </a:solidFill>
                <a:latin typeface="Arial"/>
              </a:rPr>
              <a:t>Your targets</a:t>
            </a:r>
          </a:p>
        </p:txBody>
      </p:sp>
      <p:sp>
        <p:nvSpPr>
          <p:cNvPr id="10" name="TextBox 9"/>
          <p:cNvSpPr txBox="1"/>
          <p:nvPr/>
        </p:nvSpPr>
        <p:spPr>
          <a:xfrm>
            <a:off x="1024128" y="3383280"/>
            <a:ext cx="1591056" cy="1188720"/>
          </a:xfrm>
          <a:prstGeom prst="rect">
            <a:avLst/>
          </a:prstGeom>
          <a:noFill/>
        </p:spPr>
        <p:txBody>
          <a:bodyPr wrap="square" anchor="t" lIns="0" rIns="0" tIns="0" bIns="0">
            <a:spAutoFit/>
          </a:bodyPr>
          <a:lstStyle/>
          <a:p>
            <a:pPr algn="l">
              <a:lnSpc>
                <a:spcPct val="108000"/>
              </a:lnSpc>
              <a:spcBef>
                <a:spcPts val="0"/>
              </a:spcBef>
              <a:spcAft>
                <a:spcPts val="400"/>
              </a:spcAft>
            </a:pPr>
            <a:r>
              <a:rPr sz="1150" b="0" i="0">
                <a:solidFill>
                  <a:srgbClr val="6E6F74"/>
                </a:solidFill>
                <a:latin typeface="Arial"/>
              </a:rPr>
              <a:t>What to aim for, from your profile. No eating data yet.</a:t>
            </a:r>
          </a:p>
        </p:txBody>
      </p:sp>
      <p:sp>
        <p:nvSpPr>
          <p:cNvPr id="11" name="TextBox 10"/>
          <p:cNvSpPr txBox="1"/>
          <p:nvPr/>
        </p:nvSpPr>
        <p:spPr>
          <a:xfrm>
            <a:off x="2761488" y="3017520"/>
            <a:ext cx="274320" cy="457200"/>
          </a:xfrm>
          <a:prstGeom prst="rect">
            <a:avLst/>
          </a:prstGeom>
          <a:noFill/>
        </p:spPr>
        <p:txBody>
          <a:bodyPr wrap="square" anchor="t" lIns="0" rIns="0" tIns="0" bIns="0">
            <a:spAutoFit/>
          </a:bodyPr>
          <a:lstStyle/>
          <a:p>
            <a:pPr algn="l">
              <a:lnSpc>
                <a:spcPct val="100000"/>
              </a:lnSpc>
              <a:spcBef>
                <a:spcPts val="0"/>
              </a:spcBef>
              <a:spcAft>
                <a:spcPts val="400"/>
              </a:spcAft>
            </a:pPr>
            <a:r>
              <a:rPr sz="2200" b="1" i="0">
                <a:solidFill>
                  <a:srgbClr val="7C9A6A"/>
                </a:solidFill>
                <a:latin typeface="Arial"/>
              </a:rPr>
              <a:t>›</a:t>
            </a:r>
          </a:p>
        </p:txBody>
      </p:sp>
      <p:sp>
        <p:nvSpPr>
          <p:cNvPr id="12" name="Rounded Rectangle 11"/>
          <p:cNvSpPr/>
          <p:nvPr/>
        </p:nvSpPr>
        <p:spPr>
          <a:xfrm>
            <a:off x="2953512" y="2148840"/>
            <a:ext cx="1956816" cy="2514600"/>
          </a:xfrm>
          <a:prstGeom prst="roundRect">
            <a:avLst>
              <a:gd name="adj" fmla="val 5000"/>
            </a:avLst>
          </a:prstGeom>
          <a:solidFill>
            <a:srgbClr val="FFFFFF"/>
          </a:solidFill>
          <a:ln w="9525">
            <a:solidFill>
              <a:srgbClr val="E5E4E0"/>
            </a:solidFill>
          </a:ln>
          <a:effectLst/>
          <a:effectLst>
            <a:outerShdw blurRad="80000" dist="30000" dir="5400000" rotWithShape="0">
              <a:srgbClr val="1D1D21">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 Same Side Corner Rectangle 12"/>
          <p:cNvSpPr/>
          <p:nvPr/>
        </p:nvSpPr>
        <p:spPr>
          <a:xfrm>
            <a:off x="2953512" y="2148840"/>
            <a:ext cx="1956816" cy="603504"/>
          </a:xfrm>
          <a:prstGeom prst="round2SameRect">
            <a:avLst>
              <a:gd name="adj1" fmla="val 9000"/>
              <a:gd name="adj2" fmla="val 0"/>
            </a:avLst>
          </a:prstGeom>
          <a:solidFill>
            <a:srgbClr val="B7C9A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953512" y="2240280"/>
            <a:ext cx="1956816" cy="420624"/>
          </a:xfrm>
          <a:prstGeom prst="rect">
            <a:avLst/>
          </a:prstGeom>
          <a:noFill/>
        </p:spPr>
        <p:txBody>
          <a:bodyPr wrap="square" anchor="ctr" lIns="0" rIns="0" tIns="0" bIns="0">
            <a:spAutoFit/>
          </a:bodyPr>
          <a:lstStyle/>
          <a:p>
            <a:pPr algn="ctr">
              <a:lnSpc>
                <a:spcPct val="100000"/>
              </a:lnSpc>
              <a:spcBef>
                <a:spcPts val="0"/>
              </a:spcBef>
              <a:spcAft>
                <a:spcPts val="400"/>
              </a:spcAft>
            </a:pPr>
            <a:r>
              <a:rPr sz="1050" b="1" i="0">
                <a:solidFill>
                  <a:srgbClr val="1D1D21"/>
                </a:solidFill>
                <a:latin typeface="Arial"/>
              </a:rPr>
              <a:t>1ST RECEIPT</a:t>
            </a:r>
          </a:p>
        </p:txBody>
      </p:sp>
      <p:sp>
        <p:nvSpPr>
          <p:cNvPr id="15" name="TextBox 14"/>
          <p:cNvSpPr txBox="1"/>
          <p:nvPr/>
        </p:nvSpPr>
        <p:spPr>
          <a:xfrm>
            <a:off x="3154680" y="2898648"/>
            <a:ext cx="1591056" cy="457200"/>
          </a:xfrm>
          <a:prstGeom prst="rect">
            <a:avLst/>
          </a:prstGeom>
          <a:noFill/>
        </p:spPr>
        <p:txBody>
          <a:bodyPr wrap="square" anchor="t" lIns="0" rIns="0" tIns="0" bIns="0">
            <a:spAutoFit/>
          </a:bodyPr>
          <a:lstStyle/>
          <a:p>
            <a:pPr algn="l">
              <a:lnSpc>
                <a:spcPct val="100000"/>
              </a:lnSpc>
              <a:spcBef>
                <a:spcPts val="0"/>
              </a:spcBef>
              <a:spcAft>
                <a:spcPts val="400"/>
              </a:spcAft>
            </a:pPr>
            <a:r>
              <a:rPr sz="1500" b="1" i="0">
                <a:solidFill>
                  <a:srgbClr val="1D1D21"/>
                </a:solidFill>
                <a:latin typeface="Arial"/>
              </a:rPr>
              <a:t>Your basket</a:t>
            </a:r>
          </a:p>
        </p:txBody>
      </p:sp>
      <p:sp>
        <p:nvSpPr>
          <p:cNvPr id="16" name="TextBox 15"/>
          <p:cNvSpPr txBox="1"/>
          <p:nvPr/>
        </p:nvSpPr>
        <p:spPr>
          <a:xfrm>
            <a:off x="3154680" y="3383280"/>
            <a:ext cx="1591056" cy="1188720"/>
          </a:xfrm>
          <a:prstGeom prst="rect">
            <a:avLst/>
          </a:prstGeom>
          <a:noFill/>
        </p:spPr>
        <p:txBody>
          <a:bodyPr wrap="square" anchor="t" lIns="0" rIns="0" tIns="0" bIns="0">
            <a:spAutoFit/>
          </a:bodyPr>
          <a:lstStyle/>
          <a:p>
            <a:pPr algn="l">
              <a:lnSpc>
                <a:spcPct val="108000"/>
              </a:lnSpc>
              <a:spcBef>
                <a:spcPts val="0"/>
              </a:spcBef>
              <a:spcAft>
                <a:spcPts val="400"/>
              </a:spcAft>
            </a:pPr>
            <a:r>
              <a:rPr sz="1150" b="0" i="0">
                <a:solidFill>
                  <a:srgbClr val="6E6F74"/>
                </a:solidFill>
                <a:latin typeface="Arial"/>
              </a:rPr>
              <a:t>The mix of what you bought — labeled “basket,” never “diet.”</a:t>
            </a:r>
          </a:p>
        </p:txBody>
      </p:sp>
      <p:sp>
        <p:nvSpPr>
          <p:cNvPr id="17" name="TextBox 16"/>
          <p:cNvSpPr txBox="1"/>
          <p:nvPr/>
        </p:nvSpPr>
        <p:spPr>
          <a:xfrm>
            <a:off x="4892040" y="3017520"/>
            <a:ext cx="274320" cy="457200"/>
          </a:xfrm>
          <a:prstGeom prst="rect">
            <a:avLst/>
          </a:prstGeom>
          <a:noFill/>
        </p:spPr>
        <p:txBody>
          <a:bodyPr wrap="square" anchor="t" lIns="0" rIns="0" tIns="0" bIns="0">
            <a:spAutoFit/>
          </a:bodyPr>
          <a:lstStyle/>
          <a:p>
            <a:pPr algn="l">
              <a:lnSpc>
                <a:spcPct val="100000"/>
              </a:lnSpc>
              <a:spcBef>
                <a:spcPts val="0"/>
              </a:spcBef>
              <a:spcAft>
                <a:spcPts val="400"/>
              </a:spcAft>
            </a:pPr>
            <a:r>
              <a:rPr sz="2200" b="1" i="0">
                <a:solidFill>
                  <a:srgbClr val="7C9A6A"/>
                </a:solidFill>
                <a:latin typeface="Arial"/>
              </a:rPr>
              <a:t>›</a:t>
            </a:r>
          </a:p>
        </p:txBody>
      </p:sp>
      <p:sp>
        <p:nvSpPr>
          <p:cNvPr id="18" name="Rounded Rectangle 17"/>
          <p:cNvSpPr/>
          <p:nvPr/>
        </p:nvSpPr>
        <p:spPr>
          <a:xfrm>
            <a:off x="5084064" y="2148840"/>
            <a:ext cx="1956816" cy="2514600"/>
          </a:xfrm>
          <a:prstGeom prst="roundRect">
            <a:avLst>
              <a:gd name="adj" fmla="val 5000"/>
            </a:avLst>
          </a:prstGeom>
          <a:solidFill>
            <a:srgbClr val="FFFFFF"/>
          </a:solidFill>
          <a:ln w="9525">
            <a:solidFill>
              <a:srgbClr val="E5E4E0"/>
            </a:solidFill>
          </a:ln>
          <a:effectLst/>
          <a:effectLst>
            <a:outerShdw blurRad="80000" dist="30000" dir="5400000" rotWithShape="0">
              <a:srgbClr val="1D1D21">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 Same Side Corner Rectangle 18"/>
          <p:cNvSpPr/>
          <p:nvPr/>
        </p:nvSpPr>
        <p:spPr>
          <a:xfrm>
            <a:off x="5084064" y="2148840"/>
            <a:ext cx="1956816" cy="603504"/>
          </a:xfrm>
          <a:prstGeom prst="round2SameRect">
            <a:avLst>
              <a:gd name="adj1" fmla="val 9000"/>
              <a:gd name="adj2" fmla="val 0"/>
            </a:avLst>
          </a:prstGeom>
          <a:solidFill>
            <a:srgbClr val="7C9A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084064" y="2240280"/>
            <a:ext cx="1956816" cy="420624"/>
          </a:xfrm>
          <a:prstGeom prst="rect">
            <a:avLst/>
          </a:prstGeom>
          <a:noFill/>
        </p:spPr>
        <p:txBody>
          <a:bodyPr wrap="square" anchor="ctr" lIns="0" rIns="0" tIns="0" bIns="0">
            <a:spAutoFit/>
          </a:bodyPr>
          <a:lstStyle/>
          <a:p>
            <a:pPr algn="ctr">
              <a:lnSpc>
                <a:spcPct val="100000"/>
              </a:lnSpc>
              <a:spcBef>
                <a:spcPts val="0"/>
              </a:spcBef>
              <a:spcAft>
                <a:spcPts val="400"/>
              </a:spcAft>
            </a:pPr>
            <a:r>
              <a:rPr sz="1050" b="1" i="0">
                <a:solidFill>
                  <a:srgbClr val="FFFFFF"/>
                </a:solidFill>
                <a:latin typeface="Arial"/>
              </a:rPr>
              <a:t>FEW TAPS</a:t>
            </a:r>
          </a:p>
        </p:txBody>
      </p:sp>
      <p:sp>
        <p:nvSpPr>
          <p:cNvPr id="21" name="TextBox 20"/>
          <p:cNvSpPr txBox="1"/>
          <p:nvPr/>
        </p:nvSpPr>
        <p:spPr>
          <a:xfrm>
            <a:off x="5285232" y="2898648"/>
            <a:ext cx="1591056" cy="457200"/>
          </a:xfrm>
          <a:prstGeom prst="rect">
            <a:avLst/>
          </a:prstGeom>
          <a:noFill/>
        </p:spPr>
        <p:txBody>
          <a:bodyPr wrap="square" anchor="t" lIns="0" rIns="0" tIns="0" bIns="0">
            <a:spAutoFit/>
          </a:bodyPr>
          <a:lstStyle/>
          <a:p>
            <a:pPr algn="l">
              <a:lnSpc>
                <a:spcPct val="100000"/>
              </a:lnSpc>
              <a:spcBef>
                <a:spcPts val="0"/>
              </a:spcBef>
              <a:spcAft>
                <a:spcPts val="400"/>
              </a:spcAft>
            </a:pPr>
            <a:r>
              <a:rPr sz="1500" b="1" i="0">
                <a:solidFill>
                  <a:srgbClr val="1D1D21"/>
                </a:solidFill>
                <a:latin typeface="Arial"/>
              </a:rPr>
              <a:t>Early signs</a:t>
            </a:r>
          </a:p>
        </p:txBody>
      </p:sp>
      <p:sp>
        <p:nvSpPr>
          <p:cNvPr id="22" name="TextBox 21"/>
          <p:cNvSpPr txBox="1"/>
          <p:nvPr/>
        </p:nvSpPr>
        <p:spPr>
          <a:xfrm>
            <a:off x="5285232" y="3383280"/>
            <a:ext cx="1591056" cy="1188720"/>
          </a:xfrm>
          <a:prstGeom prst="rect">
            <a:avLst/>
          </a:prstGeom>
          <a:noFill/>
        </p:spPr>
        <p:txBody>
          <a:bodyPr wrap="square" anchor="t" lIns="0" rIns="0" tIns="0" bIns="0">
            <a:spAutoFit/>
          </a:bodyPr>
          <a:lstStyle/>
          <a:p>
            <a:pPr algn="l">
              <a:lnSpc>
                <a:spcPct val="108000"/>
              </a:lnSpc>
              <a:spcBef>
                <a:spcPts val="0"/>
              </a:spcBef>
              <a:spcAft>
                <a:spcPts val="400"/>
              </a:spcAft>
            </a:pPr>
            <a:r>
              <a:rPr sz="1150" b="0" i="0">
                <a:solidFill>
                  <a:srgbClr val="6E6F74"/>
                </a:solidFill>
                <a:latin typeface="Arial"/>
              </a:rPr>
              <a:t>Soft hints + a “3 / 7 days tracked” bar. No hard score yet.</a:t>
            </a:r>
          </a:p>
        </p:txBody>
      </p:sp>
      <p:sp>
        <p:nvSpPr>
          <p:cNvPr id="23" name="TextBox 22"/>
          <p:cNvSpPr txBox="1"/>
          <p:nvPr/>
        </p:nvSpPr>
        <p:spPr>
          <a:xfrm>
            <a:off x="7022592" y="3017520"/>
            <a:ext cx="274320" cy="457200"/>
          </a:xfrm>
          <a:prstGeom prst="rect">
            <a:avLst/>
          </a:prstGeom>
          <a:noFill/>
        </p:spPr>
        <p:txBody>
          <a:bodyPr wrap="square" anchor="t" lIns="0" rIns="0" tIns="0" bIns="0">
            <a:spAutoFit/>
          </a:bodyPr>
          <a:lstStyle/>
          <a:p>
            <a:pPr algn="l">
              <a:lnSpc>
                <a:spcPct val="100000"/>
              </a:lnSpc>
              <a:spcBef>
                <a:spcPts val="0"/>
              </a:spcBef>
              <a:spcAft>
                <a:spcPts val="400"/>
              </a:spcAft>
            </a:pPr>
            <a:r>
              <a:rPr sz="2200" b="1" i="0">
                <a:solidFill>
                  <a:srgbClr val="7C9A6A"/>
                </a:solidFill>
                <a:latin typeface="Arial"/>
              </a:rPr>
              <a:t>›</a:t>
            </a:r>
          </a:p>
        </p:txBody>
      </p:sp>
      <p:sp>
        <p:nvSpPr>
          <p:cNvPr id="24" name="Rounded Rectangle 23"/>
          <p:cNvSpPr/>
          <p:nvPr/>
        </p:nvSpPr>
        <p:spPr>
          <a:xfrm>
            <a:off x="7214616" y="2148840"/>
            <a:ext cx="1956816" cy="2514600"/>
          </a:xfrm>
          <a:prstGeom prst="roundRect">
            <a:avLst>
              <a:gd name="adj" fmla="val 5000"/>
            </a:avLst>
          </a:prstGeom>
          <a:solidFill>
            <a:srgbClr val="FFFFFF"/>
          </a:solidFill>
          <a:ln w="9525">
            <a:solidFill>
              <a:srgbClr val="E5E4E0"/>
            </a:solidFill>
          </a:ln>
          <a:effectLst/>
          <a:effectLst>
            <a:outerShdw blurRad="80000" dist="30000" dir="5400000" rotWithShape="0">
              <a:srgbClr val="1D1D21">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 Same Side Corner Rectangle 24"/>
          <p:cNvSpPr/>
          <p:nvPr/>
        </p:nvSpPr>
        <p:spPr>
          <a:xfrm>
            <a:off x="7214616" y="2148840"/>
            <a:ext cx="1956816" cy="603504"/>
          </a:xfrm>
          <a:prstGeom prst="round2SameRect">
            <a:avLst>
              <a:gd name="adj1" fmla="val 9000"/>
              <a:gd name="adj2" fmla="val 0"/>
            </a:avLst>
          </a:prstGeom>
          <a:solidFill>
            <a:srgbClr val="5F7B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214616" y="2240280"/>
            <a:ext cx="1956816" cy="420624"/>
          </a:xfrm>
          <a:prstGeom prst="rect">
            <a:avLst/>
          </a:prstGeom>
          <a:noFill/>
        </p:spPr>
        <p:txBody>
          <a:bodyPr wrap="square" anchor="ctr" lIns="0" rIns="0" tIns="0" bIns="0">
            <a:spAutoFit/>
          </a:bodyPr>
          <a:lstStyle/>
          <a:p>
            <a:pPr algn="ctr">
              <a:lnSpc>
                <a:spcPct val="100000"/>
              </a:lnSpc>
              <a:spcBef>
                <a:spcPts val="0"/>
              </a:spcBef>
              <a:spcAft>
                <a:spcPts val="400"/>
              </a:spcAft>
            </a:pPr>
            <a:r>
              <a:rPr sz="1050" b="1" i="0">
                <a:solidFill>
                  <a:srgbClr val="FFFFFF"/>
                </a:solidFill>
                <a:latin typeface="Arial"/>
              </a:rPr>
              <a:t>1 WEEK</a:t>
            </a:r>
          </a:p>
        </p:txBody>
      </p:sp>
      <p:sp>
        <p:nvSpPr>
          <p:cNvPr id="27" name="TextBox 26"/>
          <p:cNvSpPr txBox="1"/>
          <p:nvPr/>
        </p:nvSpPr>
        <p:spPr>
          <a:xfrm>
            <a:off x="7415784" y="2898648"/>
            <a:ext cx="1591056" cy="457200"/>
          </a:xfrm>
          <a:prstGeom prst="rect">
            <a:avLst/>
          </a:prstGeom>
          <a:noFill/>
        </p:spPr>
        <p:txBody>
          <a:bodyPr wrap="square" anchor="t" lIns="0" rIns="0" tIns="0" bIns="0">
            <a:spAutoFit/>
          </a:bodyPr>
          <a:lstStyle/>
          <a:p>
            <a:pPr algn="l">
              <a:lnSpc>
                <a:spcPct val="100000"/>
              </a:lnSpc>
              <a:spcBef>
                <a:spcPts val="0"/>
              </a:spcBef>
              <a:spcAft>
                <a:spcPts val="400"/>
              </a:spcAft>
            </a:pPr>
            <a:r>
              <a:rPr sz="1500" b="1" i="0">
                <a:solidFill>
                  <a:srgbClr val="1D1D21"/>
                </a:solidFill>
                <a:latin typeface="Arial"/>
              </a:rPr>
              <a:t>Weekly score</a:t>
            </a:r>
          </a:p>
        </p:txBody>
      </p:sp>
      <p:sp>
        <p:nvSpPr>
          <p:cNvPr id="28" name="TextBox 27"/>
          <p:cNvSpPr txBox="1"/>
          <p:nvPr/>
        </p:nvSpPr>
        <p:spPr>
          <a:xfrm>
            <a:off x="7415784" y="3383280"/>
            <a:ext cx="1591056" cy="1188720"/>
          </a:xfrm>
          <a:prstGeom prst="rect">
            <a:avLst/>
          </a:prstGeom>
          <a:noFill/>
        </p:spPr>
        <p:txBody>
          <a:bodyPr wrap="square" anchor="t" lIns="0" rIns="0" tIns="0" bIns="0">
            <a:spAutoFit/>
          </a:bodyPr>
          <a:lstStyle/>
          <a:p>
            <a:pPr algn="l">
              <a:lnSpc>
                <a:spcPct val="108000"/>
              </a:lnSpc>
              <a:spcBef>
                <a:spcPts val="0"/>
              </a:spcBef>
              <a:spcAft>
                <a:spcPts val="400"/>
              </a:spcAft>
            </a:pPr>
            <a:r>
              <a:rPr sz="1150" b="0" i="0">
                <a:solidFill>
                  <a:srgbClr val="6E6F74"/>
                </a:solidFill>
                <a:latin typeface="Arial"/>
              </a:rPr>
              <a:t>Your main number: gaps per nutrient, allowing for meals eaten out.</a:t>
            </a:r>
          </a:p>
        </p:txBody>
      </p:sp>
      <p:sp>
        <p:nvSpPr>
          <p:cNvPr id="29" name="TextBox 28"/>
          <p:cNvSpPr txBox="1"/>
          <p:nvPr/>
        </p:nvSpPr>
        <p:spPr>
          <a:xfrm>
            <a:off x="9153144" y="3017520"/>
            <a:ext cx="274320" cy="457200"/>
          </a:xfrm>
          <a:prstGeom prst="rect">
            <a:avLst/>
          </a:prstGeom>
          <a:noFill/>
        </p:spPr>
        <p:txBody>
          <a:bodyPr wrap="square" anchor="t" lIns="0" rIns="0" tIns="0" bIns="0">
            <a:spAutoFit/>
          </a:bodyPr>
          <a:lstStyle/>
          <a:p>
            <a:pPr algn="l">
              <a:lnSpc>
                <a:spcPct val="100000"/>
              </a:lnSpc>
              <a:spcBef>
                <a:spcPts val="0"/>
              </a:spcBef>
              <a:spcAft>
                <a:spcPts val="400"/>
              </a:spcAft>
            </a:pPr>
            <a:r>
              <a:rPr sz="2200" b="1" i="0">
                <a:solidFill>
                  <a:srgbClr val="7C9A6A"/>
                </a:solidFill>
                <a:latin typeface="Arial"/>
              </a:rPr>
              <a:t>›</a:t>
            </a:r>
          </a:p>
        </p:txBody>
      </p:sp>
      <p:sp>
        <p:nvSpPr>
          <p:cNvPr id="30" name="Rounded Rectangle 29"/>
          <p:cNvSpPr/>
          <p:nvPr/>
        </p:nvSpPr>
        <p:spPr>
          <a:xfrm>
            <a:off x="9345168" y="2148840"/>
            <a:ext cx="1956816" cy="2514600"/>
          </a:xfrm>
          <a:prstGeom prst="roundRect">
            <a:avLst>
              <a:gd name="adj" fmla="val 5000"/>
            </a:avLst>
          </a:prstGeom>
          <a:solidFill>
            <a:srgbClr val="FFFFFF"/>
          </a:solidFill>
          <a:ln w="9525">
            <a:solidFill>
              <a:srgbClr val="E5E4E0"/>
            </a:solidFill>
          </a:ln>
          <a:effectLst/>
          <a:effectLst>
            <a:outerShdw blurRad="80000" dist="30000" dir="5400000" rotWithShape="0">
              <a:srgbClr val="1D1D21">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ound Same Side Corner Rectangle 30"/>
          <p:cNvSpPr/>
          <p:nvPr/>
        </p:nvSpPr>
        <p:spPr>
          <a:xfrm>
            <a:off x="9345168" y="2148840"/>
            <a:ext cx="1956816" cy="603504"/>
          </a:xfrm>
          <a:prstGeom prst="round2SameRect">
            <a:avLst>
              <a:gd name="adj1" fmla="val 9000"/>
              <a:gd name="adj2" fmla="val 0"/>
            </a:avLst>
          </a:prstGeom>
          <a:solidFill>
            <a:srgbClr val="5F7B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9345168" y="2240280"/>
            <a:ext cx="1956816" cy="420624"/>
          </a:xfrm>
          <a:prstGeom prst="rect">
            <a:avLst/>
          </a:prstGeom>
          <a:noFill/>
        </p:spPr>
        <p:txBody>
          <a:bodyPr wrap="square" anchor="ctr" lIns="0" rIns="0" tIns="0" bIns="0">
            <a:spAutoFit/>
          </a:bodyPr>
          <a:lstStyle/>
          <a:p>
            <a:pPr algn="ctr">
              <a:lnSpc>
                <a:spcPct val="100000"/>
              </a:lnSpc>
              <a:spcBef>
                <a:spcPts val="0"/>
              </a:spcBef>
              <a:spcAft>
                <a:spcPts val="400"/>
              </a:spcAft>
            </a:pPr>
            <a:r>
              <a:rPr sz="1050" b="1" i="0">
                <a:solidFill>
                  <a:srgbClr val="FFFFFF"/>
                </a:solidFill>
                <a:latin typeface="Arial"/>
              </a:rPr>
              <a:t>30–90 DAYS</a:t>
            </a:r>
          </a:p>
        </p:txBody>
      </p:sp>
      <p:sp>
        <p:nvSpPr>
          <p:cNvPr id="33" name="TextBox 32"/>
          <p:cNvSpPr txBox="1"/>
          <p:nvPr/>
        </p:nvSpPr>
        <p:spPr>
          <a:xfrm>
            <a:off x="9546336" y="2898648"/>
            <a:ext cx="1591056" cy="457200"/>
          </a:xfrm>
          <a:prstGeom prst="rect">
            <a:avLst/>
          </a:prstGeom>
          <a:noFill/>
        </p:spPr>
        <p:txBody>
          <a:bodyPr wrap="square" anchor="t" lIns="0" rIns="0" tIns="0" bIns="0">
            <a:spAutoFit/>
          </a:bodyPr>
          <a:lstStyle/>
          <a:p>
            <a:pPr algn="l">
              <a:lnSpc>
                <a:spcPct val="100000"/>
              </a:lnSpc>
              <a:spcBef>
                <a:spcPts val="0"/>
              </a:spcBef>
              <a:spcAft>
                <a:spcPts val="400"/>
              </a:spcAft>
            </a:pPr>
            <a:r>
              <a:rPr sz="1500" b="1" i="0">
                <a:solidFill>
                  <a:srgbClr val="1D1D21"/>
                </a:solidFill>
                <a:latin typeface="Arial"/>
              </a:rPr>
              <a:t>Trends</a:t>
            </a:r>
          </a:p>
        </p:txBody>
      </p:sp>
      <p:sp>
        <p:nvSpPr>
          <p:cNvPr id="34" name="TextBox 33"/>
          <p:cNvSpPr txBox="1"/>
          <p:nvPr/>
        </p:nvSpPr>
        <p:spPr>
          <a:xfrm>
            <a:off x="9546336" y="3383280"/>
            <a:ext cx="1591056" cy="1188720"/>
          </a:xfrm>
          <a:prstGeom prst="rect">
            <a:avLst/>
          </a:prstGeom>
          <a:noFill/>
        </p:spPr>
        <p:txBody>
          <a:bodyPr wrap="square" anchor="t" lIns="0" rIns="0" tIns="0" bIns="0">
            <a:spAutoFit/>
          </a:bodyPr>
          <a:lstStyle/>
          <a:p>
            <a:pPr algn="l">
              <a:lnSpc>
                <a:spcPct val="108000"/>
              </a:lnSpc>
              <a:spcBef>
                <a:spcPts val="0"/>
              </a:spcBef>
              <a:spcAft>
                <a:spcPts val="400"/>
              </a:spcAft>
            </a:pPr>
            <a:r>
              <a:rPr sz="1150" b="0" i="0">
                <a:solidFill>
                  <a:srgbClr val="6E6F74"/>
                </a:solidFill>
                <a:latin typeface="Arial"/>
              </a:rPr>
              <a:t>Are you improving over time — a line, not a single badge.</a:t>
            </a:r>
          </a:p>
        </p:txBody>
      </p:sp>
      <p:sp>
        <p:nvSpPr>
          <p:cNvPr id="35" name="Rounded Rectangle 34"/>
          <p:cNvSpPr/>
          <p:nvPr/>
        </p:nvSpPr>
        <p:spPr>
          <a:xfrm>
            <a:off x="822960" y="5029200"/>
            <a:ext cx="10543032" cy="960120"/>
          </a:xfrm>
          <a:prstGeom prst="roundRect">
            <a:avLst>
              <a:gd name="adj" fmla="val 6000"/>
            </a:avLst>
          </a:prstGeom>
          <a:solidFill>
            <a:srgbClr val="EEF2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1097280" y="5138928"/>
            <a:ext cx="10058400" cy="777240"/>
          </a:xfrm>
          <a:prstGeom prst="rect">
            <a:avLst/>
          </a:prstGeom>
          <a:noFill/>
        </p:spPr>
        <p:txBody>
          <a:bodyPr wrap="square" anchor="ctr" lIns="0" rIns="0" tIns="0" bIns="0">
            <a:spAutoFit/>
          </a:bodyPr>
          <a:lstStyle/>
          <a:p>
            <a:pPr algn="l">
              <a:lnSpc>
                <a:spcPct val="112000"/>
              </a:lnSpc>
              <a:spcBef>
                <a:spcPts val="0"/>
              </a:spcBef>
              <a:spcAft>
                <a:spcPts val="400"/>
              </a:spcAft>
            </a:pPr>
            <a:r>
              <a:rPr sz="1350" b="1" i="0">
                <a:solidFill>
                  <a:srgbClr val="5F7B4F"/>
                </a:solidFill>
                <a:latin typeface="Arial"/>
              </a:rPr>
              <a:t>Never a confident wrong number.  </a:t>
            </a:r>
            <a:r>
              <a:rPr sz="1350" b="0" i="0">
                <a:solidFill>
                  <a:srgbClr val="1D1D21"/>
                </a:solidFill>
                <a:latin typeface="Arial"/>
              </a:rPr>
              <a:t>A coverage floor holds the score back until enough days are tracked, and “your basket” is never relabeled “your diet.” Honesty is the feature.</a:t>
            </a:r>
          </a:p>
        </p:txBody>
      </p:sp>
      <p:sp>
        <p:nvSpPr>
          <p:cNvPr id="37" name="TextBox 36"/>
          <p:cNvSpPr txBox="1"/>
          <p:nvPr/>
        </p:nvSpPr>
        <p:spPr>
          <a:xfrm>
            <a:off x="548640" y="6428232"/>
            <a:ext cx="4572000" cy="274320"/>
          </a:xfrm>
          <a:prstGeom prst="rect">
            <a:avLst/>
          </a:prstGeom>
          <a:noFill/>
        </p:spPr>
        <p:txBody>
          <a:bodyPr wrap="square" anchor="t" lIns="0" rIns="0" tIns="0" bIns="0">
            <a:spAutoFit/>
          </a:bodyPr>
          <a:lstStyle/>
          <a:p>
            <a:pPr algn="l">
              <a:lnSpc>
                <a:spcPct val="100000"/>
              </a:lnSpc>
              <a:spcBef>
                <a:spcPts val="0"/>
              </a:spcBef>
              <a:spcAft>
                <a:spcPts val="400"/>
              </a:spcAft>
            </a:pPr>
            <a:r>
              <a:rPr sz="900" b="1" i="0">
                <a:solidFill>
                  <a:srgbClr val="6E6F74"/>
                </a:solidFill>
                <a:latin typeface="Arial"/>
              </a:rPr>
              <a:t>NutriWise</a:t>
            </a:r>
            <a:r>
              <a:rPr sz="900" b="0" i="0">
                <a:solidFill>
                  <a:srgbClr val="6E6F74"/>
                </a:solidFill>
                <a:latin typeface="Arial"/>
              </a:rPr>
              <a:t>  ·  Final · V0</a:t>
            </a:r>
          </a:p>
        </p:txBody>
      </p:sp>
      <p:sp>
        <p:nvSpPr>
          <p:cNvPr id="38" name="TextBox 37"/>
          <p:cNvSpPr txBox="1"/>
          <p:nvPr/>
        </p:nvSpPr>
        <p:spPr>
          <a:xfrm>
            <a:off x="9875520" y="6428232"/>
            <a:ext cx="1737360" cy="274320"/>
          </a:xfrm>
          <a:prstGeom prst="rect">
            <a:avLst/>
          </a:prstGeom>
          <a:noFill/>
        </p:spPr>
        <p:txBody>
          <a:bodyPr wrap="square" anchor="t" lIns="0" rIns="0" tIns="0" bIns="0">
            <a:spAutoFit/>
          </a:bodyPr>
          <a:lstStyle/>
          <a:p>
            <a:pPr algn="r">
              <a:lnSpc>
                <a:spcPct val="100000"/>
              </a:lnSpc>
              <a:spcBef>
                <a:spcPts val="0"/>
              </a:spcBef>
              <a:spcAft>
                <a:spcPts val="400"/>
              </a:spcAft>
            </a:pPr>
            <a:r>
              <a:rPr sz="900" b="0" i="0">
                <a:solidFill>
                  <a:srgbClr val="6E6F74"/>
                </a:solidFill>
                <a:latin typeface="Arial"/>
              </a:rPr>
              <a:t>06 / 14</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AFAFA"/>
        </a:solidFill>
        <a:effectLst/>
      </p:bgPr>
    </p:bg>
    <p:spTree>
      <p:nvGrpSpPr>
        <p:cNvPr id="1" name=""/>
        <p:cNvGrpSpPr/>
        <p:nvPr/>
      </p:nvGrpSpPr>
      <p:grpSpPr/>
      <p:sp>
        <p:nvSpPr>
          <p:cNvPr id="2" name="TextBox 1"/>
          <p:cNvSpPr txBox="1"/>
          <p:nvPr/>
        </p:nvSpPr>
        <p:spPr>
          <a:xfrm>
            <a:off x="822960" y="548640"/>
            <a:ext cx="9144000" cy="274320"/>
          </a:xfrm>
          <a:prstGeom prst="rect">
            <a:avLst/>
          </a:prstGeom>
          <a:noFill/>
        </p:spPr>
        <p:txBody>
          <a:bodyPr wrap="square" anchor="t" lIns="0" rIns="0" tIns="0" bIns="0">
            <a:spAutoFit/>
          </a:bodyPr>
          <a:lstStyle/>
          <a:p>
            <a:pPr algn="l">
              <a:lnSpc>
                <a:spcPct val="100000"/>
              </a:lnSpc>
              <a:spcBef>
                <a:spcPts val="0"/>
              </a:spcBef>
              <a:spcAft>
                <a:spcPts val="400"/>
              </a:spcAft>
            </a:pPr>
            <a:r>
              <a:rPr sz="1250" b="1" i="0">
                <a:solidFill>
                  <a:srgbClr val="5F7B4F"/>
                </a:solidFill>
                <a:latin typeface="Arial"/>
              </a:rPr>
              <a:t>SUCCESS CRITERIA &amp; KPIS</a:t>
            </a:r>
          </a:p>
        </p:txBody>
      </p:sp>
      <p:sp>
        <p:nvSpPr>
          <p:cNvPr id="3" name="TextBox 2"/>
          <p:cNvSpPr txBox="1"/>
          <p:nvPr/>
        </p:nvSpPr>
        <p:spPr>
          <a:xfrm>
            <a:off x="822960" y="841248"/>
            <a:ext cx="10515600" cy="914400"/>
          </a:xfrm>
          <a:prstGeom prst="rect">
            <a:avLst/>
          </a:prstGeom>
          <a:noFill/>
        </p:spPr>
        <p:txBody>
          <a:bodyPr wrap="square" anchor="t" lIns="0" rIns="0" tIns="0" bIns="0">
            <a:spAutoFit/>
          </a:bodyPr>
          <a:lstStyle/>
          <a:p>
            <a:pPr algn="l">
              <a:lnSpc>
                <a:spcPct val="100000"/>
              </a:lnSpc>
              <a:spcBef>
                <a:spcPts val="0"/>
              </a:spcBef>
              <a:spcAft>
                <a:spcPts val="400"/>
              </a:spcAft>
            </a:pPr>
            <a:r>
              <a:rPr sz="2900" b="1" i="0">
                <a:solidFill>
                  <a:srgbClr val="1D1D21"/>
                </a:solidFill>
                <a:latin typeface="Arial"/>
              </a:rPr>
              <a:t>How we'll know it works</a:t>
            </a:r>
          </a:p>
        </p:txBody>
      </p:sp>
      <p:sp>
        <p:nvSpPr>
          <p:cNvPr id="4" name="Rectangle 3"/>
          <p:cNvSpPr/>
          <p:nvPr/>
        </p:nvSpPr>
        <p:spPr>
          <a:xfrm>
            <a:off x="841248" y="1481328"/>
            <a:ext cx="1371600" cy="41148"/>
          </a:xfrm>
          <a:prstGeom prst="rect">
            <a:avLst/>
          </a:prstGeom>
          <a:solidFill>
            <a:srgbClr val="7C9A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1691640"/>
            <a:ext cx="10424160" cy="365760"/>
          </a:xfrm>
          <a:prstGeom prst="rect">
            <a:avLst/>
          </a:prstGeom>
          <a:noFill/>
        </p:spPr>
        <p:txBody>
          <a:bodyPr wrap="square" anchor="t" lIns="0" rIns="0" tIns="0" bIns="0">
            <a:spAutoFit/>
          </a:bodyPr>
          <a:lstStyle/>
          <a:p>
            <a:pPr algn="l">
              <a:lnSpc>
                <a:spcPct val="100000"/>
              </a:lnSpc>
              <a:spcBef>
                <a:spcPts val="0"/>
              </a:spcBef>
              <a:spcAft>
                <a:spcPts val="400"/>
              </a:spcAft>
            </a:pPr>
            <a:r>
              <a:rPr sz="1400" b="0" i="0">
                <a:solidFill>
                  <a:srgbClr val="6E6F74"/>
                </a:solidFill>
                <a:latin typeface="Arial"/>
              </a:rPr>
              <a:t>Core question: </a:t>
            </a:r>
            <a:r>
              <a:rPr sz="1400" b="1" i="0">
                <a:solidFill>
                  <a:srgbClr val="1D1D21"/>
                </a:solidFill>
                <a:latin typeface="Arial"/>
              </a:rPr>
              <a:t>do users trust a receipt-based recommendation enough to act — and does the check-off habit stick?</a:t>
            </a:r>
          </a:p>
        </p:txBody>
      </p:sp>
      <p:sp>
        <p:nvSpPr>
          <p:cNvPr id="6" name="Rounded Rectangle 5"/>
          <p:cNvSpPr/>
          <p:nvPr/>
        </p:nvSpPr>
        <p:spPr>
          <a:xfrm>
            <a:off x="822960" y="2286000"/>
            <a:ext cx="2615184" cy="1828800"/>
          </a:xfrm>
          <a:prstGeom prst="roundRect">
            <a:avLst>
              <a:gd name="adj" fmla="val 6000"/>
            </a:avLst>
          </a:prstGeom>
          <a:solidFill>
            <a:srgbClr val="FFFFFF"/>
          </a:solidFill>
          <a:ln w="9525">
            <a:solidFill>
              <a:srgbClr val="E5E4E0"/>
            </a:solidFill>
          </a:ln>
          <a:effectLst/>
          <a:effectLst>
            <a:outerShdw blurRad="80000" dist="30000" dir="5400000" rotWithShape="0">
              <a:srgbClr val="1D1D21">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22960" y="2414016"/>
            <a:ext cx="73152" cy="1572768"/>
          </a:xfrm>
          <a:prstGeom prst="rect">
            <a:avLst/>
          </a:prstGeom>
          <a:solidFill>
            <a:srgbClr val="5F7B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414016"/>
            <a:ext cx="2231136" cy="1591056"/>
          </a:xfrm>
          <a:prstGeom prst="rect">
            <a:avLst/>
          </a:prstGeom>
          <a:noFill/>
        </p:spPr>
        <p:txBody>
          <a:bodyPr wrap="square" anchor="ctr" lIns="0" rIns="0" tIns="0" bIns="0">
            <a:spAutoFit/>
          </a:bodyPr>
          <a:lstStyle/>
          <a:p>
            <a:pPr algn="l">
              <a:lnSpc>
                <a:spcPct val="102000"/>
              </a:lnSpc>
              <a:spcBef>
                <a:spcPts val="0"/>
              </a:spcBef>
              <a:spcAft>
                <a:spcPts val="300"/>
              </a:spcAft>
            </a:pPr>
            <a:r>
              <a:rPr sz="2900" b="1" i="0">
                <a:solidFill>
                  <a:srgbClr val="5F7B4F"/>
                </a:solidFill>
                <a:latin typeface="Arial"/>
              </a:rPr>
              <a:t>Week 1</a:t>
            </a:r>
          </a:p>
          <a:p>
            <a:pPr algn="l">
              <a:lnSpc>
                <a:spcPct val="102000"/>
              </a:lnSpc>
              <a:spcBef>
                <a:spcPts val="0"/>
              </a:spcBef>
              <a:spcAft>
                <a:spcPts val="300"/>
              </a:spcAft>
            </a:pPr>
            <a:r>
              <a:rPr sz="1250" b="1" i="0">
                <a:solidFill>
                  <a:srgbClr val="1D1D21"/>
                </a:solidFill>
                <a:latin typeface="Arial"/>
              </a:rPr>
              <a:t>Check-off sticks?</a:t>
            </a:r>
          </a:p>
          <a:p>
            <a:pPr algn="l">
              <a:lnSpc>
                <a:spcPct val="102000"/>
              </a:lnSpc>
              <a:spcBef>
                <a:spcPts val="0"/>
              </a:spcBef>
              <a:spcAft>
                <a:spcPts val="300"/>
              </a:spcAft>
            </a:pPr>
            <a:r>
              <a:rPr sz="1050" b="0" i="0">
                <a:solidFill>
                  <a:srgbClr val="6E6F74"/>
                </a:solidFill>
                <a:latin typeface="Arial"/>
              </a:rPr>
              <a:t>the make-or-break — does tapping survive novelty</a:t>
            </a:r>
          </a:p>
        </p:txBody>
      </p:sp>
      <p:sp>
        <p:nvSpPr>
          <p:cNvPr id="9" name="Rounded Rectangle 8"/>
          <p:cNvSpPr/>
          <p:nvPr/>
        </p:nvSpPr>
        <p:spPr>
          <a:xfrm>
            <a:off x="3657599" y="2286000"/>
            <a:ext cx="2615184" cy="1828800"/>
          </a:xfrm>
          <a:prstGeom prst="roundRect">
            <a:avLst>
              <a:gd name="adj" fmla="val 6000"/>
            </a:avLst>
          </a:prstGeom>
          <a:solidFill>
            <a:srgbClr val="FFFFFF"/>
          </a:solidFill>
          <a:ln w="9525">
            <a:solidFill>
              <a:srgbClr val="E5E4E0"/>
            </a:solidFill>
          </a:ln>
          <a:effectLst/>
          <a:effectLst>
            <a:outerShdw blurRad="80000" dist="30000" dir="5400000" rotWithShape="0">
              <a:srgbClr val="1D1D21">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3657599" y="2414016"/>
            <a:ext cx="73152" cy="1572768"/>
          </a:xfrm>
          <a:prstGeom prst="rect">
            <a:avLst/>
          </a:prstGeom>
          <a:solidFill>
            <a:srgbClr val="7C9A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931920" y="2414016"/>
            <a:ext cx="2231136" cy="1591056"/>
          </a:xfrm>
          <a:prstGeom prst="rect">
            <a:avLst/>
          </a:prstGeom>
          <a:noFill/>
        </p:spPr>
        <p:txBody>
          <a:bodyPr wrap="square" anchor="ctr" lIns="0" rIns="0" tIns="0" bIns="0">
            <a:spAutoFit/>
          </a:bodyPr>
          <a:lstStyle/>
          <a:p>
            <a:pPr algn="l">
              <a:lnSpc>
                <a:spcPct val="102000"/>
              </a:lnSpc>
              <a:spcBef>
                <a:spcPts val="0"/>
              </a:spcBef>
              <a:spcAft>
                <a:spcPts val="300"/>
              </a:spcAft>
            </a:pPr>
            <a:r>
              <a:rPr sz="2900" b="1" i="0">
                <a:solidFill>
                  <a:srgbClr val="7C9A6A"/>
                </a:solidFill>
                <a:latin typeface="Arial"/>
              </a:rPr>
              <a:t>30%</a:t>
            </a:r>
          </a:p>
          <a:p>
            <a:pPr algn="l">
              <a:lnSpc>
                <a:spcPct val="102000"/>
              </a:lnSpc>
              <a:spcBef>
                <a:spcPts val="0"/>
              </a:spcBef>
              <a:spcAft>
                <a:spcPts val="300"/>
              </a:spcAft>
            </a:pPr>
            <a:r>
              <a:rPr sz="1250" b="1" i="0">
                <a:solidFill>
                  <a:srgbClr val="1D1D21"/>
                </a:solidFill>
                <a:latin typeface="Arial"/>
              </a:rPr>
              <a:t>Behaviour shift</a:t>
            </a:r>
          </a:p>
          <a:p>
            <a:pPr algn="l">
              <a:lnSpc>
                <a:spcPct val="102000"/>
              </a:lnSpc>
              <a:spcBef>
                <a:spcPts val="0"/>
              </a:spcBef>
              <a:spcAft>
                <a:spcPts val="300"/>
              </a:spcAft>
            </a:pPr>
            <a:r>
              <a:rPr sz="1050" b="0" i="0">
                <a:solidFill>
                  <a:srgbClr val="6E6F74"/>
                </a:solidFill>
                <a:latin typeface="Arial"/>
              </a:rPr>
              <a:t>adjust their next cart to our suggestion</a:t>
            </a:r>
          </a:p>
        </p:txBody>
      </p:sp>
      <p:sp>
        <p:nvSpPr>
          <p:cNvPr id="12" name="Rounded Rectangle 11"/>
          <p:cNvSpPr/>
          <p:nvPr/>
        </p:nvSpPr>
        <p:spPr>
          <a:xfrm>
            <a:off x="6492240" y="2286000"/>
            <a:ext cx="2615184" cy="1828800"/>
          </a:xfrm>
          <a:prstGeom prst="roundRect">
            <a:avLst>
              <a:gd name="adj" fmla="val 6000"/>
            </a:avLst>
          </a:prstGeom>
          <a:solidFill>
            <a:srgbClr val="FFFFFF"/>
          </a:solidFill>
          <a:ln w="9525">
            <a:solidFill>
              <a:srgbClr val="E5E4E0"/>
            </a:solidFill>
          </a:ln>
          <a:effectLst/>
          <a:effectLst>
            <a:outerShdw blurRad="80000" dist="30000" dir="5400000" rotWithShape="0">
              <a:srgbClr val="1D1D21">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492240" y="2414016"/>
            <a:ext cx="73152" cy="1572768"/>
          </a:xfrm>
          <a:prstGeom prst="rect">
            <a:avLst/>
          </a:prstGeom>
          <a:solidFill>
            <a:srgbClr val="7C9A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766559" y="2414016"/>
            <a:ext cx="2231136" cy="1591056"/>
          </a:xfrm>
          <a:prstGeom prst="rect">
            <a:avLst/>
          </a:prstGeom>
          <a:noFill/>
        </p:spPr>
        <p:txBody>
          <a:bodyPr wrap="square" anchor="ctr" lIns="0" rIns="0" tIns="0" bIns="0">
            <a:spAutoFit/>
          </a:bodyPr>
          <a:lstStyle/>
          <a:p>
            <a:pPr algn="l">
              <a:lnSpc>
                <a:spcPct val="102000"/>
              </a:lnSpc>
              <a:spcBef>
                <a:spcPts val="0"/>
              </a:spcBef>
              <a:spcAft>
                <a:spcPts val="300"/>
              </a:spcAft>
            </a:pPr>
            <a:r>
              <a:rPr sz="2900" b="1" i="0">
                <a:solidFill>
                  <a:srgbClr val="7C9A6A"/>
                </a:solidFill>
                <a:latin typeface="Arial"/>
              </a:rPr>
              <a:t>&gt;20%</a:t>
            </a:r>
          </a:p>
          <a:p>
            <a:pPr algn="l">
              <a:lnSpc>
                <a:spcPct val="102000"/>
              </a:lnSpc>
              <a:spcBef>
                <a:spcPts val="0"/>
              </a:spcBef>
              <a:spcAft>
                <a:spcPts val="300"/>
              </a:spcAft>
            </a:pPr>
            <a:r>
              <a:rPr sz="1250" b="1" i="0">
                <a:solidFill>
                  <a:srgbClr val="1D1D21"/>
                </a:solidFill>
                <a:latin typeface="Arial"/>
              </a:rPr>
              <a:t>Recommendation acted on</a:t>
            </a:r>
          </a:p>
          <a:p>
            <a:pPr algn="l">
              <a:lnSpc>
                <a:spcPct val="102000"/>
              </a:lnSpc>
              <a:spcBef>
                <a:spcPts val="0"/>
              </a:spcBef>
              <a:spcAft>
                <a:spcPts val="300"/>
              </a:spcAft>
            </a:pPr>
            <a:r>
              <a:rPr sz="1050" b="0" i="0">
                <a:solidFill>
                  <a:srgbClr val="6E6F74"/>
                </a:solidFill>
                <a:latin typeface="Arial"/>
              </a:rPr>
              <a:t>marked “done”, not dismissed unread</a:t>
            </a:r>
          </a:p>
        </p:txBody>
      </p:sp>
      <p:sp>
        <p:nvSpPr>
          <p:cNvPr id="15" name="Rounded Rectangle 14"/>
          <p:cNvSpPr/>
          <p:nvPr/>
        </p:nvSpPr>
        <p:spPr>
          <a:xfrm>
            <a:off x="9326880" y="2286000"/>
            <a:ext cx="2615184" cy="1828800"/>
          </a:xfrm>
          <a:prstGeom prst="roundRect">
            <a:avLst>
              <a:gd name="adj" fmla="val 6000"/>
            </a:avLst>
          </a:prstGeom>
          <a:solidFill>
            <a:srgbClr val="FFFFFF"/>
          </a:solidFill>
          <a:ln w="9525">
            <a:solidFill>
              <a:srgbClr val="E5E4E0"/>
            </a:solidFill>
          </a:ln>
          <a:effectLst/>
          <a:effectLst>
            <a:outerShdw blurRad="80000" dist="30000" dir="5400000" rotWithShape="0">
              <a:srgbClr val="1D1D21">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9326880" y="2414016"/>
            <a:ext cx="73152" cy="1572768"/>
          </a:xfrm>
          <a:prstGeom prst="rect">
            <a:avLst/>
          </a:prstGeom>
          <a:solidFill>
            <a:srgbClr val="7C9A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601200" y="2414016"/>
            <a:ext cx="2231136" cy="1591056"/>
          </a:xfrm>
          <a:prstGeom prst="rect">
            <a:avLst/>
          </a:prstGeom>
          <a:noFill/>
        </p:spPr>
        <p:txBody>
          <a:bodyPr wrap="square" anchor="ctr" lIns="0" rIns="0" tIns="0" bIns="0">
            <a:spAutoFit/>
          </a:bodyPr>
          <a:lstStyle/>
          <a:p>
            <a:pPr algn="l">
              <a:lnSpc>
                <a:spcPct val="102000"/>
              </a:lnSpc>
              <a:spcBef>
                <a:spcPts val="0"/>
              </a:spcBef>
              <a:spcAft>
                <a:spcPts val="300"/>
              </a:spcAft>
            </a:pPr>
            <a:r>
              <a:rPr sz="2900" b="1" i="0">
                <a:solidFill>
                  <a:srgbClr val="7C9A6A"/>
                </a:solidFill>
                <a:latin typeface="Arial"/>
              </a:rPr>
              <a:t>&lt;2 min</a:t>
            </a:r>
          </a:p>
          <a:p>
            <a:pPr algn="l">
              <a:lnSpc>
                <a:spcPct val="102000"/>
              </a:lnSpc>
              <a:spcBef>
                <a:spcPts val="0"/>
              </a:spcBef>
              <a:spcAft>
                <a:spcPts val="300"/>
              </a:spcAft>
            </a:pPr>
            <a:r>
              <a:rPr sz="1250" b="1" i="0">
                <a:solidFill>
                  <a:srgbClr val="1D1D21"/>
                </a:solidFill>
                <a:latin typeface="Arial"/>
              </a:rPr>
              <a:t>Time to value</a:t>
            </a:r>
          </a:p>
          <a:p>
            <a:pPr algn="l">
              <a:lnSpc>
                <a:spcPct val="102000"/>
              </a:lnSpc>
              <a:spcBef>
                <a:spcPts val="0"/>
              </a:spcBef>
              <a:spcAft>
                <a:spcPts val="300"/>
              </a:spcAft>
            </a:pPr>
            <a:r>
              <a:rPr sz="1050" b="0" i="0">
                <a:solidFill>
                  <a:srgbClr val="6E6F74"/>
                </a:solidFill>
                <a:latin typeface="Arial"/>
              </a:rPr>
              <a:t>from upload to first personalised result</a:t>
            </a:r>
          </a:p>
        </p:txBody>
      </p:sp>
      <p:sp>
        <p:nvSpPr>
          <p:cNvPr id="18" name="Rounded Rectangle 17"/>
          <p:cNvSpPr/>
          <p:nvPr/>
        </p:nvSpPr>
        <p:spPr>
          <a:xfrm>
            <a:off x="822960" y="4526280"/>
            <a:ext cx="10543032" cy="1051560"/>
          </a:xfrm>
          <a:prstGeom prst="roundRect">
            <a:avLst>
              <a:gd name="adj" fmla="val 6000"/>
            </a:avLst>
          </a:prstGeom>
          <a:solidFill>
            <a:srgbClr val="EEF2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97280" y="4681728"/>
            <a:ext cx="10058400" cy="777240"/>
          </a:xfrm>
          <a:prstGeom prst="rect">
            <a:avLst/>
          </a:prstGeom>
          <a:noFill/>
        </p:spPr>
        <p:txBody>
          <a:bodyPr wrap="square" anchor="ctr" lIns="0" rIns="0" tIns="0" bIns="0">
            <a:spAutoFit/>
          </a:bodyPr>
          <a:lstStyle/>
          <a:p>
            <a:pPr algn="l">
              <a:lnSpc>
                <a:spcPct val="112000"/>
              </a:lnSpc>
              <a:spcBef>
                <a:spcPts val="0"/>
              </a:spcBef>
              <a:spcAft>
                <a:spcPts val="400"/>
              </a:spcAft>
            </a:pPr>
            <a:r>
              <a:rPr sz="1350" b="1" i="0">
                <a:solidFill>
                  <a:srgbClr val="5F7B4F"/>
                </a:solidFill>
                <a:latin typeface="Arial"/>
              </a:rPr>
              <a:t>The check-off habit gates everything.  </a:t>
            </a:r>
            <a:r>
              <a:rPr sz="1350" b="0" i="0">
                <a:solidFill>
                  <a:srgbClr val="1D1D21"/>
                </a:solidFill>
                <a:latin typeface="Arial"/>
              </a:rPr>
              <a:t>Prove the weekly tap sticks first, then layer in the full 10-KPI funnel across behaviour, business and satisfaction.</a:t>
            </a:r>
          </a:p>
        </p:txBody>
      </p:sp>
      <p:sp>
        <p:nvSpPr>
          <p:cNvPr id="20" name="TextBox 19"/>
          <p:cNvSpPr txBox="1"/>
          <p:nvPr/>
        </p:nvSpPr>
        <p:spPr>
          <a:xfrm>
            <a:off x="548640" y="6428232"/>
            <a:ext cx="4572000" cy="274320"/>
          </a:xfrm>
          <a:prstGeom prst="rect">
            <a:avLst/>
          </a:prstGeom>
          <a:noFill/>
        </p:spPr>
        <p:txBody>
          <a:bodyPr wrap="square" anchor="t" lIns="0" rIns="0" tIns="0" bIns="0">
            <a:spAutoFit/>
          </a:bodyPr>
          <a:lstStyle/>
          <a:p>
            <a:pPr algn="l">
              <a:lnSpc>
                <a:spcPct val="100000"/>
              </a:lnSpc>
              <a:spcBef>
                <a:spcPts val="0"/>
              </a:spcBef>
              <a:spcAft>
                <a:spcPts val="400"/>
              </a:spcAft>
            </a:pPr>
            <a:r>
              <a:rPr sz="900" b="1" i="0">
                <a:solidFill>
                  <a:srgbClr val="6E6F74"/>
                </a:solidFill>
                <a:latin typeface="Arial"/>
              </a:rPr>
              <a:t>NutriWise</a:t>
            </a:r>
            <a:r>
              <a:rPr sz="900" b="0" i="0">
                <a:solidFill>
                  <a:srgbClr val="6E6F74"/>
                </a:solidFill>
                <a:latin typeface="Arial"/>
              </a:rPr>
              <a:t>  ·  Final · V0</a:t>
            </a:r>
          </a:p>
        </p:txBody>
      </p:sp>
      <p:sp>
        <p:nvSpPr>
          <p:cNvPr id="21" name="TextBox 20"/>
          <p:cNvSpPr txBox="1"/>
          <p:nvPr/>
        </p:nvSpPr>
        <p:spPr>
          <a:xfrm>
            <a:off x="9875520" y="6428232"/>
            <a:ext cx="1737360" cy="274320"/>
          </a:xfrm>
          <a:prstGeom prst="rect">
            <a:avLst/>
          </a:prstGeom>
          <a:noFill/>
        </p:spPr>
        <p:txBody>
          <a:bodyPr wrap="square" anchor="t" lIns="0" rIns="0" tIns="0" bIns="0">
            <a:spAutoFit/>
          </a:bodyPr>
          <a:lstStyle/>
          <a:p>
            <a:pPr algn="r">
              <a:lnSpc>
                <a:spcPct val="100000"/>
              </a:lnSpc>
              <a:spcBef>
                <a:spcPts val="0"/>
              </a:spcBef>
              <a:spcAft>
                <a:spcPts val="400"/>
              </a:spcAft>
            </a:pPr>
            <a:r>
              <a:rPr sz="900" b="0" i="0">
                <a:solidFill>
                  <a:srgbClr val="6E6F74"/>
                </a:solidFill>
                <a:latin typeface="Arial"/>
              </a:rPr>
              <a:t>07 / 14</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AFAFA"/>
        </a:solidFill>
        <a:effectLst/>
      </p:bgPr>
    </p:bg>
    <p:spTree>
      <p:nvGrpSpPr>
        <p:cNvPr id="1" name=""/>
        <p:cNvGrpSpPr/>
        <p:nvPr/>
      </p:nvGrpSpPr>
      <p:grpSpPr/>
      <p:sp>
        <p:nvSpPr>
          <p:cNvPr id="2" name="TextBox 1"/>
          <p:cNvSpPr txBox="1"/>
          <p:nvPr/>
        </p:nvSpPr>
        <p:spPr>
          <a:xfrm>
            <a:off x="822960" y="548640"/>
            <a:ext cx="9144000" cy="274320"/>
          </a:xfrm>
          <a:prstGeom prst="rect">
            <a:avLst/>
          </a:prstGeom>
          <a:noFill/>
        </p:spPr>
        <p:txBody>
          <a:bodyPr wrap="square" anchor="t" lIns="0" rIns="0" tIns="0" bIns="0">
            <a:spAutoFit/>
          </a:bodyPr>
          <a:lstStyle/>
          <a:p>
            <a:pPr algn="l">
              <a:lnSpc>
                <a:spcPct val="100000"/>
              </a:lnSpc>
              <a:spcBef>
                <a:spcPts val="0"/>
              </a:spcBef>
              <a:spcAft>
                <a:spcPts val="400"/>
              </a:spcAft>
            </a:pPr>
            <a:r>
              <a:rPr sz="1250" b="1" i="0">
                <a:solidFill>
                  <a:srgbClr val="5F7B4F"/>
                </a:solidFill>
                <a:latin typeface="Arial"/>
              </a:rPr>
              <a:t>ROADMAP &amp; MILESTONES</a:t>
            </a:r>
          </a:p>
        </p:txBody>
      </p:sp>
      <p:sp>
        <p:nvSpPr>
          <p:cNvPr id="3" name="TextBox 2"/>
          <p:cNvSpPr txBox="1"/>
          <p:nvPr/>
        </p:nvSpPr>
        <p:spPr>
          <a:xfrm>
            <a:off x="822960" y="841248"/>
            <a:ext cx="10515600" cy="914400"/>
          </a:xfrm>
          <a:prstGeom prst="rect">
            <a:avLst/>
          </a:prstGeom>
          <a:noFill/>
        </p:spPr>
        <p:txBody>
          <a:bodyPr wrap="square" anchor="t" lIns="0" rIns="0" tIns="0" bIns="0">
            <a:spAutoFit/>
          </a:bodyPr>
          <a:lstStyle/>
          <a:p>
            <a:pPr algn="l">
              <a:lnSpc>
                <a:spcPct val="100000"/>
              </a:lnSpc>
              <a:spcBef>
                <a:spcPts val="0"/>
              </a:spcBef>
              <a:spcAft>
                <a:spcPts val="400"/>
              </a:spcAft>
            </a:pPr>
            <a:r>
              <a:rPr sz="2900" b="1" i="0">
                <a:solidFill>
                  <a:srgbClr val="1D1D21"/>
                </a:solidFill>
                <a:latin typeface="Arial"/>
              </a:rPr>
              <a:t>Where we are — and what's next</a:t>
            </a:r>
          </a:p>
        </p:txBody>
      </p:sp>
      <p:sp>
        <p:nvSpPr>
          <p:cNvPr id="4" name="Rectangle 3"/>
          <p:cNvSpPr/>
          <p:nvPr/>
        </p:nvSpPr>
        <p:spPr>
          <a:xfrm>
            <a:off x="841248" y="1481328"/>
            <a:ext cx="1371600" cy="41148"/>
          </a:xfrm>
          <a:prstGeom prst="rect">
            <a:avLst/>
          </a:prstGeom>
          <a:solidFill>
            <a:srgbClr val="7C9A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1005840" y="3044952"/>
            <a:ext cx="10241280" cy="45720"/>
          </a:xfrm>
          <a:prstGeom prst="rect">
            <a:avLst/>
          </a:prstGeom>
          <a:solidFill>
            <a:srgbClr val="E5E4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2546604" y="2935224"/>
            <a:ext cx="274320" cy="274320"/>
          </a:xfrm>
          <a:prstGeom prst="ellipse">
            <a:avLst/>
          </a:prstGeom>
          <a:solidFill>
            <a:srgbClr val="5F7B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1005840" y="2103120"/>
            <a:ext cx="1825599" cy="402336"/>
          </a:xfrm>
          <a:prstGeom prst="roundRect">
            <a:avLst>
              <a:gd name="adj" fmla="val 50000"/>
            </a:avLst>
          </a:prstGeom>
          <a:solidFill>
            <a:srgbClr val="5F7B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05840" y="2121408"/>
            <a:ext cx="1825599" cy="365760"/>
          </a:xfrm>
          <a:prstGeom prst="rect">
            <a:avLst/>
          </a:prstGeom>
          <a:noFill/>
        </p:spPr>
        <p:txBody>
          <a:bodyPr wrap="square" anchor="ctr" lIns="0" rIns="0" tIns="0" bIns="0">
            <a:spAutoFit/>
          </a:bodyPr>
          <a:lstStyle/>
          <a:p>
            <a:pPr algn="ctr">
              <a:lnSpc>
                <a:spcPct val="100000"/>
              </a:lnSpc>
              <a:spcBef>
                <a:spcPts val="0"/>
              </a:spcBef>
              <a:spcAft>
                <a:spcPts val="400"/>
              </a:spcAft>
            </a:pPr>
            <a:r>
              <a:rPr sz="1100" b="1" i="0">
                <a:solidFill>
                  <a:srgbClr val="FFFFFF"/>
                </a:solidFill>
                <a:latin typeface="Arial"/>
              </a:rPr>
              <a:t>DONE</a:t>
            </a:r>
          </a:p>
        </p:txBody>
      </p:sp>
      <p:sp>
        <p:nvSpPr>
          <p:cNvPr id="9" name="TextBox 8"/>
          <p:cNvSpPr txBox="1"/>
          <p:nvPr/>
        </p:nvSpPr>
        <p:spPr>
          <a:xfrm>
            <a:off x="2931017" y="2130552"/>
            <a:ext cx="1659636" cy="402336"/>
          </a:xfrm>
          <a:prstGeom prst="rect">
            <a:avLst/>
          </a:prstGeom>
          <a:noFill/>
        </p:spPr>
        <p:txBody>
          <a:bodyPr wrap="square" anchor="ctr" lIns="0" rIns="0" tIns="0" bIns="0">
            <a:spAutoFit/>
          </a:bodyPr>
          <a:lstStyle/>
          <a:p>
            <a:pPr algn="l">
              <a:lnSpc>
                <a:spcPct val="100000"/>
              </a:lnSpc>
              <a:spcBef>
                <a:spcPts val="0"/>
              </a:spcBef>
              <a:spcAft>
                <a:spcPts val="400"/>
              </a:spcAft>
            </a:pPr>
            <a:r>
              <a:rPr sz="1150" b="1" i="0">
                <a:solidFill>
                  <a:srgbClr val="6E6F74"/>
                </a:solidFill>
                <a:latin typeface="Arial"/>
              </a:rPr>
              <a:t>Phase 1 · done</a:t>
            </a:r>
          </a:p>
        </p:txBody>
      </p:sp>
      <p:sp>
        <p:nvSpPr>
          <p:cNvPr id="10" name="Rounded Rectangle 9"/>
          <p:cNvSpPr/>
          <p:nvPr/>
        </p:nvSpPr>
        <p:spPr>
          <a:xfrm>
            <a:off x="1005840" y="3520440"/>
            <a:ext cx="3319272" cy="2880360"/>
          </a:xfrm>
          <a:prstGeom prst="roundRect">
            <a:avLst>
              <a:gd name="adj" fmla="val 5000"/>
            </a:avLst>
          </a:prstGeom>
          <a:solidFill>
            <a:srgbClr val="FFFFFF"/>
          </a:solidFill>
          <a:ln w="9525">
            <a:solidFill>
              <a:srgbClr val="E5E4E0"/>
            </a:solidFill>
          </a:ln>
          <a:effectLst/>
          <a:effectLst>
            <a:outerShdw blurRad="80000" dist="30000" dir="5400000" rotWithShape="0">
              <a:srgbClr val="1D1D21">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280160" y="3758184"/>
            <a:ext cx="365760" cy="365760"/>
          </a:xfrm>
          <a:prstGeom prst="rect">
            <a:avLst/>
          </a:prstGeom>
          <a:noFill/>
        </p:spPr>
        <p:txBody>
          <a:bodyPr wrap="square" anchor="t" lIns="0" rIns="0" tIns="0" bIns="0">
            <a:spAutoFit/>
          </a:bodyPr>
          <a:lstStyle/>
          <a:p>
            <a:pPr algn="l">
              <a:lnSpc>
                <a:spcPct val="100000"/>
              </a:lnSpc>
              <a:spcBef>
                <a:spcPts val="0"/>
              </a:spcBef>
              <a:spcAft>
                <a:spcPts val="400"/>
              </a:spcAft>
            </a:pPr>
            <a:r>
              <a:rPr sz="1300" b="1" i="0">
                <a:solidFill>
                  <a:srgbClr val="5F7B4F"/>
                </a:solidFill>
                <a:latin typeface="Arial"/>
              </a:rPr>
              <a:t>✓</a:t>
            </a:r>
          </a:p>
        </p:txBody>
      </p:sp>
      <p:sp>
        <p:nvSpPr>
          <p:cNvPr id="12" name="TextBox 11"/>
          <p:cNvSpPr txBox="1"/>
          <p:nvPr/>
        </p:nvSpPr>
        <p:spPr>
          <a:xfrm>
            <a:off x="1645920" y="3739896"/>
            <a:ext cx="2450591" cy="548640"/>
          </a:xfrm>
          <a:prstGeom prst="rect">
            <a:avLst/>
          </a:prstGeom>
          <a:noFill/>
        </p:spPr>
        <p:txBody>
          <a:bodyPr wrap="square" anchor="t" lIns="0" rIns="0" tIns="0" bIns="0">
            <a:spAutoFit/>
          </a:bodyPr>
          <a:lstStyle/>
          <a:p>
            <a:pPr algn="l">
              <a:lnSpc>
                <a:spcPct val="100000"/>
              </a:lnSpc>
              <a:spcBef>
                <a:spcPts val="0"/>
              </a:spcBef>
              <a:spcAft>
                <a:spcPts val="400"/>
              </a:spcAft>
            </a:pPr>
            <a:r>
              <a:rPr sz="1250" b="0" i="0">
                <a:solidFill>
                  <a:srgbClr val="1D1D21"/>
                </a:solidFill>
                <a:latin typeface="Arial"/>
              </a:rPr>
              <a:t>Receipt → pantry → gaps → recommendation</a:t>
            </a:r>
          </a:p>
        </p:txBody>
      </p:sp>
      <p:sp>
        <p:nvSpPr>
          <p:cNvPr id="13" name="TextBox 12"/>
          <p:cNvSpPr txBox="1"/>
          <p:nvPr/>
        </p:nvSpPr>
        <p:spPr>
          <a:xfrm>
            <a:off x="1280160" y="4261104"/>
            <a:ext cx="365760" cy="365760"/>
          </a:xfrm>
          <a:prstGeom prst="rect">
            <a:avLst/>
          </a:prstGeom>
          <a:noFill/>
        </p:spPr>
        <p:txBody>
          <a:bodyPr wrap="square" anchor="t" lIns="0" rIns="0" tIns="0" bIns="0">
            <a:spAutoFit/>
          </a:bodyPr>
          <a:lstStyle/>
          <a:p>
            <a:pPr algn="l">
              <a:lnSpc>
                <a:spcPct val="100000"/>
              </a:lnSpc>
              <a:spcBef>
                <a:spcPts val="0"/>
              </a:spcBef>
              <a:spcAft>
                <a:spcPts val="400"/>
              </a:spcAft>
            </a:pPr>
            <a:r>
              <a:rPr sz="1300" b="1" i="0">
                <a:solidFill>
                  <a:srgbClr val="5F7B4F"/>
                </a:solidFill>
                <a:latin typeface="Arial"/>
              </a:rPr>
              <a:t>✓</a:t>
            </a:r>
          </a:p>
        </p:txBody>
      </p:sp>
      <p:sp>
        <p:nvSpPr>
          <p:cNvPr id="14" name="TextBox 13"/>
          <p:cNvSpPr txBox="1"/>
          <p:nvPr/>
        </p:nvSpPr>
        <p:spPr>
          <a:xfrm>
            <a:off x="1645920" y="4242816"/>
            <a:ext cx="2450591" cy="548640"/>
          </a:xfrm>
          <a:prstGeom prst="rect">
            <a:avLst/>
          </a:prstGeom>
          <a:noFill/>
        </p:spPr>
        <p:txBody>
          <a:bodyPr wrap="square" anchor="t" lIns="0" rIns="0" tIns="0" bIns="0">
            <a:spAutoFit/>
          </a:bodyPr>
          <a:lstStyle/>
          <a:p>
            <a:pPr algn="l">
              <a:lnSpc>
                <a:spcPct val="100000"/>
              </a:lnSpc>
              <a:spcBef>
                <a:spcPts val="0"/>
              </a:spcBef>
              <a:spcAft>
                <a:spcPts val="400"/>
              </a:spcAft>
            </a:pPr>
            <a:r>
              <a:rPr sz="1250" b="0" i="0">
                <a:solidFill>
                  <a:srgbClr val="1D1D21"/>
                </a:solidFill>
                <a:latin typeface="Arial"/>
              </a:rPr>
              <a:t>Daily check-off log + expiry-aware pantry</a:t>
            </a:r>
          </a:p>
        </p:txBody>
      </p:sp>
      <p:sp>
        <p:nvSpPr>
          <p:cNvPr id="15" name="TextBox 14"/>
          <p:cNvSpPr txBox="1"/>
          <p:nvPr/>
        </p:nvSpPr>
        <p:spPr>
          <a:xfrm>
            <a:off x="1280160" y="4764024"/>
            <a:ext cx="365760" cy="365760"/>
          </a:xfrm>
          <a:prstGeom prst="rect">
            <a:avLst/>
          </a:prstGeom>
          <a:noFill/>
        </p:spPr>
        <p:txBody>
          <a:bodyPr wrap="square" anchor="t" lIns="0" rIns="0" tIns="0" bIns="0">
            <a:spAutoFit/>
          </a:bodyPr>
          <a:lstStyle/>
          <a:p>
            <a:pPr algn="l">
              <a:lnSpc>
                <a:spcPct val="100000"/>
              </a:lnSpc>
              <a:spcBef>
                <a:spcPts val="0"/>
              </a:spcBef>
              <a:spcAft>
                <a:spcPts val="400"/>
              </a:spcAft>
            </a:pPr>
            <a:r>
              <a:rPr sz="1300" b="1" i="0">
                <a:solidFill>
                  <a:srgbClr val="5F7B4F"/>
                </a:solidFill>
                <a:latin typeface="Arial"/>
              </a:rPr>
              <a:t>✓</a:t>
            </a:r>
          </a:p>
        </p:txBody>
      </p:sp>
      <p:sp>
        <p:nvSpPr>
          <p:cNvPr id="16" name="TextBox 15"/>
          <p:cNvSpPr txBox="1"/>
          <p:nvPr/>
        </p:nvSpPr>
        <p:spPr>
          <a:xfrm>
            <a:off x="1645920" y="4745736"/>
            <a:ext cx="2450591" cy="548640"/>
          </a:xfrm>
          <a:prstGeom prst="rect">
            <a:avLst/>
          </a:prstGeom>
          <a:noFill/>
        </p:spPr>
        <p:txBody>
          <a:bodyPr wrap="square" anchor="t" lIns="0" rIns="0" tIns="0" bIns="0">
            <a:spAutoFit/>
          </a:bodyPr>
          <a:lstStyle/>
          <a:p>
            <a:pPr algn="l">
              <a:lnSpc>
                <a:spcPct val="100000"/>
              </a:lnSpc>
              <a:spcBef>
                <a:spcPts val="0"/>
              </a:spcBef>
              <a:spcAft>
                <a:spcPts val="400"/>
              </a:spcAft>
            </a:pPr>
            <a:r>
              <a:rPr sz="1250" b="0" i="0">
                <a:solidFill>
                  <a:srgbClr val="1D1D21"/>
                </a:solidFill>
                <a:latin typeface="Arial"/>
              </a:rPr>
              <a:t>Recipes, easy swaps, progress tracking</a:t>
            </a:r>
          </a:p>
        </p:txBody>
      </p:sp>
      <p:sp>
        <p:nvSpPr>
          <p:cNvPr id="17" name="TextBox 16"/>
          <p:cNvSpPr txBox="1"/>
          <p:nvPr/>
        </p:nvSpPr>
        <p:spPr>
          <a:xfrm>
            <a:off x="1280160" y="5266944"/>
            <a:ext cx="365760" cy="365760"/>
          </a:xfrm>
          <a:prstGeom prst="rect">
            <a:avLst/>
          </a:prstGeom>
          <a:noFill/>
        </p:spPr>
        <p:txBody>
          <a:bodyPr wrap="square" anchor="t" lIns="0" rIns="0" tIns="0" bIns="0">
            <a:spAutoFit/>
          </a:bodyPr>
          <a:lstStyle/>
          <a:p>
            <a:pPr algn="l">
              <a:lnSpc>
                <a:spcPct val="100000"/>
              </a:lnSpc>
              <a:spcBef>
                <a:spcPts val="0"/>
              </a:spcBef>
              <a:spcAft>
                <a:spcPts val="400"/>
              </a:spcAft>
            </a:pPr>
            <a:r>
              <a:rPr sz="1300" b="1" i="0">
                <a:solidFill>
                  <a:srgbClr val="5F7B4F"/>
                </a:solidFill>
                <a:latin typeface="Arial"/>
              </a:rPr>
              <a:t>✓</a:t>
            </a:r>
          </a:p>
        </p:txBody>
      </p:sp>
      <p:sp>
        <p:nvSpPr>
          <p:cNvPr id="18" name="TextBox 17"/>
          <p:cNvSpPr txBox="1"/>
          <p:nvPr/>
        </p:nvSpPr>
        <p:spPr>
          <a:xfrm>
            <a:off x="1645920" y="5248656"/>
            <a:ext cx="2450591" cy="548640"/>
          </a:xfrm>
          <a:prstGeom prst="rect">
            <a:avLst/>
          </a:prstGeom>
          <a:noFill/>
        </p:spPr>
        <p:txBody>
          <a:bodyPr wrap="square" anchor="t" lIns="0" rIns="0" tIns="0" bIns="0">
            <a:spAutoFit/>
          </a:bodyPr>
          <a:lstStyle/>
          <a:p>
            <a:pPr algn="l">
              <a:lnSpc>
                <a:spcPct val="100000"/>
              </a:lnSpc>
              <a:spcBef>
                <a:spcPts val="0"/>
              </a:spcBef>
              <a:spcAft>
                <a:spcPts val="400"/>
              </a:spcAft>
            </a:pPr>
            <a:r>
              <a:rPr sz="1250" b="0" i="0">
                <a:solidFill>
                  <a:srgbClr val="1D1D21"/>
                </a:solidFill>
                <a:latin typeface="Arial"/>
              </a:rPr>
              <a:t>Nutri-Coach + honest empty states</a:t>
            </a:r>
          </a:p>
        </p:txBody>
      </p:sp>
      <p:sp>
        <p:nvSpPr>
          <p:cNvPr id="19" name="TextBox 18"/>
          <p:cNvSpPr txBox="1"/>
          <p:nvPr/>
        </p:nvSpPr>
        <p:spPr>
          <a:xfrm>
            <a:off x="1280160" y="5769864"/>
            <a:ext cx="365760" cy="365760"/>
          </a:xfrm>
          <a:prstGeom prst="rect">
            <a:avLst/>
          </a:prstGeom>
          <a:noFill/>
        </p:spPr>
        <p:txBody>
          <a:bodyPr wrap="square" anchor="t" lIns="0" rIns="0" tIns="0" bIns="0">
            <a:spAutoFit/>
          </a:bodyPr>
          <a:lstStyle/>
          <a:p>
            <a:pPr algn="l">
              <a:lnSpc>
                <a:spcPct val="100000"/>
              </a:lnSpc>
              <a:spcBef>
                <a:spcPts val="0"/>
              </a:spcBef>
              <a:spcAft>
                <a:spcPts val="400"/>
              </a:spcAft>
            </a:pPr>
            <a:r>
              <a:rPr sz="1300" b="1" i="0">
                <a:solidFill>
                  <a:srgbClr val="5F7B4F"/>
                </a:solidFill>
                <a:latin typeface="Arial"/>
              </a:rPr>
              <a:t>✓</a:t>
            </a:r>
          </a:p>
        </p:txBody>
      </p:sp>
      <p:sp>
        <p:nvSpPr>
          <p:cNvPr id="20" name="TextBox 19"/>
          <p:cNvSpPr txBox="1"/>
          <p:nvPr/>
        </p:nvSpPr>
        <p:spPr>
          <a:xfrm>
            <a:off x="1645920" y="5751576"/>
            <a:ext cx="2450591" cy="548640"/>
          </a:xfrm>
          <a:prstGeom prst="rect">
            <a:avLst/>
          </a:prstGeom>
          <a:noFill/>
        </p:spPr>
        <p:txBody>
          <a:bodyPr wrap="square" anchor="t" lIns="0" rIns="0" tIns="0" bIns="0">
            <a:spAutoFit/>
          </a:bodyPr>
          <a:lstStyle/>
          <a:p>
            <a:pPr algn="l">
              <a:lnSpc>
                <a:spcPct val="100000"/>
              </a:lnSpc>
              <a:spcBef>
                <a:spcPts val="0"/>
              </a:spcBef>
              <a:spcAft>
                <a:spcPts val="400"/>
              </a:spcAft>
            </a:pPr>
            <a:r>
              <a:rPr sz="1250" b="0" i="0">
                <a:solidFill>
                  <a:srgbClr val="1D1D21"/>
                </a:solidFill>
                <a:latin typeface="Arial"/>
              </a:rPr>
              <a:t>GDPR export/erasure · DE/EN</a:t>
            </a:r>
          </a:p>
        </p:txBody>
      </p:sp>
      <p:sp>
        <p:nvSpPr>
          <p:cNvPr id="21" name="Oval 20"/>
          <p:cNvSpPr/>
          <p:nvPr/>
        </p:nvSpPr>
        <p:spPr>
          <a:xfrm>
            <a:off x="6085332" y="2935224"/>
            <a:ext cx="274320" cy="274320"/>
          </a:xfrm>
          <a:prstGeom prst="ellipse">
            <a:avLst/>
          </a:prstGeom>
          <a:solidFill>
            <a:srgbClr val="7C9A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4544568" y="2103120"/>
            <a:ext cx="1825599" cy="402336"/>
          </a:xfrm>
          <a:prstGeom prst="roundRect">
            <a:avLst>
              <a:gd name="adj" fmla="val 50000"/>
            </a:avLst>
          </a:prstGeom>
          <a:solidFill>
            <a:srgbClr val="7C9A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544568" y="2121408"/>
            <a:ext cx="1825599" cy="365760"/>
          </a:xfrm>
          <a:prstGeom prst="rect">
            <a:avLst/>
          </a:prstGeom>
          <a:noFill/>
        </p:spPr>
        <p:txBody>
          <a:bodyPr wrap="square" anchor="ctr" lIns="0" rIns="0" tIns="0" bIns="0">
            <a:spAutoFit/>
          </a:bodyPr>
          <a:lstStyle/>
          <a:p>
            <a:pPr algn="ctr">
              <a:lnSpc>
                <a:spcPct val="100000"/>
              </a:lnSpc>
              <a:spcBef>
                <a:spcPts val="0"/>
              </a:spcBef>
              <a:spcAft>
                <a:spcPts val="400"/>
              </a:spcAft>
            </a:pPr>
            <a:r>
              <a:rPr sz="1100" b="1" i="0">
                <a:solidFill>
                  <a:srgbClr val="FFFFFF"/>
                </a:solidFill>
                <a:latin typeface="Arial"/>
              </a:rPr>
              <a:t>IN PROGRESS</a:t>
            </a:r>
          </a:p>
        </p:txBody>
      </p:sp>
      <p:sp>
        <p:nvSpPr>
          <p:cNvPr id="24" name="TextBox 23"/>
          <p:cNvSpPr txBox="1"/>
          <p:nvPr/>
        </p:nvSpPr>
        <p:spPr>
          <a:xfrm>
            <a:off x="6469745" y="2130552"/>
            <a:ext cx="1659636" cy="402336"/>
          </a:xfrm>
          <a:prstGeom prst="rect">
            <a:avLst/>
          </a:prstGeom>
          <a:noFill/>
        </p:spPr>
        <p:txBody>
          <a:bodyPr wrap="square" anchor="ctr" lIns="0" rIns="0" tIns="0" bIns="0">
            <a:spAutoFit/>
          </a:bodyPr>
          <a:lstStyle/>
          <a:p>
            <a:pPr algn="l">
              <a:lnSpc>
                <a:spcPct val="100000"/>
              </a:lnSpc>
              <a:spcBef>
                <a:spcPts val="0"/>
              </a:spcBef>
              <a:spcAft>
                <a:spcPts val="400"/>
              </a:spcAft>
            </a:pPr>
            <a:r>
              <a:rPr sz="1150" b="1" i="0">
                <a:solidFill>
                  <a:srgbClr val="6E6F74"/>
                </a:solidFill>
                <a:latin typeface="Arial"/>
              </a:rPr>
              <a:t>Phase 2 · now</a:t>
            </a:r>
          </a:p>
        </p:txBody>
      </p:sp>
      <p:sp>
        <p:nvSpPr>
          <p:cNvPr id="25" name="Rounded Rectangle 24"/>
          <p:cNvSpPr/>
          <p:nvPr/>
        </p:nvSpPr>
        <p:spPr>
          <a:xfrm>
            <a:off x="4544568" y="3520440"/>
            <a:ext cx="3319272" cy="2880360"/>
          </a:xfrm>
          <a:prstGeom prst="roundRect">
            <a:avLst>
              <a:gd name="adj" fmla="val 5000"/>
            </a:avLst>
          </a:prstGeom>
          <a:solidFill>
            <a:srgbClr val="FFFFFF"/>
          </a:solidFill>
          <a:ln w="9525">
            <a:solidFill>
              <a:srgbClr val="E5E4E0"/>
            </a:solidFill>
          </a:ln>
          <a:effectLst/>
          <a:effectLst>
            <a:outerShdw blurRad="80000" dist="30000" dir="5400000" rotWithShape="0">
              <a:srgbClr val="1D1D21">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818888" y="3758184"/>
            <a:ext cx="365760" cy="365760"/>
          </a:xfrm>
          <a:prstGeom prst="rect">
            <a:avLst/>
          </a:prstGeom>
          <a:noFill/>
        </p:spPr>
        <p:txBody>
          <a:bodyPr wrap="square" anchor="t" lIns="0" rIns="0" tIns="0" bIns="0">
            <a:spAutoFit/>
          </a:bodyPr>
          <a:lstStyle/>
          <a:p>
            <a:pPr algn="l">
              <a:lnSpc>
                <a:spcPct val="100000"/>
              </a:lnSpc>
              <a:spcBef>
                <a:spcPts val="0"/>
              </a:spcBef>
              <a:spcAft>
                <a:spcPts val="400"/>
              </a:spcAft>
            </a:pPr>
            <a:r>
              <a:rPr sz="1300" b="1" i="0">
                <a:solidFill>
                  <a:srgbClr val="7C9A6A"/>
                </a:solidFill>
                <a:latin typeface="Arial"/>
              </a:rPr>
              <a:t>▸</a:t>
            </a:r>
          </a:p>
        </p:txBody>
      </p:sp>
      <p:sp>
        <p:nvSpPr>
          <p:cNvPr id="27" name="TextBox 26"/>
          <p:cNvSpPr txBox="1"/>
          <p:nvPr/>
        </p:nvSpPr>
        <p:spPr>
          <a:xfrm>
            <a:off x="5184648" y="3739896"/>
            <a:ext cx="2450591" cy="548640"/>
          </a:xfrm>
          <a:prstGeom prst="rect">
            <a:avLst/>
          </a:prstGeom>
          <a:noFill/>
        </p:spPr>
        <p:txBody>
          <a:bodyPr wrap="square" anchor="t" lIns="0" rIns="0" tIns="0" bIns="0">
            <a:spAutoFit/>
          </a:bodyPr>
          <a:lstStyle/>
          <a:p>
            <a:pPr algn="l">
              <a:lnSpc>
                <a:spcPct val="100000"/>
              </a:lnSpc>
              <a:spcBef>
                <a:spcPts val="0"/>
              </a:spcBef>
              <a:spcAft>
                <a:spcPts val="400"/>
              </a:spcAft>
            </a:pPr>
            <a:r>
              <a:rPr sz="1250" b="0" i="0">
                <a:solidFill>
                  <a:srgbClr val="1D1D21"/>
                </a:solidFill>
                <a:latin typeface="Arial"/>
              </a:rPr>
              <a:t>1-tap portion — cut check-off friction</a:t>
            </a:r>
          </a:p>
        </p:txBody>
      </p:sp>
      <p:sp>
        <p:nvSpPr>
          <p:cNvPr id="28" name="TextBox 27"/>
          <p:cNvSpPr txBox="1"/>
          <p:nvPr/>
        </p:nvSpPr>
        <p:spPr>
          <a:xfrm>
            <a:off x="4818888" y="4261104"/>
            <a:ext cx="365760" cy="365760"/>
          </a:xfrm>
          <a:prstGeom prst="rect">
            <a:avLst/>
          </a:prstGeom>
          <a:noFill/>
        </p:spPr>
        <p:txBody>
          <a:bodyPr wrap="square" anchor="t" lIns="0" rIns="0" tIns="0" bIns="0">
            <a:spAutoFit/>
          </a:bodyPr>
          <a:lstStyle/>
          <a:p>
            <a:pPr algn="l">
              <a:lnSpc>
                <a:spcPct val="100000"/>
              </a:lnSpc>
              <a:spcBef>
                <a:spcPts val="0"/>
              </a:spcBef>
              <a:spcAft>
                <a:spcPts val="400"/>
              </a:spcAft>
            </a:pPr>
            <a:r>
              <a:rPr sz="1300" b="1" i="0">
                <a:solidFill>
                  <a:srgbClr val="7C9A6A"/>
                </a:solidFill>
                <a:latin typeface="Arial"/>
              </a:rPr>
              <a:t>▸</a:t>
            </a:r>
          </a:p>
        </p:txBody>
      </p:sp>
      <p:sp>
        <p:nvSpPr>
          <p:cNvPr id="29" name="TextBox 28"/>
          <p:cNvSpPr txBox="1"/>
          <p:nvPr/>
        </p:nvSpPr>
        <p:spPr>
          <a:xfrm>
            <a:off x="5184648" y="4242816"/>
            <a:ext cx="2450591" cy="548640"/>
          </a:xfrm>
          <a:prstGeom prst="rect">
            <a:avLst/>
          </a:prstGeom>
          <a:noFill/>
        </p:spPr>
        <p:txBody>
          <a:bodyPr wrap="square" anchor="t" lIns="0" rIns="0" tIns="0" bIns="0">
            <a:spAutoFit/>
          </a:bodyPr>
          <a:lstStyle/>
          <a:p>
            <a:pPr algn="l">
              <a:lnSpc>
                <a:spcPct val="100000"/>
              </a:lnSpc>
              <a:spcBef>
                <a:spcPts val="0"/>
              </a:spcBef>
              <a:spcAft>
                <a:spcPts val="400"/>
              </a:spcAft>
            </a:pPr>
            <a:r>
              <a:rPr sz="1250" b="0" i="0">
                <a:solidFill>
                  <a:srgbClr val="1D1D21"/>
                </a:solidFill>
                <a:latin typeface="Arial"/>
              </a:rPr>
              <a:t>Sharper matching + text cleanup</a:t>
            </a:r>
          </a:p>
        </p:txBody>
      </p:sp>
      <p:sp>
        <p:nvSpPr>
          <p:cNvPr id="30" name="TextBox 29"/>
          <p:cNvSpPr txBox="1"/>
          <p:nvPr/>
        </p:nvSpPr>
        <p:spPr>
          <a:xfrm>
            <a:off x="4818888" y="4764024"/>
            <a:ext cx="365760" cy="365760"/>
          </a:xfrm>
          <a:prstGeom prst="rect">
            <a:avLst/>
          </a:prstGeom>
          <a:noFill/>
        </p:spPr>
        <p:txBody>
          <a:bodyPr wrap="square" anchor="t" lIns="0" rIns="0" tIns="0" bIns="0">
            <a:spAutoFit/>
          </a:bodyPr>
          <a:lstStyle/>
          <a:p>
            <a:pPr algn="l">
              <a:lnSpc>
                <a:spcPct val="100000"/>
              </a:lnSpc>
              <a:spcBef>
                <a:spcPts val="0"/>
              </a:spcBef>
              <a:spcAft>
                <a:spcPts val="400"/>
              </a:spcAft>
            </a:pPr>
            <a:r>
              <a:rPr sz="1300" b="1" i="0">
                <a:solidFill>
                  <a:srgbClr val="7C9A6A"/>
                </a:solidFill>
                <a:latin typeface="Arial"/>
              </a:rPr>
              <a:t>▸</a:t>
            </a:r>
          </a:p>
        </p:txBody>
      </p:sp>
      <p:sp>
        <p:nvSpPr>
          <p:cNvPr id="31" name="TextBox 30"/>
          <p:cNvSpPr txBox="1"/>
          <p:nvPr/>
        </p:nvSpPr>
        <p:spPr>
          <a:xfrm>
            <a:off x="5184648" y="4745736"/>
            <a:ext cx="2450591" cy="548640"/>
          </a:xfrm>
          <a:prstGeom prst="rect">
            <a:avLst/>
          </a:prstGeom>
          <a:noFill/>
        </p:spPr>
        <p:txBody>
          <a:bodyPr wrap="square" anchor="t" lIns="0" rIns="0" tIns="0" bIns="0">
            <a:spAutoFit/>
          </a:bodyPr>
          <a:lstStyle/>
          <a:p>
            <a:pPr algn="l">
              <a:lnSpc>
                <a:spcPct val="100000"/>
              </a:lnSpc>
              <a:spcBef>
                <a:spcPts val="0"/>
              </a:spcBef>
              <a:spcAft>
                <a:spcPts val="400"/>
              </a:spcAft>
            </a:pPr>
            <a:r>
              <a:rPr sz="1250" b="0" i="0">
                <a:solidFill>
                  <a:srgbClr val="1D1D21"/>
                </a:solidFill>
                <a:latin typeface="Arial"/>
              </a:rPr>
              <a:t>A/B test: when to ask “what did you eat?”</a:t>
            </a:r>
          </a:p>
        </p:txBody>
      </p:sp>
      <p:sp>
        <p:nvSpPr>
          <p:cNvPr id="32" name="TextBox 31"/>
          <p:cNvSpPr txBox="1"/>
          <p:nvPr/>
        </p:nvSpPr>
        <p:spPr>
          <a:xfrm>
            <a:off x="4818888" y="5266944"/>
            <a:ext cx="365760" cy="365760"/>
          </a:xfrm>
          <a:prstGeom prst="rect">
            <a:avLst/>
          </a:prstGeom>
          <a:noFill/>
        </p:spPr>
        <p:txBody>
          <a:bodyPr wrap="square" anchor="t" lIns="0" rIns="0" tIns="0" bIns="0">
            <a:spAutoFit/>
          </a:bodyPr>
          <a:lstStyle/>
          <a:p>
            <a:pPr algn="l">
              <a:lnSpc>
                <a:spcPct val="100000"/>
              </a:lnSpc>
              <a:spcBef>
                <a:spcPts val="0"/>
              </a:spcBef>
              <a:spcAft>
                <a:spcPts val="400"/>
              </a:spcAft>
            </a:pPr>
            <a:r>
              <a:rPr sz="1300" b="1" i="0">
                <a:solidFill>
                  <a:srgbClr val="7C9A6A"/>
                </a:solidFill>
                <a:latin typeface="Arial"/>
              </a:rPr>
              <a:t>▸</a:t>
            </a:r>
          </a:p>
        </p:txBody>
      </p:sp>
      <p:sp>
        <p:nvSpPr>
          <p:cNvPr id="33" name="TextBox 32"/>
          <p:cNvSpPr txBox="1"/>
          <p:nvPr/>
        </p:nvSpPr>
        <p:spPr>
          <a:xfrm>
            <a:off x="5184648" y="5248656"/>
            <a:ext cx="2450591" cy="548640"/>
          </a:xfrm>
          <a:prstGeom prst="rect">
            <a:avLst/>
          </a:prstGeom>
          <a:noFill/>
        </p:spPr>
        <p:txBody>
          <a:bodyPr wrap="square" anchor="t" lIns="0" rIns="0" tIns="0" bIns="0">
            <a:spAutoFit/>
          </a:bodyPr>
          <a:lstStyle/>
          <a:p>
            <a:pPr algn="l">
              <a:lnSpc>
                <a:spcPct val="100000"/>
              </a:lnSpc>
              <a:spcBef>
                <a:spcPts val="0"/>
              </a:spcBef>
              <a:spcAft>
                <a:spcPts val="400"/>
              </a:spcAft>
            </a:pPr>
            <a:r>
              <a:rPr sz="1250" b="0" i="0">
                <a:solidFill>
                  <a:srgbClr val="1D1D21"/>
                </a:solidFill>
                <a:latin typeface="Arial"/>
              </a:rPr>
              <a:t>Live user testing + retention</a:t>
            </a:r>
          </a:p>
        </p:txBody>
      </p:sp>
      <p:sp>
        <p:nvSpPr>
          <p:cNvPr id="34" name="Oval 33"/>
          <p:cNvSpPr/>
          <p:nvPr/>
        </p:nvSpPr>
        <p:spPr>
          <a:xfrm>
            <a:off x="9624059" y="2935224"/>
            <a:ext cx="274320" cy="274320"/>
          </a:xfrm>
          <a:prstGeom prst="ellipse">
            <a:avLst/>
          </a:prstGeom>
          <a:solidFill>
            <a:srgbClr val="6E6F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ounded Rectangle 34"/>
          <p:cNvSpPr/>
          <p:nvPr/>
        </p:nvSpPr>
        <p:spPr>
          <a:xfrm>
            <a:off x="8083296" y="2103120"/>
            <a:ext cx="1825599" cy="402336"/>
          </a:xfrm>
          <a:prstGeom prst="roundRect">
            <a:avLst>
              <a:gd name="adj" fmla="val 50000"/>
            </a:avLst>
          </a:prstGeom>
          <a:solidFill>
            <a:srgbClr val="6E6F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8083296" y="2121408"/>
            <a:ext cx="1825599" cy="365760"/>
          </a:xfrm>
          <a:prstGeom prst="rect">
            <a:avLst/>
          </a:prstGeom>
          <a:noFill/>
        </p:spPr>
        <p:txBody>
          <a:bodyPr wrap="square" anchor="ctr" lIns="0" rIns="0" tIns="0" bIns="0">
            <a:spAutoFit/>
          </a:bodyPr>
          <a:lstStyle/>
          <a:p>
            <a:pPr algn="ctr">
              <a:lnSpc>
                <a:spcPct val="100000"/>
              </a:lnSpc>
              <a:spcBef>
                <a:spcPts val="0"/>
              </a:spcBef>
              <a:spcAft>
                <a:spcPts val="400"/>
              </a:spcAft>
            </a:pPr>
            <a:r>
              <a:rPr sz="1100" b="1" i="0">
                <a:solidFill>
                  <a:srgbClr val="FFFFFF"/>
                </a:solidFill>
                <a:latin typeface="Arial"/>
              </a:rPr>
              <a:t>NEXT</a:t>
            </a:r>
          </a:p>
        </p:txBody>
      </p:sp>
      <p:sp>
        <p:nvSpPr>
          <p:cNvPr id="37" name="TextBox 36"/>
          <p:cNvSpPr txBox="1"/>
          <p:nvPr/>
        </p:nvSpPr>
        <p:spPr>
          <a:xfrm>
            <a:off x="10008473" y="2130552"/>
            <a:ext cx="1659636" cy="402336"/>
          </a:xfrm>
          <a:prstGeom prst="rect">
            <a:avLst/>
          </a:prstGeom>
          <a:noFill/>
        </p:spPr>
        <p:txBody>
          <a:bodyPr wrap="square" anchor="ctr" lIns="0" rIns="0" tIns="0" bIns="0">
            <a:spAutoFit/>
          </a:bodyPr>
          <a:lstStyle/>
          <a:p>
            <a:pPr algn="l">
              <a:lnSpc>
                <a:spcPct val="100000"/>
              </a:lnSpc>
              <a:spcBef>
                <a:spcPts val="0"/>
              </a:spcBef>
              <a:spcAft>
                <a:spcPts val="400"/>
              </a:spcAft>
            </a:pPr>
            <a:r>
              <a:rPr sz="1150" b="1" i="0">
                <a:solidFill>
                  <a:srgbClr val="6E6F74"/>
                </a:solidFill>
                <a:latin typeface="Arial"/>
              </a:rPr>
              <a:t>Phase 3 · next</a:t>
            </a:r>
          </a:p>
        </p:txBody>
      </p:sp>
      <p:sp>
        <p:nvSpPr>
          <p:cNvPr id="38" name="Rounded Rectangle 37"/>
          <p:cNvSpPr/>
          <p:nvPr/>
        </p:nvSpPr>
        <p:spPr>
          <a:xfrm>
            <a:off x="8083296" y="3520440"/>
            <a:ext cx="3319272" cy="2880360"/>
          </a:xfrm>
          <a:prstGeom prst="roundRect">
            <a:avLst>
              <a:gd name="adj" fmla="val 5000"/>
            </a:avLst>
          </a:prstGeom>
          <a:solidFill>
            <a:srgbClr val="FFFFFF"/>
          </a:solidFill>
          <a:ln w="9525">
            <a:solidFill>
              <a:srgbClr val="E5E4E0"/>
            </a:solidFill>
          </a:ln>
          <a:effectLst/>
          <a:effectLst>
            <a:outerShdw blurRad="80000" dist="30000" dir="5400000" rotWithShape="0">
              <a:srgbClr val="1D1D21">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8357616" y="3758184"/>
            <a:ext cx="365760" cy="365760"/>
          </a:xfrm>
          <a:prstGeom prst="rect">
            <a:avLst/>
          </a:prstGeom>
          <a:noFill/>
        </p:spPr>
        <p:txBody>
          <a:bodyPr wrap="square" anchor="t" lIns="0" rIns="0" tIns="0" bIns="0">
            <a:spAutoFit/>
          </a:bodyPr>
          <a:lstStyle/>
          <a:p>
            <a:pPr algn="l">
              <a:lnSpc>
                <a:spcPct val="100000"/>
              </a:lnSpc>
              <a:spcBef>
                <a:spcPts val="0"/>
              </a:spcBef>
              <a:spcAft>
                <a:spcPts val="400"/>
              </a:spcAft>
            </a:pPr>
            <a:r>
              <a:rPr sz="1300" b="1" i="0">
                <a:solidFill>
                  <a:srgbClr val="6E6F74"/>
                </a:solidFill>
                <a:latin typeface="Arial"/>
              </a:rPr>
              <a:t>•</a:t>
            </a:r>
          </a:p>
        </p:txBody>
      </p:sp>
      <p:sp>
        <p:nvSpPr>
          <p:cNvPr id="40" name="TextBox 39"/>
          <p:cNvSpPr txBox="1"/>
          <p:nvPr/>
        </p:nvSpPr>
        <p:spPr>
          <a:xfrm>
            <a:off x="8723376" y="3739896"/>
            <a:ext cx="2450591" cy="548640"/>
          </a:xfrm>
          <a:prstGeom prst="rect">
            <a:avLst/>
          </a:prstGeom>
          <a:noFill/>
        </p:spPr>
        <p:txBody>
          <a:bodyPr wrap="square" anchor="t" lIns="0" rIns="0" tIns="0" bIns="0">
            <a:spAutoFit/>
          </a:bodyPr>
          <a:lstStyle/>
          <a:p>
            <a:pPr algn="l">
              <a:lnSpc>
                <a:spcPct val="100000"/>
              </a:lnSpc>
              <a:spcBef>
                <a:spcPts val="0"/>
              </a:spcBef>
              <a:spcAft>
                <a:spcPts val="400"/>
              </a:spcAft>
            </a:pPr>
            <a:r>
              <a:rPr sz="1250" b="0" i="0">
                <a:solidFill>
                  <a:srgbClr val="1D1D21"/>
                </a:solidFill>
                <a:latin typeface="Arial"/>
              </a:rPr>
              <a:t>Smarter matching to push accuracy higher</a:t>
            </a:r>
          </a:p>
        </p:txBody>
      </p:sp>
      <p:sp>
        <p:nvSpPr>
          <p:cNvPr id="41" name="TextBox 40"/>
          <p:cNvSpPr txBox="1"/>
          <p:nvPr/>
        </p:nvSpPr>
        <p:spPr>
          <a:xfrm>
            <a:off x="8357616" y="4261104"/>
            <a:ext cx="365760" cy="365760"/>
          </a:xfrm>
          <a:prstGeom prst="rect">
            <a:avLst/>
          </a:prstGeom>
          <a:noFill/>
        </p:spPr>
        <p:txBody>
          <a:bodyPr wrap="square" anchor="t" lIns="0" rIns="0" tIns="0" bIns="0">
            <a:spAutoFit/>
          </a:bodyPr>
          <a:lstStyle/>
          <a:p>
            <a:pPr algn="l">
              <a:lnSpc>
                <a:spcPct val="100000"/>
              </a:lnSpc>
              <a:spcBef>
                <a:spcPts val="0"/>
              </a:spcBef>
              <a:spcAft>
                <a:spcPts val="400"/>
              </a:spcAft>
            </a:pPr>
            <a:r>
              <a:rPr sz="1300" b="1" i="0">
                <a:solidFill>
                  <a:srgbClr val="6E6F74"/>
                </a:solidFill>
                <a:latin typeface="Arial"/>
              </a:rPr>
              <a:t>•</a:t>
            </a:r>
          </a:p>
        </p:txBody>
      </p:sp>
      <p:sp>
        <p:nvSpPr>
          <p:cNvPr id="42" name="TextBox 41"/>
          <p:cNvSpPr txBox="1"/>
          <p:nvPr/>
        </p:nvSpPr>
        <p:spPr>
          <a:xfrm>
            <a:off x="8723376" y="4242816"/>
            <a:ext cx="2450591" cy="548640"/>
          </a:xfrm>
          <a:prstGeom prst="rect">
            <a:avLst/>
          </a:prstGeom>
          <a:noFill/>
        </p:spPr>
        <p:txBody>
          <a:bodyPr wrap="square" anchor="t" lIns="0" rIns="0" tIns="0" bIns="0">
            <a:spAutoFit/>
          </a:bodyPr>
          <a:lstStyle/>
          <a:p>
            <a:pPr algn="l">
              <a:lnSpc>
                <a:spcPct val="100000"/>
              </a:lnSpc>
              <a:spcBef>
                <a:spcPts val="0"/>
              </a:spcBef>
              <a:spcAft>
                <a:spcPts val="400"/>
              </a:spcAft>
            </a:pPr>
            <a:r>
              <a:rPr sz="1250" b="0" i="0">
                <a:solidFill>
                  <a:srgbClr val="1D1D21"/>
                </a:solidFill>
                <a:latin typeface="Arial"/>
              </a:rPr>
              <a:t>Personalised portion &amp; consumption</a:t>
            </a:r>
          </a:p>
        </p:txBody>
      </p:sp>
      <p:sp>
        <p:nvSpPr>
          <p:cNvPr id="43" name="TextBox 42"/>
          <p:cNvSpPr txBox="1"/>
          <p:nvPr/>
        </p:nvSpPr>
        <p:spPr>
          <a:xfrm>
            <a:off x="8357616" y="4764024"/>
            <a:ext cx="365760" cy="365760"/>
          </a:xfrm>
          <a:prstGeom prst="rect">
            <a:avLst/>
          </a:prstGeom>
          <a:noFill/>
        </p:spPr>
        <p:txBody>
          <a:bodyPr wrap="square" anchor="t" lIns="0" rIns="0" tIns="0" bIns="0">
            <a:spAutoFit/>
          </a:bodyPr>
          <a:lstStyle/>
          <a:p>
            <a:pPr algn="l">
              <a:lnSpc>
                <a:spcPct val="100000"/>
              </a:lnSpc>
              <a:spcBef>
                <a:spcPts val="0"/>
              </a:spcBef>
              <a:spcAft>
                <a:spcPts val="400"/>
              </a:spcAft>
            </a:pPr>
            <a:r>
              <a:rPr sz="1300" b="1" i="0">
                <a:solidFill>
                  <a:srgbClr val="6E6F74"/>
                </a:solidFill>
                <a:latin typeface="Arial"/>
              </a:rPr>
              <a:t>•</a:t>
            </a:r>
          </a:p>
        </p:txBody>
      </p:sp>
      <p:sp>
        <p:nvSpPr>
          <p:cNvPr id="44" name="TextBox 43"/>
          <p:cNvSpPr txBox="1"/>
          <p:nvPr/>
        </p:nvSpPr>
        <p:spPr>
          <a:xfrm>
            <a:off x="8723376" y="4745736"/>
            <a:ext cx="2450591" cy="548640"/>
          </a:xfrm>
          <a:prstGeom prst="rect">
            <a:avLst/>
          </a:prstGeom>
          <a:noFill/>
        </p:spPr>
        <p:txBody>
          <a:bodyPr wrap="square" anchor="t" lIns="0" rIns="0" tIns="0" bIns="0">
            <a:spAutoFit/>
          </a:bodyPr>
          <a:lstStyle/>
          <a:p>
            <a:pPr algn="l">
              <a:lnSpc>
                <a:spcPct val="100000"/>
              </a:lnSpc>
              <a:spcBef>
                <a:spcPts val="0"/>
              </a:spcBef>
              <a:spcAft>
                <a:spcPts val="400"/>
              </a:spcAft>
            </a:pPr>
            <a:r>
              <a:rPr sz="1250" b="0" i="0">
                <a:solidFill>
                  <a:srgbClr val="1D1D21"/>
                </a:solidFill>
                <a:latin typeface="Arial"/>
              </a:rPr>
              <a:t>Instrument the 10-KPI funnel</a:t>
            </a:r>
          </a:p>
        </p:txBody>
      </p:sp>
      <p:sp>
        <p:nvSpPr>
          <p:cNvPr id="45" name="TextBox 44"/>
          <p:cNvSpPr txBox="1"/>
          <p:nvPr/>
        </p:nvSpPr>
        <p:spPr>
          <a:xfrm>
            <a:off x="8357616" y="5266944"/>
            <a:ext cx="365760" cy="365760"/>
          </a:xfrm>
          <a:prstGeom prst="rect">
            <a:avLst/>
          </a:prstGeom>
          <a:noFill/>
        </p:spPr>
        <p:txBody>
          <a:bodyPr wrap="square" anchor="t" lIns="0" rIns="0" tIns="0" bIns="0">
            <a:spAutoFit/>
          </a:bodyPr>
          <a:lstStyle/>
          <a:p>
            <a:pPr algn="l">
              <a:lnSpc>
                <a:spcPct val="100000"/>
              </a:lnSpc>
              <a:spcBef>
                <a:spcPts val="0"/>
              </a:spcBef>
              <a:spcAft>
                <a:spcPts val="400"/>
              </a:spcAft>
            </a:pPr>
            <a:r>
              <a:rPr sz="1300" b="1" i="0">
                <a:solidFill>
                  <a:srgbClr val="6E6F74"/>
                </a:solidFill>
                <a:latin typeface="Arial"/>
              </a:rPr>
              <a:t>•</a:t>
            </a:r>
          </a:p>
        </p:txBody>
      </p:sp>
      <p:sp>
        <p:nvSpPr>
          <p:cNvPr id="46" name="TextBox 45"/>
          <p:cNvSpPr txBox="1"/>
          <p:nvPr/>
        </p:nvSpPr>
        <p:spPr>
          <a:xfrm>
            <a:off x="8723376" y="5248656"/>
            <a:ext cx="2450591" cy="548640"/>
          </a:xfrm>
          <a:prstGeom prst="rect">
            <a:avLst/>
          </a:prstGeom>
          <a:noFill/>
        </p:spPr>
        <p:txBody>
          <a:bodyPr wrap="square" anchor="t" lIns="0" rIns="0" tIns="0" bIns="0">
            <a:spAutoFit/>
          </a:bodyPr>
          <a:lstStyle/>
          <a:p>
            <a:pPr algn="l">
              <a:lnSpc>
                <a:spcPct val="100000"/>
              </a:lnSpc>
              <a:spcBef>
                <a:spcPts val="0"/>
              </a:spcBef>
              <a:spcAft>
                <a:spcPts val="400"/>
              </a:spcAft>
            </a:pPr>
            <a:r>
              <a:rPr sz="1250" b="0" i="0">
                <a:solidFill>
                  <a:srgbClr val="1D1D21"/>
                </a:solidFill>
                <a:latin typeface="Arial"/>
              </a:rPr>
              <a:t>Weekly / monthly trend views</a:t>
            </a:r>
          </a:p>
        </p:txBody>
      </p:sp>
      <p:sp>
        <p:nvSpPr>
          <p:cNvPr id="47" name="TextBox 46"/>
          <p:cNvSpPr txBox="1"/>
          <p:nvPr/>
        </p:nvSpPr>
        <p:spPr>
          <a:xfrm>
            <a:off x="548640" y="6428232"/>
            <a:ext cx="4572000" cy="274320"/>
          </a:xfrm>
          <a:prstGeom prst="rect">
            <a:avLst/>
          </a:prstGeom>
          <a:noFill/>
        </p:spPr>
        <p:txBody>
          <a:bodyPr wrap="square" anchor="t" lIns="0" rIns="0" tIns="0" bIns="0">
            <a:spAutoFit/>
          </a:bodyPr>
          <a:lstStyle/>
          <a:p>
            <a:pPr algn="l">
              <a:lnSpc>
                <a:spcPct val="100000"/>
              </a:lnSpc>
              <a:spcBef>
                <a:spcPts val="0"/>
              </a:spcBef>
              <a:spcAft>
                <a:spcPts val="400"/>
              </a:spcAft>
            </a:pPr>
            <a:r>
              <a:rPr sz="900" b="1" i="0">
                <a:solidFill>
                  <a:srgbClr val="6E6F74"/>
                </a:solidFill>
                <a:latin typeface="Arial"/>
              </a:rPr>
              <a:t>NutriWise</a:t>
            </a:r>
            <a:r>
              <a:rPr sz="900" b="0" i="0">
                <a:solidFill>
                  <a:srgbClr val="6E6F74"/>
                </a:solidFill>
                <a:latin typeface="Arial"/>
              </a:rPr>
              <a:t>  ·  Final · V0</a:t>
            </a:r>
          </a:p>
        </p:txBody>
      </p:sp>
      <p:sp>
        <p:nvSpPr>
          <p:cNvPr id="48" name="TextBox 47"/>
          <p:cNvSpPr txBox="1"/>
          <p:nvPr/>
        </p:nvSpPr>
        <p:spPr>
          <a:xfrm>
            <a:off x="9875520" y="6428232"/>
            <a:ext cx="1737360" cy="274320"/>
          </a:xfrm>
          <a:prstGeom prst="rect">
            <a:avLst/>
          </a:prstGeom>
          <a:noFill/>
        </p:spPr>
        <p:txBody>
          <a:bodyPr wrap="square" anchor="t" lIns="0" rIns="0" tIns="0" bIns="0">
            <a:spAutoFit/>
          </a:bodyPr>
          <a:lstStyle/>
          <a:p>
            <a:pPr algn="r">
              <a:lnSpc>
                <a:spcPct val="100000"/>
              </a:lnSpc>
              <a:spcBef>
                <a:spcPts val="0"/>
              </a:spcBef>
              <a:spcAft>
                <a:spcPts val="400"/>
              </a:spcAft>
            </a:pPr>
            <a:r>
              <a:rPr sz="900" b="0" i="0">
                <a:solidFill>
                  <a:srgbClr val="6E6F74"/>
                </a:solidFill>
                <a:latin typeface="Arial"/>
              </a:rPr>
              <a:t>08 / 14</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AFAFA"/>
        </a:solidFill>
        <a:effectLst/>
      </p:bgPr>
    </p:bg>
    <p:spTree>
      <p:nvGrpSpPr>
        <p:cNvPr id="1" name=""/>
        <p:cNvGrpSpPr/>
        <p:nvPr/>
      </p:nvGrpSpPr>
      <p:grpSpPr/>
      <p:sp>
        <p:nvSpPr>
          <p:cNvPr id="2" name="TextBox 1"/>
          <p:cNvSpPr txBox="1"/>
          <p:nvPr/>
        </p:nvSpPr>
        <p:spPr>
          <a:xfrm>
            <a:off x="822960" y="548640"/>
            <a:ext cx="9144000" cy="274320"/>
          </a:xfrm>
          <a:prstGeom prst="rect">
            <a:avLst/>
          </a:prstGeom>
          <a:noFill/>
        </p:spPr>
        <p:txBody>
          <a:bodyPr wrap="square" anchor="t" lIns="0" rIns="0" tIns="0" bIns="0">
            <a:spAutoFit/>
          </a:bodyPr>
          <a:lstStyle/>
          <a:p>
            <a:pPr algn="l">
              <a:lnSpc>
                <a:spcPct val="100000"/>
              </a:lnSpc>
              <a:spcBef>
                <a:spcPts val="0"/>
              </a:spcBef>
              <a:spcAft>
                <a:spcPts val="400"/>
              </a:spcAft>
            </a:pPr>
            <a:r>
              <a:rPr sz="1250" b="1" i="0">
                <a:solidFill>
                  <a:srgbClr val="5F7B4F"/>
                </a:solidFill>
                <a:latin typeface="Arial"/>
              </a:rPr>
              <a:t>HOW WE MEASURE SUCCESS</a:t>
            </a:r>
          </a:p>
        </p:txBody>
      </p:sp>
      <p:sp>
        <p:nvSpPr>
          <p:cNvPr id="3" name="TextBox 2"/>
          <p:cNvSpPr txBox="1"/>
          <p:nvPr/>
        </p:nvSpPr>
        <p:spPr>
          <a:xfrm>
            <a:off x="822960" y="841248"/>
            <a:ext cx="10698480" cy="914400"/>
          </a:xfrm>
          <a:prstGeom prst="rect">
            <a:avLst/>
          </a:prstGeom>
          <a:noFill/>
        </p:spPr>
        <p:txBody>
          <a:bodyPr wrap="square" anchor="t" lIns="0" rIns="0" tIns="0" bIns="0">
            <a:spAutoFit/>
          </a:bodyPr>
          <a:lstStyle/>
          <a:p>
            <a:pPr algn="l">
              <a:lnSpc>
                <a:spcPct val="100000"/>
              </a:lnSpc>
              <a:spcBef>
                <a:spcPts val="0"/>
              </a:spcBef>
              <a:spcAft>
                <a:spcPts val="400"/>
              </a:spcAft>
            </a:pPr>
            <a:r>
              <a:rPr sz="2700" b="1" i="0">
                <a:solidFill>
                  <a:srgbClr val="1D1D21"/>
                </a:solidFill>
                <a:latin typeface="Arial"/>
              </a:rPr>
              <a:t>The hard part: cryptic receipt text → a real food</a:t>
            </a:r>
          </a:p>
        </p:txBody>
      </p:sp>
      <p:sp>
        <p:nvSpPr>
          <p:cNvPr id="4" name="Rectangle 3"/>
          <p:cNvSpPr/>
          <p:nvPr/>
        </p:nvSpPr>
        <p:spPr>
          <a:xfrm>
            <a:off x="841248" y="1481328"/>
            <a:ext cx="1371600" cy="41148"/>
          </a:xfrm>
          <a:prstGeom prst="rect">
            <a:avLst/>
          </a:prstGeom>
          <a:solidFill>
            <a:srgbClr val="7C9A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1783080"/>
            <a:ext cx="5669280" cy="3383280"/>
          </a:xfrm>
          <a:prstGeom prst="rect">
            <a:avLst/>
          </a:prstGeom>
          <a:noFill/>
        </p:spPr>
        <p:txBody>
          <a:bodyPr wrap="square" anchor="t" lIns="0" rIns="0" tIns="0" bIns="0">
            <a:spAutoFit/>
          </a:bodyPr>
          <a:lstStyle/>
          <a:p>
            <a:pPr algn="l">
              <a:lnSpc>
                <a:spcPct val="112000"/>
              </a:lnSpc>
              <a:spcBef>
                <a:spcPts val="0"/>
              </a:spcBef>
              <a:spcAft>
                <a:spcPts val="400"/>
              </a:spcAft>
            </a:pPr>
            <a:r>
              <a:rPr sz="1700" b="1" i="0">
                <a:solidFill>
                  <a:srgbClr val="B36A4A"/>
                </a:solidFill>
                <a:latin typeface="Arial"/>
              </a:rPr>
              <a:t>“AB Bud 6x0,3l MW”</a:t>
            </a:r>
            <a:r>
              <a:rPr sz="1700" b="1" i="0">
                <a:solidFill>
                  <a:srgbClr val="1D1D21"/>
                </a:solidFill>
                <a:latin typeface="Arial"/>
              </a:rPr>
              <a:t>   →   ?</a:t>
            </a:r>
          </a:p>
          <a:p>
            <a:pPr algn="l">
              <a:lnSpc>
                <a:spcPct val="112000"/>
              </a:lnSpc>
              <a:spcBef>
                <a:spcPts val="0"/>
              </a:spcBef>
              <a:spcAft>
                <a:spcPts val="400"/>
              </a:spcAft>
            </a:pPr>
            <a:r>
              <a:rPr sz="600" b="0" i="0">
                <a:solidFill>
                  <a:srgbClr val="1D1D21"/>
                </a:solidFill>
                <a:latin typeface="Arial"/>
              </a:rPr>
              <a:t/>
            </a:r>
          </a:p>
          <a:p>
            <a:pPr algn="l">
              <a:lnSpc>
                <a:spcPct val="112000"/>
              </a:lnSpc>
              <a:spcBef>
                <a:spcPts val="0"/>
              </a:spcBef>
              <a:spcAft>
                <a:spcPts val="400"/>
              </a:spcAft>
            </a:pPr>
            <a:r>
              <a:rPr sz="1450" b="0" i="0">
                <a:solidFill>
                  <a:srgbClr val="1D1D21"/>
                </a:solidFill>
                <a:latin typeface="Arial"/>
              </a:rPr>
              <a:t>Every receipt line has to become a real food with real nutrients — but there was </a:t>
            </a:r>
            <a:r>
              <a:rPr sz="1450" b="1" i="0">
                <a:solidFill>
                  <a:srgbClr val="1D1D21"/>
                </a:solidFill>
                <a:latin typeface="Arial"/>
              </a:rPr>
              <a:t>no answer key</a:t>
            </a:r>
            <a:r>
              <a:rPr sz="1450" b="0" i="0">
                <a:solidFill>
                  <a:srgbClr val="1D1D21"/>
                </a:solidFill>
                <a:latin typeface="Arial"/>
              </a:rPr>
              <a:t> for “what food is this, really?”</a:t>
            </a:r>
          </a:p>
          <a:p>
            <a:pPr algn="l">
              <a:lnSpc>
                <a:spcPct val="112000"/>
              </a:lnSpc>
              <a:spcBef>
                <a:spcPts val="0"/>
              </a:spcBef>
              <a:spcAft>
                <a:spcPts val="400"/>
              </a:spcAft>
            </a:pPr>
            <a:r>
              <a:rPr sz="500" b="0" i="0">
                <a:solidFill>
                  <a:srgbClr val="1D1D21"/>
                </a:solidFill>
                <a:latin typeface="Arial"/>
              </a:rPr>
              <a:t/>
            </a:r>
          </a:p>
          <a:p>
            <a:pPr algn="l">
              <a:lnSpc>
                <a:spcPct val="112000"/>
              </a:lnSpc>
              <a:spcBef>
                <a:spcPts val="0"/>
              </a:spcBef>
              <a:spcAft>
                <a:spcPts val="400"/>
              </a:spcAft>
            </a:pPr>
            <a:r>
              <a:rPr sz="1450" b="0" i="0">
                <a:solidFill>
                  <a:srgbClr val="1D1D21"/>
                </a:solidFill>
                <a:latin typeface="Arial"/>
              </a:rPr>
              <a:t>So we built one: a </a:t>
            </a:r>
            <a:r>
              <a:rPr sz="1450" b="1" i="0">
                <a:solidFill>
                  <a:srgbClr val="5F7B4F"/>
                </a:solidFill>
                <a:latin typeface="Arial"/>
              </a:rPr>
              <a:t>human-checked test set</a:t>
            </a:r>
            <a:r>
              <a:rPr sz="1450" b="0" i="0">
                <a:solidFill>
                  <a:srgbClr val="1D1D21"/>
                </a:solidFill>
                <a:latin typeface="Arial"/>
              </a:rPr>
              <a:t> of 180 real receipt lines.</a:t>
            </a:r>
          </a:p>
          <a:p>
            <a:pPr algn="l">
              <a:lnSpc>
                <a:spcPct val="112000"/>
              </a:lnSpc>
              <a:spcBef>
                <a:spcPts val="0"/>
              </a:spcBef>
              <a:spcAft>
                <a:spcPts val="400"/>
              </a:spcAft>
            </a:pPr>
            <a:r>
              <a:rPr sz="500" b="0" i="0">
                <a:solidFill>
                  <a:srgbClr val="1D1D21"/>
                </a:solidFill>
                <a:latin typeface="Arial"/>
              </a:rPr>
              <a:t/>
            </a:r>
          </a:p>
          <a:p>
            <a:pPr algn="l">
              <a:lnSpc>
                <a:spcPct val="112000"/>
              </a:lnSpc>
              <a:spcBef>
                <a:spcPts val="0"/>
              </a:spcBef>
              <a:spcAft>
                <a:spcPts val="400"/>
              </a:spcAft>
            </a:pPr>
            <a:r>
              <a:rPr sz="1450" b="0" i="0">
                <a:solidFill>
                  <a:srgbClr val="1D1D21"/>
                </a:solidFill>
                <a:latin typeface="Arial"/>
              </a:rPr>
              <a:t>Our simple test: </a:t>
            </a:r>
            <a:r>
              <a:rPr sz="1450" b="1" i="0">
                <a:solidFill>
                  <a:srgbClr val="5F7B4F"/>
                </a:solidFill>
                <a:latin typeface="Arial"/>
              </a:rPr>
              <a:t>is the correct food among the top 5 the app shows you?</a:t>
            </a:r>
          </a:p>
        </p:txBody>
      </p:sp>
      <p:sp>
        <p:nvSpPr>
          <p:cNvPr id="6" name="Rounded Rectangle 5"/>
          <p:cNvSpPr/>
          <p:nvPr/>
        </p:nvSpPr>
        <p:spPr>
          <a:xfrm>
            <a:off x="6858000" y="1783080"/>
            <a:ext cx="4526280" cy="3520440"/>
          </a:xfrm>
          <a:prstGeom prst="roundRect">
            <a:avLst>
              <a:gd name="adj" fmla="val 5000"/>
            </a:avLst>
          </a:prstGeom>
          <a:solidFill>
            <a:srgbClr val="EEF2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178040" y="1984248"/>
            <a:ext cx="3931920" cy="365760"/>
          </a:xfrm>
          <a:prstGeom prst="rect">
            <a:avLst/>
          </a:prstGeom>
          <a:noFill/>
        </p:spPr>
        <p:txBody>
          <a:bodyPr wrap="square" anchor="t" lIns="0" rIns="0" tIns="0" bIns="0">
            <a:spAutoFit/>
          </a:bodyPr>
          <a:lstStyle/>
          <a:p>
            <a:pPr algn="l">
              <a:lnSpc>
                <a:spcPct val="100000"/>
              </a:lnSpc>
              <a:spcBef>
                <a:spcPts val="0"/>
              </a:spcBef>
              <a:spcAft>
                <a:spcPts val="400"/>
              </a:spcAft>
            </a:pPr>
            <a:r>
              <a:rPr sz="1200" b="1" i="0">
                <a:solidFill>
                  <a:srgbClr val="5F7B4F"/>
                </a:solidFill>
                <a:latin typeface="Arial"/>
              </a:rPr>
              <a:t>WHAT WE MEASURE</a:t>
            </a:r>
          </a:p>
        </p:txBody>
      </p:sp>
      <p:sp>
        <p:nvSpPr>
          <p:cNvPr id="8" name="Rounded Rectangle 7"/>
          <p:cNvSpPr/>
          <p:nvPr/>
        </p:nvSpPr>
        <p:spPr>
          <a:xfrm>
            <a:off x="7132320" y="2395728"/>
            <a:ext cx="3977639" cy="1207008"/>
          </a:xfrm>
          <a:prstGeom prst="roundRect">
            <a:avLst>
              <a:gd name="adj" fmla="val 6000"/>
            </a:avLst>
          </a:prstGeom>
          <a:solidFill>
            <a:srgbClr val="FFFFFF"/>
          </a:solidFill>
          <a:ln w="9525">
            <a:solidFill>
              <a:srgbClr val="E5E4E0"/>
            </a:solidFill>
          </a:ln>
          <a:effectLst/>
          <a:effectLst>
            <a:outerShdw blurRad="80000" dist="30000" dir="5400000" rotWithShape="0">
              <a:srgbClr val="1D1D21">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132320" y="2523744"/>
            <a:ext cx="73152" cy="950976"/>
          </a:xfrm>
          <a:prstGeom prst="rect">
            <a:avLst/>
          </a:prstGeom>
          <a:solidFill>
            <a:srgbClr val="7C9A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406640" y="2523744"/>
            <a:ext cx="3593591" cy="969264"/>
          </a:xfrm>
          <a:prstGeom prst="rect">
            <a:avLst/>
          </a:prstGeom>
          <a:noFill/>
        </p:spPr>
        <p:txBody>
          <a:bodyPr wrap="square" anchor="ctr" lIns="0" rIns="0" tIns="0" bIns="0">
            <a:spAutoFit/>
          </a:bodyPr>
          <a:lstStyle/>
          <a:p>
            <a:pPr algn="l">
              <a:lnSpc>
                <a:spcPct val="102000"/>
              </a:lnSpc>
              <a:spcBef>
                <a:spcPts val="0"/>
              </a:spcBef>
              <a:spcAft>
                <a:spcPts val="300"/>
              </a:spcAft>
            </a:pPr>
            <a:r>
              <a:rPr sz="2900" b="1" i="0">
                <a:solidFill>
                  <a:srgbClr val="7C9A6A"/>
                </a:solidFill>
                <a:latin typeface="Arial"/>
              </a:rPr>
              <a:t>Top 5</a:t>
            </a:r>
          </a:p>
          <a:p>
            <a:pPr algn="l">
              <a:lnSpc>
                <a:spcPct val="102000"/>
              </a:lnSpc>
              <a:spcBef>
                <a:spcPts val="0"/>
              </a:spcBef>
              <a:spcAft>
                <a:spcPts val="300"/>
              </a:spcAft>
            </a:pPr>
            <a:r>
              <a:rPr sz="1250" b="1" i="0">
                <a:solidFill>
                  <a:srgbClr val="1D1D21"/>
                </a:solidFill>
                <a:latin typeface="Arial"/>
              </a:rPr>
              <a:t>Right food shortlisted</a:t>
            </a:r>
          </a:p>
          <a:p>
            <a:pPr algn="l">
              <a:lnSpc>
                <a:spcPct val="102000"/>
              </a:lnSpc>
              <a:spcBef>
                <a:spcPts val="0"/>
              </a:spcBef>
              <a:spcAft>
                <a:spcPts val="300"/>
              </a:spcAft>
            </a:pPr>
            <a:r>
              <a:rPr sz="1050" b="0" i="0">
                <a:solidFill>
                  <a:srgbClr val="6E6F74"/>
                </a:solidFill>
                <a:latin typeface="Arial"/>
              </a:rPr>
              <a:t>is the correct food in the 5 we show?</a:t>
            </a:r>
          </a:p>
        </p:txBody>
      </p:sp>
      <p:sp>
        <p:nvSpPr>
          <p:cNvPr id="11" name="Rounded Rectangle 10"/>
          <p:cNvSpPr/>
          <p:nvPr/>
        </p:nvSpPr>
        <p:spPr>
          <a:xfrm>
            <a:off x="7132320" y="3749039"/>
            <a:ext cx="3977639" cy="1207008"/>
          </a:xfrm>
          <a:prstGeom prst="roundRect">
            <a:avLst>
              <a:gd name="adj" fmla="val 6000"/>
            </a:avLst>
          </a:prstGeom>
          <a:solidFill>
            <a:srgbClr val="FFFFFF"/>
          </a:solidFill>
          <a:ln w="9525">
            <a:solidFill>
              <a:srgbClr val="E5E4E0"/>
            </a:solidFill>
          </a:ln>
          <a:effectLst/>
          <a:effectLst>
            <a:outerShdw blurRad="80000" dist="30000" dir="5400000" rotWithShape="0">
              <a:srgbClr val="1D1D21">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132320" y="3877055"/>
            <a:ext cx="73152" cy="950976"/>
          </a:xfrm>
          <a:prstGeom prst="rect">
            <a:avLst/>
          </a:prstGeom>
          <a:solidFill>
            <a:srgbClr val="5F7B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406640" y="3877055"/>
            <a:ext cx="3593591" cy="969264"/>
          </a:xfrm>
          <a:prstGeom prst="rect">
            <a:avLst/>
          </a:prstGeom>
          <a:noFill/>
        </p:spPr>
        <p:txBody>
          <a:bodyPr wrap="square" anchor="ctr" lIns="0" rIns="0" tIns="0" bIns="0">
            <a:spAutoFit/>
          </a:bodyPr>
          <a:lstStyle/>
          <a:p>
            <a:pPr algn="l">
              <a:lnSpc>
                <a:spcPct val="102000"/>
              </a:lnSpc>
              <a:spcBef>
                <a:spcPts val="0"/>
              </a:spcBef>
              <a:spcAft>
                <a:spcPts val="300"/>
              </a:spcAft>
            </a:pPr>
            <a:r>
              <a:rPr sz="2900" b="1" i="0">
                <a:solidFill>
                  <a:srgbClr val="5F7B4F"/>
                </a:solidFill>
                <a:latin typeface="Arial"/>
              </a:rPr>
              <a:t>3%</a:t>
            </a:r>
          </a:p>
          <a:p>
            <a:pPr algn="l">
              <a:lnSpc>
                <a:spcPct val="102000"/>
              </a:lnSpc>
              <a:spcBef>
                <a:spcPts val="0"/>
              </a:spcBef>
              <a:spcAft>
                <a:spcPts val="300"/>
              </a:spcAft>
            </a:pPr>
            <a:r>
              <a:rPr sz="1250" b="1" i="0">
                <a:solidFill>
                  <a:srgbClr val="1D1D21"/>
                </a:solidFill>
                <a:latin typeface="Arial"/>
              </a:rPr>
              <a:t>Label-error rate</a:t>
            </a:r>
          </a:p>
          <a:p>
            <a:pPr algn="l">
              <a:lnSpc>
                <a:spcPct val="102000"/>
              </a:lnSpc>
              <a:spcBef>
                <a:spcPts val="0"/>
              </a:spcBef>
              <a:spcAft>
                <a:spcPts val="300"/>
              </a:spcAft>
            </a:pPr>
            <a:r>
              <a:rPr sz="1050" b="0" i="0">
                <a:solidFill>
                  <a:srgbClr val="6E6F74"/>
                </a:solidFill>
                <a:latin typeface="Arial"/>
              </a:rPr>
              <a:t>human spot-check of our test answers</a:t>
            </a:r>
          </a:p>
        </p:txBody>
      </p:sp>
      <p:sp>
        <p:nvSpPr>
          <p:cNvPr id="14" name="TextBox 13"/>
          <p:cNvSpPr txBox="1"/>
          <p:nvPr/>
        </p:nvSpPr>
        <p:spPr>
          <a:xfrm>
            <a:off x="7132320" y="5029200"/>
            <a:ext cx="3977639" cy="274320"/>
          </a:xfrm>
          <a:prstGeom prst="rect">
            <a:avLst/>
          </a:prstGeom>
          <a:noFill/>
        </p:spPr>
        <p:txBody>
          <a:bodyPr wrap="square" anchor="t" lIns="0" rIns="0" tIns="0" bIns="0">
            <a:spAutoFit/>
          </a:bodyPr>
          <a:lstStyle/>
          <a:p>
            <a:pPr algn="l">
              <a:lnSpc>
                <a:spcPct val="100000"/>
              </a:lnSpc>
              <a:spcBef>
                <a:spcPts val="0"/>
              </a:spcBef>
              <a:spcAft>
                <a:spcPts val="400"/>
              </a:spcAft>
            </a:pPr>
            <a:r>
              <a:rPr sz="1050" b="0" i="1">
                <a:solidFill>
                  <a:srgbClr val="6E6F74"/>
                </a:solidFill>
                <a:latin typeface="Arial"/>
              </a:rPr>
              <a:t>Technical name: “Recall@5” — see backup.</a:t>
            </a:r>
          </a:p>
        </p:txBody>
      </p:sp>
      <p:sp>
        <p:nvSpPr>
          <p:cNvPr id="15" name="TextBox 14"/>
          <p:cNvSpPr txBox="1"/>
          <p:nvPr/>
        </p:nvSpPr>
        <p:spPr>
          <a:xfrm>
            <a:off x="548640" y="6428232"/>
            <a:ext cx="4572000" cy="274320"/>
          </a:xfrm>
          <a:prstGeom prst="rect">
            <a:avLst/>
          </a:prstGeom>
          <a:noFill/>
        </p:spPr>
        <p:txBody>
          <a:bodyPr wrap="square" anchor="t" lIns="0" rIns="0" tIns="0" bIns="0">
            <a:spAutoFit/>
          </a:bodyPr>
          <a:lstStyle/>
          <a:p>
            <a:pPr algn="l">
              <a:lnSpc>
                <a:spcPct val="100000"/>
              </a:lnSpc>
              <a:spcBef>
                <a:spcPts val="0"/>
              </a:spcBef>
              <a:spcAft>
                <a:spcPts val="400"/>
              </a:spcAft>
            </a:pPr>
            <a:r>
              <a:rPr sz="900" b="1" i="0">
                <a:solidFill>
                  <a:srgbClr val="6E6F74"/>
                </a:solidFill>
                <a:latin typeface="Arial"/>
              </a:rPr>
              <a:t>NutriWise</a:t>
            </a:r>
            <a:r>
              <a:rPr sz="900" b="0" i="0">
                <a:solidFill>
                  <a:srgbClr val="6E6F74"/>
                </a:solidFill>
                <a:latin typeface="Arial"/>
              </a:rPr>
              <a:t>  ·  Final · V0</a:t>
            </a:r>
          </a:p>
        </p:txBody>
      </p:sp>
      <p:sp>
        <p:nvSpPr>
          <p:cNvPr id="16" name="TextBox 15"/>
          <p:cNvSpPr txBox="1"/>
          <p:nvPr/>
        </p:nvSpPr>
        <p:spPr>
          <a:xfrm>
            <a:off x="9875520" y="6428232"/>
            <a:ext cx="1737360" cy="274320"/>
          </a:xfrm>
          <a:prstGeom prst="rect">
            <a:avLst/>
          </a:prstGeom>
          <a:noFill/>
        </p:spPr>
        <p:txBody>
          <a:bodyPr wrap="square" anchor="t" lIns="0" rIns="0" tIns="0" bIns="0">
            <a:spAutoFit/>
          </a:bodyPr>
          <a:lstStyle/>
          <a:p>
            <a:pPr algn="r">
              <a:lnSpc>
                <a:spcPct val="100000"/>
              </a:lnSpc>
              <a:spcBef>
                <a:spcPts val="0"/>
              </a:spcBef>
              <a:spcAft>
                <a:spcPts val="400"/>
              </a:spcAft>
            </a:pPr>
            <a:r>
              <a:rPr sz="900" b="0" i="0">
                <a:solidFill>
                  <a:srgbClr val="6E6F74"/>
                </a:solidFill>
                <a:latin typeface="Arial"/>
              </a:rPr>
              <a:t>09 / 14</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AFAFA"/>
        </a:solidFill>
        <a:effectLst/>
      </p:bgPr>
    </p:bg>
    <p:spTree>
      <p:nvGrpSpPr>
        <p:cNvPr id="1" name=""/>
        <p:cNvGrpSpPr/>
        <p:nvPr/>
      </p:nvGrpSpPr>
      <p:grpSpPr/>
      <p:sp>
        <p:nvSpPr>
          <p:cNvPr id="2" name="TextBox 1"/>
          <p:cNvSpPr txBox="1"/>
          <p:nvPr/>
        </p:nvSpPr>
        <p:spPr>
          <a:xfrm>
            <a:off x="822960" y="548640"/>
            <a:ext cx="9144000" cy="274320"/>
          </a:xfrm>
          <a:prstGeom prst="rect">
            <a:avLst/>
          </a:prstGeom>
          <a:noFill/>
        </p:spPr>
        <p:txBody>
          <a:bodyPr wrap="square" anchor="t" lIns="0" rIns="0" tIns="0" bIns="0">
            <a:spAutoFit/>
          </a:bodyPr>
          <a:lstStyle/>
          <a:p>
            <a:pPr algn="l">
              <a:lnSpc>
                <a:spcPct val="100000"/>
              </a:lnSpc>
              <a:spcBef>
                <a:spcPts val="0"/>
              </a:spcBef>
              <a:spcAft>
                <a:spcPts val="400"/>
              </a:spcAft>
            </a:pPr>
            <a:r>
              <a:rPr sz="1250" b="1" i="0">
                <a:solidFill>
                  <a:srgbClr val="5F7B4F"/>
                </a:solidFill>
                <a:latin typeface="Arial"/>
              </a:rPr>
              <a:t>DATA — SOURCES, SHAPE &amp; CHALLENGES</a:t>
            </a:r>
          </a:p>
        </p:txBody>
      </p:sp>
      <p:sp>
        <p:nvSpPr>
          <p:cNvPr id="3" name="TextBox 2"/>
          <p:cNvSpPr txBox="1"/>
          <p:nvPr/>
        </p:nvSpPr>
        <p:spPr>
          <a:xfrm>
            <a:off x="822960" y="841248"/>
            <a:ext cx="10515600" cy="914400"/>
          </a:xfrm>
          <a:prstGeom prst="rect">
            <a:avLst/>
          </a:prstGeom>
          <a:noFill/>
        </p:spPr>
        <p:txBody>
          <a:bodyPr wrap="square" anchor="t" lIns="0" rIns="0" tIns="0" bIns="0">
            <a:spAutoFit/>
          </a:bodyPr>
          <a:lstStyle/>
          <a:p>
            <a:pPr algn="l">
              <a:lnSpc>
                <a:spcPct val="100000"/>
              </a:lnSpc>
              <a:spcBef>
                <a:spcPts val="0"/>
              </a:spcBef>
              <a:spcAft>
                <a:spcPts val="400"/>
              </a:spcAft>
            </a:pPr>
            <a:r>
              <a:rPr sz="2900" b="1" i="0">
                <a:solidFill>
                  <a:srgbClr val="1D1D21"/>
                </a:solidFill>
                <a:latin typeface="Arial"/>
              </a:rPr>
              <a:t>Three data worlds, stitched together</a:t>
            </a:r>
          </a:p>
        </p:txBody>
      </p:sp>
      <p:sp>
        <p:nvSpPr>
          <p:cNvPr id="4" name="Rectangle 3"/>
          <p:cNvSpPr/>
          <p:nvPr/>
        </p:nvSpPr>
        <p:spPr>
          <a:xfrm>
            <a:off x="841248" y="1481328"/>
            <a:ext cx="1371600" cy="41148"/>
          </a:xfrm>
          <a:prstGeom prst="rect">
            <a:avLst/>
          </a:prstGeom>
          <a:solidFill>
            <a:srgbClr val="7C9A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822960" y="1783080"/>
            <a:ext cx="3319272" cy="1737360"/>
          </a:xfrm>
          <a:prstGeom prst="roundRect">
            <a:avLst>
              <a:gd name="adj" fmla="val 5000"/>
            </a:avLst>
          </a:prstGeom>
          <a:solidFill>
            <a:srgbClr val="FFFFFF"/>
          </a:solidFill>
          <a:ln w="9525">
            <a:solidFill>
              <a:srgbClr val="E5E4E0"/>
            </a:solidFill>
          </a:ln>
          <a:effectLst/>
          <a:effectLst>
            <a:outerShdw blurRad="80000" dist="30000" dir="5400000" rotWithShape="0">
              <a:srgbClr val="1D1D21">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22960" y="1911095"/>
            <a:ext cx="73152" cy="1481328"/>
          </a:xfrm>
          <a:prstGeom prst="rect">
            <a:avLst/>
          </a:prstGeom>
          <a:solidFill>
            <a:srgbClr val="7C9A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115568" y="1965960"/>
            <a:ext cx="2862072" cy="365760"/>
          </a:xfrm>
          <a:prstGeom prst="rect">
            <a:avLst/>
          </a:prstGeom>
          <a:noFill/>
        </p:spPr>
        <p:txBody>
          <a:bodyPr wrap="square" anchor="t" lIns="0" rIns="0" tIns="0" bIns="0">
            <a:spAutoFit/>
          </a:bodyPr>
          <a:lstStyle/>
          <a:p>
            <a:pPr algn="l">
              <a:lnSpc>
                <a:spcPct val="100000"/>
              </a:lnSpc>
              <a:spcBef>
                <a:spcPts val="0"/>
              </a:spcBef>
              <a:spcAft>
                <a:spcPts val="400"/>
              </a:spcAft>
            </a:pPr>
            <a:r>
              <a:rPr sz="1500" b="1" i="0">
                <a:solidFill>
                  <a:srgbClr val="1D1D21"/>
                </a:solidFill>
                <a:latin typeface="Arial"/>
              </a:rPr>
              <a:t>Grocery receipts</a:t>
            </a:r>
          </a:p>
        </p:txBody>
      </p:sp>
      <p:sp>
        <p:nvSpPr>
          <p:cNvPr id="8" name="TextBox 7"/>
          <p:cNvSpPr txBox="1"/>
          <p:nvPr/>
        </p:nvSpPr>
        <p:spPr>
          <a:xfrm>
            <a:off x="1115568" y="2441448"/>
            <a:ext cx="2816352" cy="1005840"/>
          </a:xfrm>
          <a:prstGeom prst="rect">
            <a:avLst/>
          </a:prstGeom>
          <a:noFill/>
        </p:spPr>
        <p:txBody>
          <a:bodyPr wrap="square" anchor="t" lIns="0" rIns="0" tIns="0" bIns="0">
            <a:spAutoFit/>
          </a:bodyPr>
          <a:lstStyle/>
          <a:p>
            <a:pPr algn="l">
              <a:lnSpc>
                <a:spcPct val="110000"/>
              </a:lnSpc>
              <a:spcBef>
                <a:spcPts val="0"/>
              </a:spcBef>
              <a:spcAft>
                <a:spcPts val="400"/>
              </a:spcAft>
            </a:pPr>
            <a:r>
              <a:rPr sz="1150" b="0" i="0">
                <a:solidFill>
                  <a:srgbClr val="6E6F74"/>
                </a:solidFill>
                <a:latin typeface="Arial"/>
              </a:rPr>
              <a:t>Real German receipts (Lidl / Netto / Edeka), read on the phone itself → items. Private: nothing leaves the device.</a:t>
            </a:r>
          </a:p>
        </p:txBody>
      </p:sp>
      <p:sp>
        <p:nvSpPr>
          <p:cNvPr id="9" name="Rounded Rectangle 8"/>
          <p:cNvSpPr/>
          <p:nvPr/>
        </p:nvSpPr>
        <p:spPr>
          <a:xfrm>
            <a:off x="4361688" y="1783080"/>
            <a:ext cx="3319272" cy="1737360"/>
          </a:xfrm>
          <a:prstGeom prst="roundRect">
            <a:avLst>
              <a:gd name="adj" fmla="val 5000"/>
            </a:avLst>
          </a:prstGeom>
          <a:solidFill>
            <a:srgbClr val="FFFFFF"/>
          </a:solidFill>
          <a:ln w="9525">
            <a:solidFill>
              <a:srgbClr val="E5E4E0"/>
            </a:solidFill>
          </a:ln>
          <a:effectLst/>
          <a:effectLst>
            <a:outerShdw blurRad="80000" dist="30000" dir="5400000" rotWithShape="0">
              <a:srgbClr val="1D1D21">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361688" y="1911095"/>
            <a:ext cx="73152" cy="1481328"/>
          </a:xfrm>
          <a:prstGeom prst="rect">
            <a:avLst/>
          </a:prstGeom>
          <a:solidFill>
            <a:srgbClr val="7C9A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654296" y="1965960"/>
            <a:ext cx="2862072" cy="365760"/>
          </a:xfrm>
          <a:prstGeom prst="rect">
            <a:avLst/>
          </a:prstGeom>
          <a:noFill/>
        </p:spPr>
        <p:txBody>
          <a:bodyPr wrap="square" anchor="t" lIns="0" rIns="0" tIns="0" bIns="0">
            <a:spAutoFit/>
          </a:bodyPr>
          <a:lstStyle/>
          <a:p>
            <a:pPr algn="l">
              <a:lnSpc>
                <a:spcPct val="100000"/>
              </a:lnSpc>
              <a:spcBef>
                <a:spcPts val="0"/>
              </a:spcBef>
              <a:spcAft>
                <a:spcPts val="400"/>
              </a:spcAft>
            </a:pPr>
            <a:r>
              <a:rPr sz="1500" b="1" i="0">
                <a:solidFill>
                  <a:srgbClr val="1D1D21"/>
                </a:solidFill>
                <a:latin typeface="Arial"/>
              </a:rPr>
              <a:t>Open Food Facts</a:t>
            </a:r>
          </a:p>
        </p:txBody>
      </p:sp>
      <p:sp>
        <p:nvSpPr>
          <p:cNvPr id="12" name="TextBox 11"/>
          <p:cNvSpPr txBox="1"/>
          <p:nvPr/>
        </p:nvSpPr>
        <p:spPr>
          <a:xfrm>
            <a:off x="4654296" y="2441448"/>
            <a:ext cx="2816352" cy="1005840"/>
          </a:xfrm>
          <a:prstGeom prst="rect">
            <a:avLst/>
          </a:prstGeom>
          <a:noFill/>
        </p:spPr>
        <p:txBody>
          <a:bodyPr wrap="square" anchor="t" lIns="0" rIns="0" tIns="0" bIns="0">
            <a:spAutoFit/>
          </a:bodyPr>
          <a:lstStyle/>
          <a:p>
            <a:pPr algn="l">
              <a:lnSpc>
                <a:spcPct val="110000"/>
              </a:lnSpc>
              <a:spcBef>
                <a:spcPts val="0"/>
              </a:spcBef>
              <a:spcAft>
                <a:spcPts val="400"/>
              </a:spcAft>
            </a:pPr>
            <a:r>
              <a:rPr sz="1150" b="0" i="0">
                <a:solidFill>
                  <a:srgbClr val="6E6F74"/>
                </a:solidFill>
                <a:latin typeface="Arial"/>
              </a:rPr>
              <a:t>Crowd-sourced branded-product data. Backup for products the official table doesn't have.</a:t>
            </a:r>
          </a:p>
        </p:txBody>
      </p:sp>
      <p:sp>
        <p:nvSpPr>
          <p:cNvPr id="13" name="Rounded Rectangle 12"/>
          <p:cNvSpPr/>
          <p:nvPr/>
        </p:nvSpPr>
        <p:spPr>
          <a:xfrm>
            <a:off x="7900416" y="1783080"/>
            <a:ext cx="3319272" cy="1737360"/>
          </a:xfrm>
          <a:prstGeom prst="roundRect">
            <a:avLst>
              <a:gd name="adj" fmla="val 5000"/>
            </a:avLst>
          </a:prstGeom>
          <a:solidFill>
            <a:srgbClr val="FFFFFF"/>
          </a:solidFill>
          <a:ln w="9525">
            <a:solidFill>
              <a:srgbClr val="E5E4E0"/>
            </a:solidFill>
          </a:ln>
          <a:effectLst/>
          <a:effectLst>
            <a:outerShdw blurRad="80000" dist="30000" dir="5400000" rotWithShape="0">
              <a:srgbClr val="1D1D21">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7900416" y="1911095"/>
            <a:ext cx="73152" cy="1481328"/>
          </a:xfrm>
          <a:prstGeom prst="rect">
            <a:avLst/>
          </a:prstGeom>
          <a:solidFill>
            <a:srgbClr val="5F7B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193024" y="1965960"/>
            <a:ext cx="2862072" cy="365760"/>
          </a:xfrm>
          <a:prstGeom prst="rect">
            <a:avLst/>
          </a:prstGeom>
          <a:noFill/>
        </p:spPr>
        <p:txBody>
          <a:bodyPr wrap="square" anchor="t" lIns="0" rIns="0" tIns="0" bIns="0">
            <a:spAutoFit/>
          </a:bodyPr>
          <a:lstStyle/>
          <a:p>
            <a:pPr algn="l">
              <a:lnSpc>
                <a:spcPct val="100000"/>
              </a:lnSpc>
              <a:spcBef>
                <a:spcPts val="0"/>
              </a:spcBef>
              <a:spcAft>
                <a:spcPts val="400"/>
              </a:spcAft>
            </a:pPr>
            <a:r>
              <a:rPr sz="1500" b="1" i="0">
                <a:solidFill>
                  <a:srgbClr val="1D1D21"/>
                </a:solidFill>
                <a:latin typeface="Arial"/>
              </a:rPr>
              <a:t>BLS 4.0 table</a:t>
            </a:r>
          </a:p>
        </p:txBody>
      </p:sp>
      <p:sp>
        <p:nvSpPr>
          <p:cNvPr id="16" name="TextBox 15"/>
          <p:cNvSpPr txBox="1"/>
          <p:nvPr/>
        </p:nvSpPr>
        <p:spPr>
          <a:xfrm>
            <a:off x="8193024" y="2441448"/>
            <a:ext cx="2816352" cy="1005840"/>
          </a:xfrm>
          <a:prstGeom prst="rect">
            <a:avLst/>
          </a:prstGeom>
          <a:noFill/>
        </p:spPr>
        <p:txBody>
          <a:bodyPr wrap="square" anchor="t" lIns="0" rIns="0" tIns="0" bIns="0">
            <a:spAutoFit/>
          </a:bodyPr>
          <a:lstStyle/>
          <a:p>
            <a:pPr algn="l">
              <a:lnSpc>
                <a:spcPct val="110000"/>
              </a:lnSpc>
              <a:spcBef>
                <a:spcPts val="0"/>
              </a:spcBef>
              <a:spcAft>
                <a:spcPts val="400"/>
              </a:spcAft>
            </a:pPr>
            <a:r>
              <a:rPr sz="1150" b="0" i="0">
                <a:solidFill>
                  <a:srgbClr val="6E6F74"/>
                </a:solidFill>
                <a:latin typeface="Arial"/>
              </a:rPr>
              <a:t>German federal food database — ~7,140 foods. Our primary source of reliable nutrients.</a:t>
            </a:r>
          </a:p>
        </p:txBody>
      </p:sp>
      <p:sp>
        <p:nvSpPr>
          <p:cNvPr id="17" name="Rounded Rectangle 16"/>
          <p:cNvSpPr/>
          <p:nvPr/>
        </p:nvSpPr>
        <p:spPr>
          <a:xfrm>
            <a:off x="822960" y="3749039"/>
            <a:ext cx="5074920" cy="1554480"/>
          </a:xfrm>
          <a:prstGeom prst="roundRect">
            <a:avLst>
              <a:gd name="adj" fmla="val 6000"/>
            </a:avLst>
          </a:prstGeom>
          <a:solidFill>
            <a:srgbClr val="EEF2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51560" y="3886200"/>
            <a:ext cx="4663440" cy="365760"/>
          </a:xfrm>
          <a:prstGeom prst="rect">
            <a:avLst/>
          </a:prstGeom>
          <a:noFill/>
        </p:spPr>
        <p:txBody>
          <a:bodyPr wrap="square" anchor="t" lIns="0" rIns="0" tIns="0" bIns="0">
            <a:spAutoFit/>
          </a:bodyPr>
          <a:lstStyle/>
          <a:p>
            <a:pPr algn="l">
              <a:lnSpc>
                <a:spcPct val="100000"/>
              </a:lnSpc>
              <a:spcBef>
                <a:spcPts val="0"/>
              </a:spcBef>
              <a:spcAft>
                <a:spcPts val="400"/>
              </a:spcAft>
            </a:pPr>
            <a:r>
              <a:rPr sz="1150" b="1" i="0">
                <a:solidFill>
                  <a:srgbClr val="5F7B4F"/>
                </a:solidFill>
                <a:latin typeface="Arial"/>
              </a:rPr>
              <a:t>OUR TEST SET (for matching)</a:t>
            </a:r>
          </a:p>
        </p:txBody>
      </p:sp>
      <p:sp>
        <p:nvSpPr>
          <p:cNvPr id="19" name="TextBox 18"/>
          <p:cNvSpPr txBox="1"/>
          <p:nvPr/>
        </p:nvSpPr>
        <p:spPr>
          <a:xfrm>
            <a:off x="1051560" y="4270248"/>
            <a:ext cx="4709160" cy="1005840"/>
          </a:xfrm>
          <a:prstGeom prst="rect">
            <a:avLst/>
          </a:prstGeom>
          <a:noFill/>
        </p:spPr>
        <p:txBody>
          <a:bodyPr wrap="square" anchor="t" lIns="0" rIns="0" tIns="0" bIns="0">
            <a:spAutoFit/>
          </a:bodyPr>
          <a:lstStyle/>
          <a:p>
            <a:pPr algn="l">
              <a:lnSpc>
                <a:spcPct val="112000"/>
              </a:lnSpc>
              <a:spcBef>
                <a:spcPts val="0"/>
              </a:spcBef>
              <a:spcAft>
                <a:spcPts val="300"/>
              </a:spcAft>
            </a:pPr>
            <a:r>
              <a:rPr sz="2000" b="1" i="0">
                <a:solidFill>
                  <a:srgbClr val="5F7B4F"/>
                </a:solidFill>
                <a:latin typeface="Arial"/>
              </a:rPr>
              <a:t>45 → 180</a:t>
            </a:r>
            <a:r>
              <a:rPr sz="1250" b="0" i="0">
                <a:solidFill>
                  <a:srgbClr val="1D1D21"/>
                </a:solidFill>
                <a:latin typeface="Arial"/>
              </a:rPr>
              <a:t>  real receipt lines   ·   </a:t>
            </a:r>
            <a:r>
              <a:rPr sz="1800" b="1" i="0">
                <a:solidFill>
                  <a:srgbClr val="5F7B4F"/>
                </a:solidFill>
                <a:latin typeface="Arial"/>
              </a:rPr>
              <a:t>152</a:t>
            </a:r>
            <a:r>
              <a:rPr sz="1250" b="0" i="0">
                <a:solidFill>
                  <a:srgbClr val="1D1D21"/>
                </a:solidFill>
                <a:latin typeface="Arial"/>
              </a:rPr>
              <a:t> unique</a:t>
            </a:r>
          </a:p>
          <a:p>
            <a:pPr algn="l">
              <a:lnSpc>
                <a:spcPct val="112000"/>
              </a:lnSpc>
              <a:spcBef>
                <a:spcPts val="0"/>
              </a:spcBef>
              <a:spcAft>
                <a:spcPts val="300"/>
              </a:spcAft>
            </a:pPr>
            <a:r>
              <a:rPr sz="1100" b="0" i="0">
                <a:solidFill>
                  <a:srgbClr val="6E6F74"/>
                </a:solidFill>
                <a:latin typeface="Arial"/>
              </a:rPr>
              <a:t>Earlier EDA sample: 76 items across 227 purchases.</a:t>
            </a:r>
          </a:p>
          <a:p>
            <a:pPr algn="l">
              <a:lnSpc>
                <a:spcPct val="112000"/>
              </a:lnSpc>
              <a:spcBef>
                <a:spcPts val="0"/>
              </a:spcBef>
              <a:spcAft>
                <a:spcPts val="300"/>
              </a:spcAft>
            </a:pPr>
            <a:r>
              <a:rPr sz="1100" b="0" i="0">
                <a:solidFill>
                  <a:srgbClr val="6E6F74"/>
                </a:solidFill>
                <a:latin typeface="Arial"/>
              </a:rPr>
              <a:t>Each line checked against all 7,140 foods.</a:t>
            </a:r>
          </a:p>
        </p:txBody>
      </p:sp>
      <p:sp>
        <p:nvSpPr>
          <p:cNvPr id="20" name="Rounded Rectangle 19"/>
          <p:cNvSpPr/>
          <p:nvPr/>
        </p:nvSpPr>
        <p:spPr>
          <a:xfrm>
            <a:off x="6126480" y="3749039"/>
            <a:ext cx="5239512" cy="1554480"/>
          </a:xfrm>
          <a:prstGeom prst="roundRect">
            <a:avLst>
              <a:gd name="adj" fmla="val 5000"/>
            </a:avLst>
          </a:prstGeom>
          <a:solidFill>
            <a:srgbClr val="FFFFFF"/>
          </a:solidFill>
          <a:ln w="9525">
            <a:solidFill>
              <a:srgbClr val="E5E4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355080" y="3886200"/>
            <a:ext cx="4846320" cy="365760"/>
          </a:xfrm>
          <a:prstGeom prst="rect">
            <a:avLst/>
          </a:prstGeom>
          <a:noFill/>
        </p:spPr>
        <p:txBody>
          <a:bodyPr wrap="square" anchor="t" lIns="0" rIns="0" tIns="0" bIns="0">
            <a:spAutoFit/>
          </a:bodyPr>
          <a:lstStyle/>
          <a:p>
            <a:pPr algn="l">
              <a:lnSpc>
                <a:spcPct val="100000"/>
              </a:lnSpc>
              <a:spcBef>
                <a:spcPts val="0"/>
              </a:spcBef>
              <a:spcAft>
                <a:spcPts val="400"/>
              </a:spcAft>
            </a:pPr>
            <a:r>
              <a:rPr sz="1150" b="1" i="0">
                <a:solidFill>
                  <a:srgbClr val="B36A4A"/>
                </a:solidFill>
                <a:latin typeface="Arial"/>
              </a:rPr>
              <a:t>HONEST DATA CHALLENGES</a:t>
            </a:r>
          </a:p>
        </p:txBody>
      </p:sp>
      <p:sp>
        <p:nvSpPr>
          <p:cNvPr id="22" name="TextBox 21"/>
          <p:cNvSpPr txBox="1"/>
          <p:nvPr/>
        </p:nvSpPr>
        <p:spPr>
          <a:xfrm>
            <a:off x="6355080" y="4224528"/>
            <a:ext cx="4892040" cy="365760"/>
          </a:xfrm>
          <a:prstGeom prst="rect">
            <a:avLst/>
          </a:prstGeom>
          <a:noFill/>
        </p:spPr>
        <p:txBody>
          <a:bodyPr wrap="square" anchor="t" lIns="0" rIns="0" tIns="0" bIns="0">
            <a:spAutoFit/>
          </a:bodyPr>
          <a:lstStyle/>
          <a:p>
            <a:pPr algn="l">
              <a:lnSpc>
                <a:spcPct val="100000"/>
              </a:lnSpc>
              <a:spcBef>
                <a:spcPts val="0"/>
              </a:spcBef>
              <a:spcAft>
                <a:spcPts val="400"/>
              </a:spcAft>
            </a:pPr>
            <a:r>
              <a:rPr sz="1200" b="1" i="0">
                <a:solidFill>
                  <a:srgbClr val="B36A4A"/>
                </a:solidFill>
                <a:latin typeface="Arial"/>
              </a:rPr>
              <a:t>•  </a:t>
            </a:r>
            <a:r>
              <a:rPr sz="1150" b="0" i="0">
                <a:solidFill>
                  <a:srgbClr val="1D1D21"/>
                </a:solidFill>
                <a:latin typeface="Arial"/>
              </a:rPr>
              <a:t>Cryptic text, brand-vs-generic (“Budweiser” → “Pilsner Bier”)</a:t>
            </a:r>
          </a:p>
        </p:txBody>
      </p:sp>
      <p:sp>
        <p:nvSpPr>
          <p:cNvPr id="23" name="TextBox 22"/>
          <p:cNvSpPr txBox="1"/>
          <p:nvPr/>
        </p:nvSpPr>
        <p:spPr>
          <a:xfrm>
            <a:off x="6355080" y="4562856"/>
            <a:ext cx="4892040" cy="365760"/>
          </a:xfrm>
          <a:prstGeom prst="rect">
            <a:avLst/>
          </a:prstGeom>
          <a:noFill/>
        </p:spPr>
        <p:txBody>
          <a:bodyPr wrap="square" anchor="t" lIns="0" rIns="0" tIns="0" bIns="0">
            <a:spAutoFit/>
          </a:bodyPr>
          <a:lstStyle/>
          <a:p>
            <a:pPr algn="l">
              <a:lnSpc>
                <a:spcPct val="100000"/>
              </a:lnSpc>
              <a:spcBef>
                <a:spcPts val="0"/>
              </a:spcBef>
              <a:spcAft>
                <a:spcPts val="400"/>
              </a:spcAft>
            </a:pPr>
            <a:r>
              <a:rPr sz="1200" b="1" i="0">
                <a:solidFill>
                  <a:srgbClr val="B36A4A"/>
                </a:solidFill>
                <a:latin typeface="Arial"/>
              </a:rPr>
              <a:t>•  </a:t>
            </a:r>
            <a:r>
              <a:rPr sz="1150" b="0" i="0">
                <a:solidFill>
                  <a:srgbClr val="1D1D21"/>
                </a:solidFill>
                <a:latin typeface="Arial"/>
              </a:rPr>
              <a:t>Real receipts are harder than clean text (brand, size, “bio”)</a:t>
            </a:r>
          </a:p>
        </p:txBody>
      </p:sp>
      <p:sp>
        <p:nvSpPr>
          <p:cNvPr id="24" name="TextBox 23"/>
          <p:cNvSpPr txBox="1"/>
          <p:nvPr/>
        </p:nvSpPr>
        <p:spPr>
          <a:xfrm>
            <a:off x="6355080" y="4901184"/>
            <a:ext cx="4892040" cy="365760"/>
          </a:xfrm>
          <a:prstGeom prst="rect">
            <a:avLst/>
          </a:prstGeom>
          <a:noFill/>
        </p:spPr>
        <p:txBody>
          <a:bodyPr wrap="square" anchor="t" lIns="0" rIns="0" tIns="0" bIns="0">
            <a:spAutoFit/>
          </a:bodyPr>
          <a:lstStyle/>
          <a:p>
            <a:pPr algn="l">
              <a:lnSpc>
                <a:spcPct val="100000"/>
              </a:lnSpc>
              <a:spcBef>
                <a:spcPts val="0"/>
              </a:spcBef>
              <a:spcAft>
                <a:spcPts val="400"/>
              </a:spcAft>
            </a:pPr>
            <a:r>
              <a:rPr sz="1200" b="1" i="0">
                <a:solidFill>
                  <a:srgbClr val="B36A4A"/>
                </a:solidFill>
                <a:latin typeface="Arial"/>
              </a:rPr>
              <a:t>•  </a:t>
            </a:r>
            <a:r>
              <a:rPr sz="1150" b="0" i="0">
                <a:solidFill>
                  <a:srgbClr val="1D1D21"/>
                </a:solidFill>
                <a:latin typeface="Arial"/>
              </a:rPr>
              <a:t>US food database tried &amp; rejected — blind to German foods (Quark, Schmand)</a:t>
            </a:r>
          </a:p>
        </p:txBody>
      </p:sp>
      <p:sp>
        <p:nvSpPr>
          <p:cNvPr id="25" name="TextBox 24"/>
          <p:cNvSpPr txBox="1"/>
          <p:nvPr/>
        </p:nvSpPr>
        <p:spPr>
          <a:xfrm>
            <a:off x="548640" y="6428232"/>
            <a:ext cx="4572000" cy="274320"/>
          </a:xfrm>
          <a:prstGeom prst="rect">
            <a:avLst/>
          </a:prstGeom>
          <a:noFill/>
        </p:spPr>
        <p:txBody>
          <a:bodyPr wrap="square" anchor="t" lIns="0" rIns="0" tIns="0" bIns="0">
            <a:spAutoFit/>
          </a:bodyPr>
          <a:lstStyle/>
          <a:p>
            <a:pPr algn="l">
              <a:lnSpc>
                <a:spcPct val="100000"/>
              </a:lnSpc>
              <a:spcBef>
                <a:spcPts val="0"/>
              </a:spcBef>
              <a:spcAft>
                <a:spcPts val="400"/>
              </a:spcAft>
            </a:pPr>
            <a:r>
              <a:rPr sz="900" b="1" i="0">
                <a:solidFill>
                  <a:srgbClr val="6E6F74"/>
                </a:solidFill>
                <a:latin typeface="Arial"/>
              </a:rPr>
              <a:t>NutriWise</a:t>
            </a:r>
            <a:r>
              <a:rPr sz="900" b="0" i="0">
                <a:solidFill>
                  <a:srgbClr val="6E6F74"/>
                </a:solidFill>
                <a:latin typeface="Arial"/>
              </a:rPr>
              <a:t>  ·  Final · V0</a:t>
            </a:r>
          </a:p>
        </p:txBody>
      </p:sp>
      <p:sp>
        <p:nvSpPr>
          <p:cNvPr id="26" name="TextBox 25"/>
          <p:cNvSpPr txBox="1"/>
          <p:nvPr/>
        </p:nvSpPr>
        <p:spPr>
          <a:xfrm>
            <a:off x="9875520" y="6428232"/>
            <a:ext cx="1737360" cy="274320"/>
          </a:xfrm>
          <a:prstGeom prst="rect">
            <a:avLst/>
          </a:prstGeom>
          <a:noFill/>
        </p:spPr>
        <p:txBody>
          <a:bodyPr wrap="square" anchor="t" lIns="0" rIns="0" tIns="0" bIns="0">
            <a:spAutoFit/>
          </a:bodyPr>
          <a:lstStyle/>
          <a:p>
            <a:pPr algn="r">
              <a:lnSpc>
                <a:spcPct val="100000"/>
              </a:lnSpc>
              <a:spcBef>
                <a:spcPts val="0"/>
              </a:spcBef>
              <a:spcAft>
                <a:spcPts val="400"/>
              </a:spcAft>
            </a:pPr>
            <a:r>
              <a:rPr sz="900" b="0" i="0">
                <a:solidFill>
                  <a:srgbClr val="6E6F74"/>
                </a:solidFill>
                <a:latin typeface="Arial"/>
              </a:rPr>
              <a:t>10 / 14</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AFAFA"/>
        </a:solidFill>
        <a:effectLst/>
      </p:bgPr>
    </p:bg>
    <p:spTree>
      <p:nvGrpSpPr>
        <p:cNvPr id="1" name=""/>
        <p:cNvGrpSpPr/>
        <p:nvPr/>
      </p:nvGrpSpPr>
      <p:grpSpPr/>
      <p:sp>
        <p:nvSpPr>
          <p:cNvPr id="2" name="TextBox 1"/>
          <p:cNvSpPr txBox="1"/>
          <p:nvPr/>
        </p:nvSpPr>
        <p:spPr>
          <a:xfrm>
            <a:off x="822960" y="548640"/>
            <a:ext cx="9144000" cy="274320"/>
          </a:xfrm>
          <a:prstGeom prst="rect">
            <a:avLst/>
          </a:prstGeom>
          <a:noFill/>
        </p:spPr>
        <p:txBody>
          <a:bodyPr wrap="square" anchor="t" lIns="0" rIns="0" tIns="0" bIns="0">
            <a:spAutoFit/>
          </a:bodyPr>
          <a:lstStyle/>
          <a:p>
            <a:pPr algn="l">
              <a:lnSpc>
                <a:spcPct val="100000"/>
              </a:lnSpc>
              <a:spcBef>
                <a:spcPts val="0"/>
              </a:spcBef>
              <a:spcAft>
                <a:spcPts val="400"/>
              </a:spcAft>
            </a:pPr>
            <a:r>
              <a:rPr sz="1250" b="1" i="0">
                <a:solidFill>
                  <a:srgbClr val="5F7B4F"/>
                </a:solidFill>
                <a:latin typeface="Arial"/>
              </a:rPr>
              <a:t>EXPLORATORY DATA ANALYSIS</a:t>
            </a:r>
          </a:p>
        </p:txBody>
      </p:sp>
      <p:sp>
        <p:nvSpPr>
          <p:cNvPr id="3" name="TextBox 2"/>
          <p:cNvSpPr txBox="1"/>
          <p:nvPr/>
        </p:nvSpPr>
        <p:spPr>
          <a:xfrm>
            <a:off x="822960" y="841248"/>
            <a:ext cx="10515600" cy="914400"/>
          </a:xfrm>
          <a:prstGeom prst="rect">
            <a:avLst/>
          </a:prstGeom>
          <a:noFill/>
        </p:spPr>
        <p:txBody>
          <a:bodyPr wrap="square" anchor="t" lIns="0" rIns="0" tIns="0" bIns="0">
            <a:spAutoFit/>
          </a:bodyPr>
          <a:lstStyle/>
          <a:p>
            <a:pPr algn="l">
              <a:lnSpc>
                <a:spcPct val="100000"/>
              </a:lnSpc>
              <a:spcBef>
                <a:spcPts val="0"/>
              </a:spcBef>
              <a:spcAft>
                <a:spcPts val="400"/>
              </a:spcAft>
            </a:pPr>
            <a:r>
              <a:rPr sz="2900" b="1" i="0">
                <a:solidFill>
                  <a:srgbClr val="1D1D21"/>
                </a:solidFill>
                <a:latin typeface="Arial"/>
              </a:rPr>
              <a:t>What real baskets actually look like</a:t>
            </a:r>
          </a:p>
        </p:txBody>
      </p:sp>
      <p:sp>
        <p:nvSpPr>
          <p:cNvPr id="4" name="Rectangle 3"/>
          <p:cNvSpPr/>
          <p:nvPr/>
        </p:nvSpPr>
        <p:spPr>
          <a:xfrm>
            <a:off x="841248" y="1481328"/>
            <a:ext cx="1371600" cy="41148"/>
          </a:xfrm>
          <a:prstGeom prst="rect">
            <a:avLst/>
          </a:prstGeom>
          <a:solidFill>
            <a:srgbClr val="7C9A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822960" y="1783080"/>
            <a:ext cx="5257800" cy="3931920"/>
          </a:xfrm>
          <a:prstGeom prst="roundRect">
            <a:avLst>
              <a:gd name="adj" fmla="val 4000"/>
            </a:avLst>
          </a:prstGeom>
          <a:solidFill>
            <a:srgbClr val="FFFFFF"/>
          </a:solidFill>
          <a:ln w="9525">
            <a:solidFill>
              <a:srgbClr val="E5E4E0"/>
            </a:solidFill>
          </a:ln>
          <a:effectLst/>
          <a:effectLst>
            <a:outerShdw blurRad="80000" dist="30000" dir="5400000" rotWithShape="0">
              <a:srgbClr val="1D1D21">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eda_categories.png"/>
          <p:cNvPicPr>
            <a:picLocks noChangeAspect="1"/>
          </p:cNvPicPr>
          <p:nvPr/>
        </p:nvPicPr>
        <p:blipFill>
          <a:blip r:embed="rId2"/>
          <a:stretch>
            <a:fillRect/>
          </a:stretch>
        </p:blipFill>
        <p:spPr>
          <a:xfrm>
            <a:off x="960120" y="1938528"/>
            <a:ext cx="5591387" cy="3566160"/>
          </a:xfrm>
          <a:prstGeom prst="rect">
            <a:avLst/>
          </a:prstGeom>
        </p:spPr>
      </p:pic>
      <p:sp>
        <p:nvSpPr>
          <p:cNvPr id="7" name="Rounded Rectangle 6"/>
          <p:cNvSpPr/>
          <p:nvPr/>
        </p:nvSpPr>
        <p:spPr>
          <a:xfrm>
            <a:off x="6263640" y="1783080"/>
            <a:ext cx="5102352" cy="3931920"/>
          </a:xfrm>
          <a:prstGeom prst="roundRect">
            <a:avLst>
              <a:gd name="adj" fmla="val 4000"/>
            </a:avLst>
          </a:prstGeom>
          <a:solidFill>
            <a:srgbClr val="FFFFFF"/>
          </a:solidFill>
          <a:ln w="9525">
            <a:solidFill>
              <a:srgbClr val="E5E4E0"/>
            </a:solidFill>
          </a:ln>
          <a:effectLst/>
          <a:effectLst>
            <a:outerShdw blurRad="80000" dist="30000" dir="5400000" rotWithShape="0">
              <a:srgbClr val="1D1D21">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eda_tail.png"/>
          <p:cNvPicPr>
            <a:picLocks noChangeAspect="1"/>
          </p:cNvPicPr>
          <p:nvPr/>
        </p:nvPicPr>
        <p:blipFill>
          <a:blip r:embed="rId3"/>
          <a:stretch>
            <a:fillRect/>
          </a:stretch>
        </p:blipFill>
        <p:spPr>
          <a:xfrm>
            <a:off x="6400800" y="1938528"/>
            <a:ext cx="5591387" cy="3566160"/>
          </a:xfrm>
          <a:prstGeom prst="rect">
            <a:avLst/>
          </a:prstGeom>
        </p:spPr>
      </p:pic>
      <p:sp>
        <p:nvSpPr>
          <p:cNvPr id="9" name="TextBox 8"/>
          <p:cNvSpPr txBox="1"/>
          <p:nvPr/>
        </p:nvSpPr>
        <p:spPr>
          <a:xfrm>
            <a:off x="822960" y="5779008"/>
            <a:ext cx="10515600" cy="457200"/>
          </a:xfrm>
          <a:prstGeom prst="rect">
            <a:avLst/>
          </a:prstGeom>
          <a:noFill/>
        </p:spPr>
        <p:txBody>
          <a:bodyPr wrap="square" anchor="t" lIns="0" rIns="0" tIns="0" bIns="0">
            <a:spAutoFit/>
          </a:bodyPr>
          <a:lstStyle/>
          <a:p>
            <a:pPr algn="l">
              <a:lnSpc>
                <a:spcPct val="105000"/>
              </a:lnSpc>
              <a:spcBef>
                <a:spcPts val="0"/>
              </a:spcBef>
              <a:spcAft>
                <a:spcPts val="400"/>
              </a:spcAft>
            </a:pPr>
            <a:r>
              <a:rPr sz="1250" b="1" i="0">
                <a:solidFill>
                  <a:srgbClr val="5F7B4F"/>
                </a:solidFill>
                <a:latin typeface="Arial"/>
              </a:rPr>
              <a:t>Takeaway:  </a:t>
            </a:r>
            <a:r>
              <a:rPr sz="1250" b="0" i="0">
                <a:solidFill>
                  <a:srgbClr val="1D1D21"/>
                </a:solidFill>
                <a:latin typeface="Arial"/>
              </a:rPr>
              <a:t>baskets are produce- and dairy-heavy, but the long tail is brutal — half the items appear only once, so the matcher must generalise, not memorise.</a:t>
            </a:r>
          </a:p>
        </p:txBody>
      </p:sp>
      <p:sp>
        <p:nvSpPr>
          <p:cNvPr id="10" name="TextBox 9"/>
          <p:cNvSpPr txBox="1"/>
          <p:nvPr/>
        </p:nvSpPr>
        <p:spPr>
          <a:xfrm>
            <a:off x="548640" y="6428232"/>
            <a:ext cx="4572000" cy="274320"/>
          </a:xfrm>
          <a:prstGeom prst="rect">
            <a:avLst/>
          </a:prstGeom>
          <a:noFill/>
        </p:spPr>
        <p:txBody>
          <a:bodyPr wrap="square" anchor="t" lIns="0" rIns="0" tIns="0" bIns="0">
            <a:spAutoFit/>
          </a:bodyPr>
          <a:lstStyle/>
          <a:p>
            <a:pPr algn="l">
              <a:lnSpc>
                <a:spcPct val="100000"/>
              </a:lnSpc>
              <a:spcBef>
                <a:spcPts val="0"/>
              </a:spcBef>
              <a:spcAft>
                <a:spcPts val="400"/>
              </a:spcAft>
            </a:pPr>
            <a:r>
              <a:rPr sz="900" b="1" i="0">
                <a:solidFill>
                  <a:srgbClr val="6E6F74"/>
                </a:solidFill>
                <a:latin typeface="Arial"/>
              </a:rPr>
              <a:t>NutriWise</a:t>
            </a:r>
            <a:r>
              <a:rPr sz="900" b="0" i="0">
                <a:solidFill>
                  <a:srgbClr val="6E6F74"/>
                </a:solidFill>
                <a:latin typeface="Arial"/>
              </a:rPr>
              <a:t>  ·  Final · V0</a:t>
            </a:r>
          </a:p>
        </p:txBody>
      </p:sp>
      <p:sp>
        <p:nvSpPr>
          <p:cNvPr id="11" name="TextBox 10"/>
          <p:cNvSpPr txBox="1"/>
          <p:nvPr/>
        </p:nvSpPr>
        <p:spPr>
          <a:xfrm>
            <a:off x="9875520" y="6428232"/>
            <a:ext cx="1737360" cy="274320"/>
          </a:xfrm>
          <a:prstGeom prst="rect">
            <a:avLst/>
          </a:prstGeom>
          <a:noFill/>
        </p:spPr>
        <p:txBody>
          <a:bodyPr wrap="square" anchor="t" lIns="0" rIns="0" tIns="0" bIns="0">
            <a:spAutoFit/>
          </a:bodyPr>
          <a:lstStyle/>
          <a:p>
            <a:pPr algn="r">
              <a:lnSpc>
                <a:spcPct val="100000"/>
              </a:lnSpc>
              <a:spcBef>
                <a:spcPts val="0"/>
              </a:spcBef>
              <a:spcAft>
                <a:spcPts val="400"/>
              </a:spcAft>
            </a:pPr>
            <a:r>
              <a:rPr sz="900" b="0" i="0">
                <a:solidFill>
                  <a:srgbClr val="6E6F74"/>
                </a:solidFill>
                <a:latin typeface="Arial"/>
              </a:rPr>
              <a:t>11 / 14</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AFAFA"/>
        </a:solidFill>
        <a:effectLst/>
      </p:bgPr>
    </p:bg>
    <p:spTree>
      <p:nvGrpSpPr>
        <p:cNvPr id="1" name=""/>
        <p:cNvGrpSpPr/>
        <p:nvPr/>
      </p:nvGrpSpPr>
      <p:grpSpPr/>
      <p:sp>
        <p:nvSpPr>
          <p:cNvPr id="2" name="TextBox 1"/>
          <p:cNvSpPr txBox="1"/>
          <p:nvPr/>
        </p:nvSpPr>
        <p:spPr>
          <a:xfrm>
            <a:off x="822960" y="548640"/>
            <a:ext cx="9144000" cy="274320"/>
          </a:xfrm>
          <a:prstGeom prst="rect">
            <a:avLst/>
          </a:prstGeom>
          <a:noFill/>
        </p:spPr>
        <p:txBody>
          <a:bodyPr wrap="square" anchor="t" lIns="0" rIns="0" tIns="0" bIns="0">
            <a:spAutoFit/>
          </a:bodyPr>
          <a:lstStyle/>
          <a:p>
            <a:pPr algn="l">
              <a:lnSpc>
                <a:spcPct val="100000"/>
              </a:lnSpc>
              <a:spcBef>
                <a:spcPts val="0"/>
              </a:spcBef>
              <a:spcAft>
                <a:spcPts val="400"/>
              </a:spcAft>
            </a:pPr>
            <a:r>
              <a:rPr sz="1250" b="1" i="0">
                <a:solidFill>
                  <a:srgbClr val="5F7B4F"/>
                </a:solidFill>
                <a:latin typeface="Arial"/>
              </a:rPr>
              <a:t>HOW WE DID IT</a:t>
            </a:r>
          </a:p>
        </p:txBody>
      </p:sp>
      <p:sp>
        <p:nvSpPr>
          <p:cNvPr id="3" name="TextBox 2"/>
          <p:cNvSpPr txBox="1"/>
          <p:nvPr/>
        </p:nvSpPr>
        <p:spPr>
          <a:xfrm>
            <a:off x="822960" y="841248"/>
            <a:ext cx="10698480" cy="914400"/>
          </a:xfrm>
          <a:prstGeom prst="rect">
            <a:avLst/>
          </a:prstGeom>
          <a:noFill/>
        </p:spPr>
        <p:txBody>
          <a:bodyPr wrap="square" anchor="t" lIns="0" rIns="0" tIns="0" bIns="0">
            <a:spAutoFit/>
          </a:bodyPr>
          <a:lstStyle/>
          <a:p>
            <a:pPr algn="l">
              <a:lnSpc>
                <a:spcPct val="100000"/>
              </a:lnSpc>
              <a:spcBef>
                <a:spcPts val="0"/>
              </a:spcBef>
              <a:spcAft>
                <a:spcPts val="400"/>
              </a:spcAft>
            </a:pPr>
            <a:r>
              <a:rPr sz="2700" b="1" i="0">
                <a:solidFill>
                  <a:srgbClr val="1D1D21"/>
                </a:solidFill>
                <a:latin typeface="Arial"/>
              </a:rPr>
              <a:t>A simple ladder — safest match first, fallback last</a:t>
            </a:r>
          </a:p>
        </p:txBody>
      </p:sp>
      <p:sp>
        <p:nvSpPr>
          <p:cNvPr id="4" name="Rectangle 3"/>
          <p:cNvSpPr/>
          <p:nvPr/>
        </p:nvSpPr>
        <p:spPr>
          <a:xfrm>
            <a:off x="841248" y="1481328"/>
            <a:ext cx="1371600" cy="41148"/>
          </a:xfrm>
          <a:prstGeom prst="rect">
            <a:avLst/>
          </a:prstGeom>
          <a:solidFill>
            <a:srgbClr val="7C9A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822960" y="1874519"/>
            <a:ext cx="2331720" cy="914400"/>
          </a:xfrm>
          <a:prstGeom prst="roundRect">
            <a:avLst>
              <a:gd name="adj" fmla="val 8000"/>
            </a:avLst>
          </a:prstGeom>
          <a:solidFill>
            <a:srgbClr val="1D1D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2039112"/>
            <a:ext cx="2331720" cy="365760"/>
          </a:xfrm>
          <a:prstGeom prst="rect">
            <a:avLst/>
          </a:prstGeom>
          <a:noFill/>
        </p:spPr>
        <p:txBody>
          <a:bodyPr wrap="square" anchor="t" lIns="0" rIns="0" tIns="0" bIns="0">
            <a:spAutoFit/>
          </a:bodyPr>
          <a:lstStyle/>
          <a:p>
            <a:pPr algn="ctr">
              <a:lnSpc>
                <a:spcPct val="100000"/>
              </a:lnSpc>
              <a:spcBef>
                <a:spcPts val="0"/>
              </a:spcBef>
              <a:spcAft>
                <a:spcPts val="400"/>
              </a:spcAft>
            </a:pPr>
            <a:r>
              <a:rPr sz="1500" b="1" i="0">
                <a:solidFill>
                  <a:srgbClr val="FFFFFF"/>
                </a:solidFill>
                <a:latin typeface="Arial"/>
              </a:rPr>
              <a:t>Receipt</a:t>
            </a:r>
          </a:p>
        </p:txBody>
      </p:sp>
      <p:sp>
        <p:nvSpPr>
          <p:cNvPr id="7" name="TextBox 6"/>
          <p:cNvSpPr txBox="1"/>
          <p:nvPr/>
        </p:nvSpPr>
        <p:spPr>
          <a:xfrm>
            <a:off x="822960" y="2423160"/>
            <a:ext cx="2331720" cy="320040"/>
          </a:xfrm>
          <a:prstGeom prst="rect">
            <a:avLst/>
          </a:prstGeom>
          <a:noFill/>
        </p:spPr>
        <p:txBody>
          <a:bodyPr wrap="square" anchor="t" lIns="0" rIns="0" tIns="0" bIns="0">
            <a:spAutoFit/>
          </a:bodyPr>
          <a:lstStyle/>
          <a:p>
            <a:pPr algn="ctr">
              <a:lnSpc>
                <a:spcPct val="100000"/>
              </a:lnSpc>
              <a:spcBef>
                <a:spcPts val="0"/>
              </a:spcBef>
              <a:spcAft>
                <a:spcPts val="400"/>
              </a:spcAft>
            </a:pPr>
            <a:r>
              <a:rPr sz="1100" b="0" i="0">
                <a:solidFill>
                  <a:srgbClr val="B7C9A9"/>
                </a:solidFill>
                <a:latin typeface="Arial"/>
              </a:rPr>
              <a:t>photo or text</a:t>
            </a:r>
          </a:p>
        </p:txBody>
      </p:sp>
      <p:sp>
        <p:nvSpPr>
          <p:cNvPr id="8" name="TextBox 7"/>
          <p:cNvSpPr txBox="1"/>
          <p:nvPr/>
        </p:nvSpPr>
        <p:spPr>
          <a:xfrm>
            <a:off x="3191256" y="2057400"/>
            <a:ext cx="457200" cy="548640"/>
          </a:xfrm>
          <a:prstGeom prst="rect">
            <a:avLst/>
          </a:prstGeom>
          <a:noFill/>
        </p:spPr>
        <p:txBody>
          <a:bodyPr wrap="square" anchor="t" lIns="0" rIns="0" tIns="0" bIns="0">
            <a:spAutoFit/>
          </a:bodyPr>
          <a:lstStyle/>
          <a:p>
            <a:pPr algn="l">
              <a:lnSpc>
                <a:spcPct val="100000"/>
              </a:lnSpc>
              <a:spcBef>
                <a:spcPts val="0"/>
              </a:spcBef>
              <a:spcAft>
                <a:spcPts val="400"/>
              </a:spcAft>
            </a:pPr>
            <a:r>
              <a:rPr sz="2400" b="1" i="0">
                <a:solidFill>
                  <a:srgbClr val="7C9A6A"/>
                </a:solidFill>
                <a:latin typeface="Arial"/>
              </a:rPr>
              <a:t>→</a:t>
            </a:r>
          </a:p>
        </p:txBody>
      </p:sp>
      <p:sp>
        <p:nvSpPr>
          <p:cNvPr id="9" name="Rounded Rectangle 8"/>
          <p:cNvSpPr/>
          <p:nvPr/>
        </p:nvSpPr>
        <p:spPr>
          <a:xfrm>
            <a:off x="3657599" y="1874519"/>
            <a:ext cx="2331720" cy="914400"/>
          </a:xfrm>
          <a:prstGeom prst="roundRect">
            <a:avLst>
              <a:gd name="adj" fmla="val 8000"/>
            </a:avLst>
          </a:prstGeom>
          <a:solidFill>
            <a:srgbClr val="1D1D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57599" y="2039112"/>
            <a:ext cx="2331720" cy="365760"/>
          </a:xfrm>
          <a:prstGeom prst="rect">
            <a:avLst/>
          </a:prstGeom>
          <a:noFill/>
        </p:spPr>
        <p:txBody>
          <a:bodyPr wrap="square" anchor="t" lIns="0" rIns="0" tIns="0" bIns="0">
            <a:spAutoFit/>
          </a:bodyPr>
          <a:lstStyle/>
          <a:p>
            <a:pPr algn="ctr">
              <a:lnSpc>
                <a:spcPct val="100000"/>
              </a:lnSpc>
              <a:spcBef>
                <a:spcPts val="0"/>
              </a:spcBef>
              <a:spcAft>
                <a:spcPts val="400"/>
              </a:spcAft>
            </a:pPr>
            <a:r>
              <a:rPr sz="1500" b="1" i="0">
                <a:solidFill>
                  <a:srgbClr val="FFFFFF"/>
                </a:solidFill>
                <a:latin typeface="Arial"/>
              </a:rPr>
              <a:t>Read it</a:t>
            </a:r>
          </a:p>
        </p:txBody>
      </p:sp>
      <p:sp>
        <p:nvSpPr>
          <p:cNvPr id="11" name="TextBox 10"/>
          <p:cNvSpPr txBox="1"/>
          <p:nvPr/>
        </p:nvSpPr>
        <p:spPr>
          <a:xfrm>
            <a:off x="3657599" y="2423160"/>
            <a:ext cx="2331720" cy="320040"/>
          </a:xfrm>
          <a:prstGeom prst="rect">
            <a:avLst/>
          </a:prstGeom>
          <a:noFill/>
        </p:spPr>
        <p:txBody>
          <a:bodyPr wrap="square" anchor="t" lIns="0" rIns="0" tIns="0" bIns="0">
            <a:spAutoFit/>
          </a:bodyPr>
          <a:lstStyle/>
          <a:p>
            <a:pPr algn="ctr">
              <a:lnSpc>
                <a:spcPct val="100000"/>
              </a:lnSpc>
              <a:spcBef>
                <a:spcPts val="0"/>
              </a:spcBef>
              <a:spcAft>
                <a:spcPts val="400"/>
              </a:spcAft>
            </a:pPr>
            <a:r>
              <a:rPr sz="1100" b="0" i="0">
                <a:solidFill>
                  <a:srgbClr val="B7C9A9"/>
                </a:solidFill>
                <a:latin typeface="Arial"/>
              </a:rPr>
              <a:t>on the phone → items</a:t>
            </a:r>
          </a:p>
        </p:txBody>
      </p:sp>
      <p:sp>
        <p:nvSpPr>
          <p:cNvPr id="12" name="TextBox 11"/>
          <p:cNvSpPr txBox="1"/>
          <p:nvPr/>
        </p:nvSpPr>
        <p:spPr>
          <a:xfrm>
            <a:off x="6025895" y="2057400"/>
            <a:ext cx="457200" cy="548640"/>
          </a:xfrm>
          <a:prstGeom prst="rect">
            <a:avLst/>
          </a:prstGeom>
          <a:noFill/>
        </p:spPr>
        <p:txBody>
          <a:bodyPr wrap="square" anchor="t" lIns="0" rIns="0" tIns="0" bIns="0">
            <a:spAutoFit/>
          </a:bodyPr>
          <a:lstStyle/>
          <a:p>
            <a:pPr algn="l">
              <a:lnSpc>
                <a:spcPct val="100000"/>
              </a:lnSpc>
              <a:spcBef>
                <a:spcPts val="0"/>
              </a:spcBef>
              <a:spcAft>
                <a:spcPts val="400"/>
              </a:spcAft>
            </a:pPr>
            <a:r>
              <a:rPr sz="2400" b="1" i="0">
                <a:solidFill>
                  <a:srgbClr val="7C9A6A"/>
                </a:solidFill>
                <a:latin typeface="Arial"/>
              </a:rPr>
              <a:t>→</a:t>
            </a:r>
          </a:p>
        </p:txBody>
      </p:sp>
      <p:sp>
        <p:nvSpPr>
          <p:cNvPr id="13" name="Rounded Rectangle 12"/>
          <p:cNvSpPr/>
          <p:nvPr/>
        </p:nvSpPr>
        <p:spPr>
          <a:xfrm>
            <a:off x="6492240" y="1874519"/>
            <a:ext cx="2331720" cy="914400"/>
          </a:xfrm>
          <a:prstGeom prst="roundRect">
            <a:avLst>
              <a:gd name="adj" fmla="val 8000"/>
            </a:avLst>
          </a:prstGeom>
          <a:solidFill>
            <a:srgbClr val="1D1D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92240" y="2039112"/>
            <a:ext cx="2331720" cy="365760"/>
          </a:xfrm>
          <a:prstGeom prst="rect">
            <a:avLst/>
          </a:prstGeom>
          <a:noFill/>
        </p:spPr>
        <p:txBody>
          <a:bodyPr wrap="square" anchor="t" lIns="0" rIns="0" tIns="0" bIns="0">
            <a:spAutoFit/>
          </a:bodyPr>
          <a:lstStyle/>
          <a:p>
            <a:pPr algn="ctr">
              <a:lnSpc>
                <a:spcPct val="100000"/>
              </a:lnSpc>
              <a:spcBef>
                <a:spcPts val="0"/>
              </a:spcBef>
              <a:spcAft>
                <a:spcPts val="400"/>
              </a:spcAft>
            </a:pPr>
            <a:r>
              <a:rPr sz="1500" b="1" i="0">
                <a:solidFill>
                  <a:srgbClr val="FFFFFF"/>
                </a:solidFill>
                <a:latin typeface="Arial"/>
              </a:rPr>
              <a:t>Clean it up</a:t>
            </a:r>
          </a:p>
        </p:txBody>
      </p:sp>
      <p:sp>
        <p:nvSpPr>
          <p:cNvPr id="15" name="TextBox 14"/>
          <p:cNvSpPr txBox="1"/>
          <p:nvPr/>
        </p:nvSpPr>
        <p:spPr>
          <a:xfrm>
            <a:off x="6492240" y="2423160"/>
            <a:ext cx="2331720" cy="320040"/>
          </a:xfrm>
          <a:prstGeom prst="rect">
            <a:avLst/>
          </a:prstGeom>
          <a:noFill/>
        </p:spPr>
        <p:txBody>
          <a:bodyPr wrap="square" anchor="t" lIns="0" rIns="0" tIns="0" bIns="0">
            <a:spAutoFit/>
          </a:bodyPr>
          <a:lstStyle/>
          <a:p>
            <a:pPr algn="ctr">
              <a:lnSpc>
                <a:spcPct val="100000"/>
              </a:lnSpc>
              <a:spcBef>
                <a:spcPts val="0"/>
              </a:spcBef>
              <a:spcAft>
                <a:spcPts val="400"/>
              </a:spcAft>
            </a:pPr>
            <a:r>
              <a:rPr sz="1100" b="0" i="0">
                <a:solidFill>
                  <a:srgbClr val="B7C9A9"/>
                </a:solidFill>
                <a:latin typeface="Arial"/>
              </a:rPr>
              <a:t>drop price · size · brand</a:t>
            </a:r>
          </a:p>
        </p:txBody>
      </p:sp>
      <p:sp>
        <p:nvSpPr>
          <p:cNvPr id="16" name="TextBox 15"/>
          <p:cNvSpPr txBox="1"/>
          <p:nvPr/>
        </p:nvSpPr>
        <p:spPr>
          <a:xfrm>
            <a:off x="9006840" y="2057400"/>
            <a:ext cx="1280160" cy="548640"/>
          </a:xfrm>
          <a:prstGeom prst="rect">
            <a:avLst/>
          </a:prstGeom>
          <a:noFill/>
        </p:spPr>
        <p:txBody>
          <a:bodyPr wrap="square" anchor="t" lIns="0" rIns="0" tIns="0" bIns="0">
            <a:spAutoFit/>
          </a:bodyPr>
          <a:lstStyle/>
          <a:p>
            <a:pPr algn="l">
              <a:lnSpc>
                <a:spcPct val="100000"/>
              </a:lnSpc>
              <a:spcBef>
                <a:spcPts val="0"/>
              </a:spcBef>
              <a:spcAft>
                <a:spcPts val="400"/>
              </a:spcAft>
            </a:pPr>
            <a:r>
              <a:rPr sz="2400" b="1" i="0">
                <a:solidFill>
                  <a:srgbClr val="7C9A6A"/>
                </a:solidFill>
                <a:latin typeface="Arial"/>
              </a:rPr>
              <a:t>→</a:t>
            </a:r>
          </a:p>
        </p:txBody>
      </p:sp>
      <p:sp>
        <p:nvSpPr>
          <p:cNvPr id="17" name="Rounded Rectangle 16"/>
          <p:cNvSpPr/>
          <p:nvPr/>
        </p:nvSpPr>
        <p:spPr>
          <a:xfrm>
            <a:off x="822960" y="3063240"/>
            <a:ext cx="7680960" cy="566928"/>
          </a:xfrm>
          <a:prstGeom prst="roundRect">
            <a:avLst>
              <a:gd name="adj" fmla="val 12000"/>
            </a:avLst>
          </a:prstGeom>
          <a:solidFill>
            <a:srgbClr val="FFFFFF"/>
          </a:solidFill>
          <a:ln w="9525">
            <a:solidFill>
              <a:srgbClr val="E5E4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822960" y="3063240"/>
            <a:ext cx="1691640" cy="566928"/>
          </a:xfrm>
          <a:prstGeom prst="roundRect">
            <a:avLst>
              <a:gd name="adj" fmla="val 12000"/>
            </a:avLst>
          </a:prstGeom>
          <a:solidFill>
            <a:srgbClr val="5F7B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22960" y="3063240"/>
            <a:ext cx="1691640" cy="566928"/>
          </a:xfrm>
          <a:prstGeom prst="rect">
            <a:avLst/>
          </a:prstGeom>
          <a:noFill/>
        </p:spPr>
        <p:txBody>
          <a:bodyPr wrap="square" anchor="ctr" lIns="0" rIns="0" tIns="0" bIns="0">
            <a:spAutoFit/>
          </a:bodyPr>
          <a:lstStyle/>
          <a:p>
            <a:pPr algn="ctr">
              <a:lnSpc>
                <a:spcPct val="100000"/>
              </a:lnSpc>
              <a:spcBef>
                <a:spcPts val="0"/>
              </a:spcBef>
              <a:spcAft>
                <a:spcPts val="400"/>
              </a:spcAft>
            </a:pPr>
            <a:r>
              <a:rPr sz="1300" b="1" i="0">
                <a:solidFill>
                  <a:srgbClr val="FFFFFF"/>
                </a:solidFill>
                <a:latin typeface="Arial"/>
              </a:rPr>
              <a:t>Known</a:t>
            </a:r>
          </a:p>
        </p:txBody>
      </p:sp>
      <p:sp>
        <p:nvSpPr>
          <p:cNvPr id="20" name="TextBox 19"/>
          <p:cNvSpPr txBox="1"/>
          <p:nvPr/>
        </p:nvSpPr>
        <p:spPr>
          <a:xfrm>
            <a:off x="2697480" y="3063240"/>
            <a:ext cx="3017520" cy="566928"/>
          </a:xfrm>
          <a:prstGeom prst="rect">
            <a:avLst/>
          </a:prstGeom>
          <a:noFill/>
        </p:spPr>
        <p:txBody>
          <a:bodyPr wrap="square" anchor="ctr" lIns="0" rIns="0" tIns="0" bIns="0">
            <a:spAutoFit/>
          </a:bodyPr>
          <a:lstStyle/>
          <a:p>
            <a:pPr algn="l">
              <a:lnSpc>
                <a:spcPct val="100000"/>
              </a:lnSpc>
              <a:spcBef>
                <a:spcPts val="0"/>
              </a:spcBef>
              <a:spcAft>
                <a:spcPts val="400"/>
              </a:spcAft>
            </a:pPr>
            <a:r>
              <a:rPr sz="1350" b="1" i="0">
                <a:solidFill>
                  <a:srgbClr val="1D1D21"/>
                </a:solidFill>
                <a:latin typeface="Arial"/>
              </a:rPr>
              <a:t>A match we've confirmed before</a:t>
            </a:r>
          </a:p>
        </p:txBody>
      </p:sp>
      <p:sp>
        <p:nvSpPr>
          <p:cNvPr id="21" name="TextBox 20"/>
          <p:cNvSpPr txBox="1"/>
          <p:nvPr/>
        </p:nvSpPr>
        <p:spPr>
          <a:xfrm>
            <a:off x="5623560" y="3063240"/>
            <a:ext cx="2788920" cy="566928"/>
          </a:xfrm>
          <a:prstGeom prst="rect">
            <a:avLst/>
          </a:prstGeom>
          <a:noFill/>
        </p:spPr>
        <p:txBody>
          <a:bodyPr wrap="square" anchor="ctr" lIns="0" rIns="0" tIns="0" bIns="0">
            <a:spAutoFit/>
          </a:bodyPr>
          <a:lstStyle/>
          <a:p>
            <a:pPr algn="l">
              <a:lnSpc>
                <a:spcPct val="100000"/>
              </a:lnSpc>
              <a:spcBef>
                <a:spcPts val="0"/>
              </a:spcBef>
              <a:spcAft>
                <a:spcPts val="400"/>
              </a:spcAft>
            </a:pPr>
            <a:r>
              <a:rPr sz="1150" b="0" i="1">
                <a:solidFill>
                  <a:srgbClr val="6E6F74"/>
                </a:solidFill>
                <a:latin typeface="Arial"/>
              </a:rPr>
              <a:t>always trusted</a:t>
            </a:r>
          </a:p>
        </p:txBody>
      </p:sp>
      <p:sp>
        <p:nvSpPr>
          <p:cNvPr id="22" name="Rounded Rectangle 21"/>
          <p:cNvSpPr/>
          <p:nvPr/>
        </p:nvSpPr>
        <p:spPr>
          <a:xfrm>
            <a:off x="822960" y="3721608"/>
            <a:ext cx="7680960" cy="566928"/>
          </a:xfrm>
          <a:prstGeom prst="roundRect">
            <a:avLst>
              <a:gd name="adj" fmla="val 12000"/>
            </a:avLst>
          </a:prstGeom>
          <a:solidFill>
            <a:srgbClr val="FFFFFF"/>
          </a:solidFill>
          <a:ln w="9525">
            <a:solidFill>
              <a:srgbClr val="E5E4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822960" y="3721608"/>
            <a:ext cx="1691640" cy="566928"/>
          </a:xfrm>
          <a:prstGeom prst="roundRect">
            <a:avLst>
              <a:gd name="adj" fmla="val 12000"/>
            </a:avLst>
          </a:prstGeom>
          <a:solidFill>
            <a:srgbClr val="7C9A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22960" y="3721608"/>
            <a:ext cx="1691640" cy="566928"/>
          </a:xfrm>
          <a:prstGeom prst="rect">
            <a:avLst/>
          </a:prstGeom>
          <a:noFill/>
        </p:spPr>
        <p:txBody>
          <a:bodyPr wrap="square" anchor="ctr" lIns="0" rIns="0" tIns="0" bIns="0">
            <a:spAutoFit/>
          </a:bodyPr>
          <a:lstStyle/>
          <a:p>
            <a:pPr algn="ctr">
              <a:lnSpc>
                <a:spcPct val="100000"/>
              </a:lnSpc>
              <a:spcBef>
                <a:spcPts val="0"/>
              </a:spcBef>
              <a:spcAft>
                <a:spcPts val="400"/>
              </a:spcAft>
            </a:pPr>
            <a:r>
              <a:rPr sz="1300" b="1" i="0">
                <a:solidFill>
                  <a:srgbClr val="FFFFFF"/>
                </a:solidFill>
                <a:latin typeface="Arial"/>
              </a:rPr>
              <a:t>German table</a:t>
            </a:r>
          </a:p>
        </p:txBody>
      </p:sp>
      <p:sp>
        <p:nvSpPr>
          <p:cNvPr id="25" name="TextBox 24"/>
          <p:cNvSpPr txBox="1"/>
          <p:nvPr/>
        </p:nvSpPr>
        <p:spPr>
          <a:xfrm>
            <a:off x="2697480" y="3721608"/>
            <a:ext cx="3017520" cy="566928"/>
          </a:xfrm>
          <a:prstGeom prst="rect">
            <a:avLst/>
          </a:prstGeom>
          <a:noFill/>
        </p:spPr>
        <p:txBody>
          <a:bodyPr wrap="square" anchor="ctr" lIns="0" rIns="0" tIns="0" bIns="0">
            <a:spAutoFit/>
          </a:bodyPr>
          <a:lstStyle/>
          <a:p>
            <a:pPr algn="l">
              <a:lnSpc>
                <a:spcPct val="100000"/>
              </a:lnSpc>
              <a:spcBef>
                <a:spcPts val="0"/>
              </a:spcBef>
              <a:spcAft>
                <a:spcPts val="400"/>
              </a:spcAft>
            </a:pPr>
            <a:r>
              <a:rPr sz="1350" b="1" i="0">
                <a:solidFill>
                  <a:srgbClr val="1D1D21"/>
                </a:solidFill>
                <a:latin typeface="Arial"/>
              </a:rPr>
              <a:t>The official food database</a:t>
            </a:r>
          </a:p>
        </p:txBody>
      </p:sp>
      <p:sp>
        <p:nvSpPr>
          <p:cNvPr id="26" name="TextBox 25"/>
          <p:cNvSpPr txBox="1"/>
          <p:nvPr/>
        </p:nvSpPr>
        <p:spPr>
          <a:xfrm>
            <a:off x="5623560" y="3721608"/>
            <a:ext cx="2788920" cy="566928"/>
          </a:xfrm>
          <a:prstGeom prst="rect">
            <a:avLst/>
          </a:prstGeom>
          <a:noFill/>
        </p:spPr>
        <p:txBody>
          <a:bodyPr wrap="square" anchor="ctr" lIns="0" rIns="0" tIns="0" bIns="0">
            <a:spAutoFit/>
          </a:bodyPr>
          <a:lstStyle/>
          <a:p>
            <a:pPr algn="l">
              <a:lnSpc>
                <a:spcPct val="100000"/>
              </a:lnSpc>
              <a:spcBef>
                <a:spcPts val="0"/>
              </a:spcBef>
              <a:spcAft>
                <a:spcPts val="400"/>
              </a:spcAft>
            </a:pPr>
            <a:r>
              <a:rPr sz="1150" b="0" i="1">
                <a:solidFill>
                  <a:srgbClr val="6E6F74"/>
                </a:solidFill>
                <a:latin typeface="Arial"/>
              </a:rPr>
              <a:t>our main source · almost every line</a:t>
            </a:r>
          </a:p>
        </p:txBody>
      </p:sp>
      <p:sp>
        <p:nvSpPr>
          <p:cNvPr id="27" name="Rounded Rectangle 26"/>
          <p:cNvSpPr/>
          <p:nvPr/>
        </p:nvSpPr>
        <p:spPr>
          <a:xfrm>
            <a:off x="822960" y="4379976"/>
            <a:ext cx="7680960" cy="566928"/>
          </a:xfrm>
          <a:prstGeom prst="roundRect">
            <a:avLst>
              <a:gd name="adj" fmla="val 12000"/>
            </a:avLst>
          </a:prstGeom>
          <a:solidFill>
            <a:srgbClr val="FFFFFF"/>
          </a:solidFill>
          <a:ln w="9525">
            <a:solidFill>
              <a:srgbClr val="E5E4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ounded Rectangle 27"/>
          <p:cNvSpPr/>
          <p:nvPr/>
        </p:nvSpPr>
        <p:spPr>
          <a:xfrm>
            <a:off x="822960" y="4379976"/>
            <a:ext cx="1691640" cy="566928"/>
          </a:xfrm>
          <a:prstGeom prst="roundRect">
            <a:avLst>
              <a:gd name="adj" fmla="val 12000"/>
            </a:avLst>
          </a:prstGeom>
          <a:solidFill>
            <a:srgbClr val="B7C9A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22960" y="4379976"/>
            <a:ext cx="1691640" cy="566928"/>
          </a:xfrm>
          <a:prstGeom prst="rect">
            <a:avLst/>
          </a:prstGeom>
          <a:noFill/>
        </p:spPr>
        <p:txBody>
          <a:bodyPr wrap="square" anchor="ctr" lIns="0" rIns="0" tIns="0" bIns="0">
            <a:spAutoFit/>
          </a:bodyPr>
          <a:lstStyle/>
          <a:p>
            <a:pPr algn="ctr">
              <a:lnSpc>
                <a:spcPct val="100000"/>
              </a:lnSpc>
              <a:spcBef>
                <a:spcPts val="0"/>
              </a:spcBef>
              <a:spcAft>
                <a:spcPts val="400"/>
              </a:spcAft>
            </a:pPr>
            <a:r>
              <a:rPr sz="1300" b="1" i="0">
                <a:solidFill>
                  <a:srgbClr val="1D1D21"/>
                </a:solidFill>
                <a:latin typeface="Arial"/>
              </a:rPr>
              <a:t>Branded</a:t>
            </a:r>
          </a:p>
        </p:txBody>
      </p:sp>
      <p:sp>
        <p:nvSpPr>
          <p:cNvPr id="30" name="TextBox 29"/>
          <p:cNvSpPr txBox="1"/>
          <p:nvPr/>
        </p:nvSpPr>
        <p:spPr>
          <a:xfrm>
            <a:off x="2697480" y="4379976"/>
            <a:ext cx="3017520" cy="566928"/>
          </a:xfrm>
          <a:prstGeom prst="rect">
            <a:avLst/>
          </a:prstGeom>
          <a:noFill/>
        </p:spPr>
        <p:txBody>
          <a:bodyPr wrap="square" anchor="ctr" lIns="0" rIns="0" tIns="0" bIns="0">
            <a:spAutoFit/>
          </a:bodyPr>
          <a:lstStyle/>
          <a:p>
            <a:pPr algn="l">
              <a:lnSpc>
                <a:spcPct val="100000"/>
              </a:lnSpc>
              <a:spcBef>
                <a:spcPts val="0"/>
              </a:spcBef>
              <a:spcAft>
                <a:spcPts val="400"/>
              </a:spcAft>
            </a:pPr>
            <a:r>
              <a:rPr sz="1350" b="1" i="0">
                <a:solidFill>
                  <a:srgbClr val="1D1D21"/>
                </a:solidFill>
                <a:latin typeface="Arial"/>
              </a:rPr>
              <a:t>Open Food Facts fallback</a:t>
            </a:r>
          </a:p>
        </p:txBody>
      </p:sp>
      <p:sp>
        <p:nvSpPr>
          <p:cNvPr id="31" name="TextBox 30"/>
          <p:cNvSpPr txBox="1"/>
          <p:nvPr/>
        </p:nvSpPr>
        <p:spPr>
          <a:xfrm>
            <a:off x="5623560" y="4379976"/>
            <a:ext cx="2788920" cy="566928"/>
          </a:xfrm>
          <a:prstGeom prst="rect">
            <a:avLst/>
          </a:prstGeom>
          <a:noFill/>
        </p:spPr>
        <p:txBody>
          <a:bodyPr wrap="square" anchor="ctr" lIns="0" rIns="0" tIns="0" bIns="0">
            <a:spAutoFit/>
          </a:bodyPr>
          <a:lstStyle/>
          <a:p>
            <a:pPr algn="l">
              <a:lnSpc>
                <a:spcPct val="100000"/>
              </a:lnSpc>
              <a:spcBef>
                <a:spcPts val="0"/>
              </a:spcBef>
              <a:spcAft>
                <a:spcPts val="400"/>
              </a:spcAft>
            </a:pPr>
            <a:r>
              <a:rPr sz="1150" b="0" i="1">
                <a:solidFill>
                  <a:srgbClr val="6E6F74"/>
                </a:solidFill>
                <a:latin typeface="Arial"/>
              </a:rPr>
              <a:t>only for branded gaps</a:t>
            </a:r>
          </a:p>
        </p:txBody>
      </p:sp>
      <p:sp>
        <p:nvSpPr>
          <p:cNvPr id="32" name="Rounded Rectangle 31"/>
          <p:cNvSpPr/>
          <p:nvPr/>
        </p:nvSpPr>
        <p:spPr>
          <a:xfrm>
            <a:off x="822960" y="5038344"/>
            <a:ext cx="7680960" cy="566928"/>
          </a:xfrm>
          <a:prstGeom prst="roundRect">
            <a:avLst>
              <a:gd name="adj" fmla="val 12000"/>
            </a:avLst>
          </a:prstGeom>
          <a:solidFill>
            <a:srgbClr val="FFFFFF"/>
          </a:solidFill>
          <a:ln w="9525">
            <a:solidFill>
              <a:srgbClr val="E5E4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ounded Rectangle 32"/>
          <p:cNvSpPr/>
          <p:nvPr/>
        </p:nvSpPr>
        <p:spPr>
          <a:xfrm>
            <a:off x="822960" y="5038344"/>
            <a:ext cx="1691640" cy="566928"/>
          </a:xfrm>
          <a:prstGeom prst="roundRect">
            <a:avLst>
              <a:gd name="adj" fmla="val 12000"/>
            </a:avLst>
          </a:prstGeom>
          <a:solidFill>
            <a:srgbClr val="CFC9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822960" y="5038344"/>
            <a:ext cx="1691640" cy="566928"/>
          </a:xfrm>
          <a:prstGeom prst="rect">
            <a:avLst/>
          </a:prstGeom>
          <a:noFill/>
        </p:spPr>
        <p:txBody>
          <a:bodyPr wrap="square" anchor="ctr" lIns="0" rIns="0" tIns="0" bIns="0">
            <a:spAutoFit/>
          </a:bodyPr>
          <a:lstStyle/>
          <a:p>
            <a:pPr algn="ctr">
              <a:lnSpc>
                <a:spcPct val="100000"/>
              </a:lnSpc>
              <a:spcBef>
                <a:spcPts val="0"/>
              </a:spcBef>
              <a:spcAft>
                <a:spcPts val="400"/>
              </a:spcAft>
            </a:pPr>
            <a:r>
              <a:rPr sz="1300" b="1" i="0">
                <a:solidFill>
                  <a:srgbClr val="1D1D21"/>
                </a:solidFill>
                <a:latin typeface="Arial"/>
              </a:rPr>
              <a:t>Unsure</a:t>
            </a:r>
          </a:p>
        </p:txBody>
      </p:sp>
      <p:sp>
        <p:nvSpPr>
          <p:cNvPr id="35" name="TextBox 34"/>
          <p:cNvSpPr txBox="1"/>
          <p:nvPr/>
        </p:nvSpPr>
        <p:spPr>
          <a:xfrm>
            <a:off x="2697480" y="5038344"/>
            <a:ext cx="3017520" cy="566928"/>
          </a:xfrm>
          <a:prstGeom prst="rect">
            <a:avLst/>
          </a:prstGeom>
          <a:noFill/>
        </p:spPr>
        <p:txBody>
          <a:bodyPr wrap="square" anchor="ctr" lIns="0" rIns="0" tIns="0" bIns="0">
            <a:spAutoFit/>
          </a:bodyPr>
          <a:lstStyle/>
          <a:p>
            <a:pPr algn="l">
              <a:lnSpc>
                <a:spcPct val="100000"/>
              </a:lnSpc>
              <a:spcBef>
                <a:spcPts val="0"/>
              </a:spcBef>
              <a:spcAft>
                <a:spcPts val="400"/>
              </a:spcAft>
            </a:pPr>
            <a:r>
              <a:rPr sz="1350" b="1" i="0">
                <a:solidFill>
                  <a:srgbClr val="1D1D21"/>
                </a:solidFill>
                <a:latin typeface="Arial"/>
              </a:rPr>
              <a:t>Left honest, not guessed</a:t>
            </a:r>
          </a:p>
        </p:txBody>
      </p:sp>
      <p:sp>
        <p:nvSpPr>
          <p:cNvPr id="36" name="TextBox 35"/>
          <p:cNvSpPr txBox="1"/>
          <p:nvPr/>
        </p:nvSpPr>
        <p:spPr>
          <a:xfrm>
            <a:off x="5623560" y="5038344"/>
            <a:ext cx="2788920" cy="566928"/>
          </a:xfrm>
          <a:prstGeom prst="rect">
            <a:avLst/>
          </a:prstGeom>
          <a:noFill/>
        </p:spPr>
        <p:txBody>
          <a:bodyPr wrap="square" anchor="ctr" lIns="0" rIns="0" tIns="0" bIns="0">
            <a:spAutoFit/>
          </a:bodyPr>
          <a:lstStyle/>
          <a:p>
            <a:pPr algn="l">
              <a:lnSpc>
                <a:spcPct val="100000"/>
              </a:lnSpc>
              <a:spcBef>
                <a:spcPts val="0"/>
              </a:spcBef>
              <a:spcAft>
                <a:spcPts val="400"/>
              </a:spcAft>
            </a:pPr>
            <a:r>
              <a:rPr sz="1150" b="0" i="1">
                <a:solidFill>
                  <a:srgbClr val="6E6F74"/>
                </a:solidFill>
                <a:latin typeface="Arial"/>
              </a:rPr>
              <a:t>a few lines we don't force</a:t>
            </a:r>
          </a:p>
        </p:txBody>
      </p:sp>
      <p:sp>
        <p:nvSpPr>
          <p:cNvPr id="37" name="Rounded Rectangle 36"/>
          <p:cNvSpPr/>
          <p:nvPr/>
        </p:nvSpPr>
        <p:spPr>
          <a:xfrm>
            <a:off x="8823960" y="3063240"/>
            <a:ext cx="2542032" cy="2542032"/>
          </a:xfrm>
          <a:prstGeom prst="roundRect">
            <a:avLst>
              <a:gd name="adj" fmla="val 6000"/>
            </a:avLst>
          </a:prstGeom>
          <a:solidFill>
            <a:srgbClr val="EEF2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9006840" y="3246120"/>
            <a:ext cx="2194560" cy="365760"/>
          </a:xfrm>
          <a:prstGeom prst="rect">
            <a:avLst/>
          </a:prstGeom>
          <a:noFill/>
        </p:spPr>
        <p:txBody>
          <a:bodyPr wrap="square" anchor="t" lIns="0" rIns="0" tIns="0" bIns="0">
            <a:spAutoFit/>
          </a:bodyPr>
          <a:lstStyle/>
          <a:p>
            <a:pPr algn="l">
              <a:lnSpc>
                <a:spcPct val="100000"/>
              </a:lnSpc>
              <a:spcBef>
                <a:spcPts val="0"/>
              </a:spcBef>
              <a:spcAft>
                <a:spcPts val="400"/>
              </a:spcAft>
            </a:pPr>
            <a:r>
              <a:rPr sz="1150" b="1" i="0">
                <a:solidFill>
                  <a:srgbClr val="5F7B4F"/>
                </a:solidFill>
                <a:latin typeface="Arial"/>
              </a:rPr>
              <a:t>OUT COMES</a:t>
            </a:r>
          </a:p>
        </p:txBody>
      </p:sp>
      <p:sp>
        <p:nvSpPr>
          <p:cNvPr id="39" name="TextBox 38"/>
          <p:cNvSpPr txBox="1"/>
          <p:nvPr/>
        </p:nvSpPr>
        <p:spPr>
          <a:xfrm>
            <a:off x="9006840" y="3657600"/>
            <a:ext cx="2286000" cy="457200"/>
          </a:xfrm>
          <a:prstGeom prst="rect">
            <a:avLst/>
          </a:prstGeom>
          <a:noFill/>
        </p:spPr>
        <p:txBody>
          <a:bodyPr wrap="square" anchor="t" lIns="0" rIns="0" tIns="0" bIns="0">
            <a:spAutoFit/>
          </a:bodyPr>
          <a:lstStyle/>
          <a:p>
            <a:pPr algn="l">
              <a:lnSpc>
                <a:spcPct val="100000"/>
              </a:lnSpc>
              <a:spcBef>
                <a:spcPts val="0"/>
              </a:spcBef>
              <a:spcAft>
                <a:spcPts val="400"/>
              </a:spcAft>
            </a:pPr>
            <a:r>
              <a:rPr sz="1200" b="1" i="0">
                <a:solidFill>
                  <a:srgbClr val="7C9A6A"/>
                </a:solidFill>
                <a:latin typeface="Arial"/>
              </a:rPr>
              <a:t>• </a:t>
            </a:r>
            <a:r>
              <a:rPr sz="1200" b="0" i="0">
                <a:solidFill>
                  <a:srgbClr val="1D1D21"/>
                </a:solidFill>
                <a:latin typeface="Arial"/>
              </a:rPr>
              <a:t>Nutrients (per food)</a:t>
            </a:r>
          </a:p>
        </p:txBody>
      </p:sp>
      <p:sp>
        <p:nvSpPr>
          <p:cNvPr id="40" name="TextBox 39"/>
          <p:cNvSpPr txBox="1"/>
          <p:nvPr/>
        </p:nvSpPr>
        <p:spPr>
          <a:xfrm>
            <a:off x="9006840" y="4142232"/>
            <a:ext cx="2286000" cy="457200"/>
          </a:xfrm>
          <a:prstGeom prst="rect">
            <a:avLst/>
          </a:prstGeom>
          <a:noFill/>
        </p:spPr>
        <p:txBody>
          <a:bodyPr wrap="square" anchor="t" lIns="0" rIns="0" tIns="0" bIns="0">
            <a:spAutoFit/>
          </a:bodyPr>
          <a:lstStyle/>
          <a:p>
            <a:pPr algn="l">
              <a:lnSpc>
                <a:spcPct val="100000"/>
              </a:lnSpc>
              <a:spcBef>
                <a:spcPts val="0"/>
              </a:spcBef>
              <a:spcAft>
                <a:spcPts val="400"/>
              </a:spcAft>
            </a:pPr>
            <a:r>
              <a:rPr sz="1200" b="1" i="0">
                <a:solidFill>
                  <a:srgbClr val="7C9A6A"/>
                </a:solidFill>
                <a:latin typeface="Arial"/>
              </a:rPr>
              <a:t>• </a:t>
            </a:r>
            <a:r>
              <a:rPr sz="1200" b="0" i="0">
                <a:solidFill>
                  <a:srgbClr val="1D1D21"/>
                </a:solidFill>
                <a:latin typeface="Arial"/>
              </a:rPr>
              <a:t>A confidence label</a:t>
            </a:r>
          </a:p>
        </p:txBody>
      </p:sp>
      <p:sp>
        <p:nvSpPr>
          <p:cNvPr id="41" name="TextBox 40"/>
          <p:cNvSpPr txBox="1"/>
          <p:nvPr/>
        </p:nvSpPr>
        <p:spPr>
          <a:xfrm>
            <a:off x="9006840" y="4626864"/>
            <a:ext cx="2286000" cy="457200"/>
          </a:xfrm>
          <a:prstGeom prst="rect">
            <a:avLst/>
          </a:prstGeom>
          <a:noFill/>
        </p:spPr>
        <p:txBody>
          <a:bodyPr wrap="square" anchor="t" lIns="0" rIns="0" tIns="0" bIns="0">
            <a:spAutoFit/>
          </a:bodyPr>
          <a:lstStyle/>
          <a:p>
            <a:pPr algn="l">
              <a:lnSpc>
                <a:spcPct val="100000"/>
              </a:lnSpc>
              <a:spcBef>
                <a:spcPts val="0"/>
              </a:spcBef>
              <a:spcAft>
                <a:spcPts val="400"/>
              </a:spcAft>
            </a:pPr>
            <a:r>
              <a:rPr sz="1200" b="1" i="0">
                <a:solidFill>
                  <a:srgbClr val="7C9A6A"/>
                </a:solidFill>
                <a:latin typeface="Arial"/>
              </a:rPr>
              <a:t>• </a:t>
            </a:r>
            <a:r>
              <a:rPr sz="1200" b="0" i="0">
                <a:solidFill>
                  <a:srgbClr val="1D1D21"/>
                </a:solidFill>
                <a:latin typeface="Arial"/>
              </a:rPr>
              <a:t>Where the number came from</a:t>
            </a:r>
          </a:p>
        </p:txBody>
      </p:sp>
      <p:sp>
        <p:nvSpPr>
          <p:cNvPr id="42" name="TextBox 41"/>
          <p:cNvSpPr txBox="1"/>
          <p:nvPr/>
        </p:nvSpPr>
        <p:spPr>
          <a:xfrm>
            <a:off x="9006840" y="5111496"/>
            <a:ext cx="2286000" cy="457200"/>
          </a:xfrm>
          <a:prstGeom prst="rect">
            <a:avLst/>
          </a:prstGeom>
          <a:noFill/>
        </p:spPr>
        <p:txBody>
          <a:bodyPr wrap="square" anchor="t" lIns="0" rIns="0" tIns="0" bIns="0">
            <a:spAutoFit/>
          </a:bodyPr>
          <a:lstStyle/>
          <a:p>
            <a:pPr algn="l">
              <a:lnSpc>
                <a:spcPct val="100000"/>
              </a:lnSpc>
              <a:spcBef>
                <a:spcPts val="0"/>
              </a:spcBef>
              <a:spcAft>
                <a:spcPts val="400"/>
              </a:spcAft>
            </a:pPr>
            <a:r>
              <a:rPr sz="1200" b="1" i="0">
                <a:solidFill>
                  <a:srgbClr val="7C9A6A"/>
                </a:solidFill>
                <a:latin typeface="Arial"/>
              </a:rPr>
              <a:t>• </a:t>
            </a:r>
            <a:r>
              <a:rPr sz="1200" b="0" i="0">
                <a:solidFill>
                  <a:srgbClr val="1D1D21"/>
                </a:solidFill>
                <a:latin typeface="Arial"/>
              </a:rPr>
              <a:t>→ Gaps + Next Cart</a:t>
            </a:r>
          </a:p>
        </p:txBody>
      </p:sp>
      <p:sp>
        <p:nvSpPr>
          <p:cNvPr id="43" name="TextBox 42"/>
          <p:cNvSpPr txBox="1"/>
          <p:nvPr/>
        </p:nvSpPr>
        <p:spPr>
          <a:xfrm>
            <a:off x="822960" y="5806440"/>
            <a:ext cx="7680960" cy="365760"/>
          </a:xfrm>
          <a:prstGeom prst="rect">
            <a:avLst/>
          </a:prstGeom>
          <a:noFill/>
        </p:spPr>
        <p:txBody>
          <a:bodyPr wrap="square" anchor="t" lIns="0" rIns="0" tIns="0" bIns="0">
            <a:spAutoFit/>
          </a:bodyPr>
          <a:lstStyle/>
          <a:p>
            <a:pPr algn="l">
              <a:lnSpc>
                <a:spcPct val="100000"/>
              </a:lnSpc>
              <a:spcBef>
                <a:spcPts val="0"/>
              </a:spcBef>
              <a:spcAft>
                <a:spcPts val="400"/>
              </a:spcAft>
            </a:pPr>
            <a:r>
              <a:rPr sz="1200" b="0" i="1">
                <a:solidFill>
                  <a:srgbClr val="6E6F74"/>
                </a:solidFill>
                <a:latin typeface="Arial"/>
              </a:rPr>
              <a:t>Rule-based on purpose — transparent and trustworthy for a health MVP; the “smart” part only breaks ties.</a:t>
            </a:r>
          </a:p>
        </p:txBody>
      </p:sp>
      <p:sp>
        <p:nvSpPr>
          <p:cNvPr id="44" name="TextBox 43"/>
          <p:cNvSpPr txBox="1"/>
          <p:nvPr/>
        </p:nvSpPr>
        <p:spPr>
          <a:xfrm>
            <a:off x="548640" y="6428232"/>
            <a:ext cx="4572000" cy="274320"/>
          </a:xfrm>
          <a:prstGeom prst="rect">
            <a:avLst/>
          </a:prstGeom>
          <a:noFill/>
        </p:spPr>
        <p:txBody>
          <a:bodyPr wrap="square" anchor="t" lIns="0" rIns="0" tIns="0" bIns="0">
            <a:spAutoFit/>
          </a:bodyPr>
          <a:lstStyle/>
          <a:p>
            <a:pPr algn="l">
              <a:lnSpc>
                <a:spcPct val="100000"/>
              </a:lnSpc>
              <a:spcBef>
                <a:spcPts val="0"/>
              </a:spcBef>
              <a:spcAft>
                <a:spcPts val="400"/>
              </a:spcAft>
            </a:pPr>
            <a:r>
              <a:rPr sz="900" b="1" i="0">
                <a:solidFill>
                  <a:srgbClr val="6E6F74"/>
                </a:solidFill>
                <a:latin typeface="Arial"/>
              </a:rPr>
              <a:t>NutriWise</a:t>
            </a:r>
            <a:r>
              <a:rPr sz="900" b="0" i="0">
                <a:solidFill>
                  <a:srgbClr val="6E6F74"/>
                </a:solidFill>
                <a:latin typeface="Arial"/>
              </a:rPr>
              <a:t>  ·  Final · V0</a:t>
            </a:r>
          </a:p>
        </p:txBody>
      </p:sp>
      <p:sp>
        <p:nvSpPr>
          <p:cNvPr id="45" name="TextBox 44"/>
          <p:cNvSpPr txBox="1"/>
          <p:nvPr/>
        </p:nvSpPr>
        <p:spPr>
          <a:xfrm>
            <a:off x="9875520" y="6428232"/>
            <a:ext cx="1737360" cy="274320"/>
          </a:xfrm>
          <a:prstGeom prst="rect">
            <a:avLst/>
          </a:prstGeom>
          <a:noFill/>
        </p:spPr>
        <p:txBody>
          <a:bodyPr wrap="square" anchor="t" lIns="0" rIns="0" tIns="0" bIns="0">
            <a:spAutoFit/>
          </a:bodyPr>
          <a:lstStyle/>
          <a:p>
            <a:pPr algn="r">
              <a:lnSpc>
                <a:spcPct val="100000"/>
              </a:lnSpc>
              <a:spcBef>
                <a:spcPts val="0"/>
              </a:spcBef>
              <a:spcAft>
                <a:spcPts val="400"/>
              </a:spcAft>
            </a:pPr>
            <a:r>
              <a:rPr sz="900" b="0" i="0">
                <a:solidFill>
                  <a:srgbClr val="6E6F74"/>
                </a:solidFill>
                <a:latin typeface="Arial"/>
              </a:rPr>
              <a:t>12 / 14</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AFAFA"/>
        </a:solidFill>
        <a:effectLst/>
      </p:bgPr>
    </p:bg>
    <p:spTree>
      <p:nvGrpSpPr>
        <p:cNvPr id="1" name=""/>
        <p:cNvGrpSpPr/>
        <p:nvPr/>
      </p:nvGrpSpPr>
      <p:grpSpPr/>
      <p:sp>
        <p:nvSpPr>
          <p:cNvPr id="2" name="TextBox 1"/>
          <p:cNvSpPr txBox="1"/>
          <p:nvPr/>
        </p:nvSpPr>
        <p:spPr>
          <a:xfrm>
            <a:off x="822960" y="548640"/>
            <a:ext cx="9144000" cy="274320"/>
          </a:xfrm>
          <a:prstGeom prst="rect">
            <a:avLst/>
          </a:prstGeom>
          <a:noFill/>
        </p:spPr>
        <p:txBody>
          <a:bodyPr wrap="square" anchor="t" lIns="0" rIns="0" tIns="0" bIns="0">
            <a:spAutoFit/>
          </a:bodyPr>
          <a:lstStyle/>
          <a:p>
            <a:pPr algn="l">
              <a:lnSpc>
                <a:spcPct val="100000"/>
              </a:lnSpc>
              <a:spcBef>
                <a:spcPts val="0"/>
              </a:spcBef>
              <a:spcAft>
                <a:spcPts val="400"/>
              </a:spcAft>
            </a:pPr>
            <a:r>
              <a:rPr sz="1250" b="1" i="0">
                <a:solidFill>
                  <a:srgbClr val="5F7B4F"/>
                </a:solidFill>
                <a:latin typeface="Arial"/>
              </a:rPr>
              <a:t>BASELINE MODEL &amp; PERFORMANCE</a:t>
            </a:r>
          </a:p>
        </p:txBody>
      </p:sp>
      <p:sp>
        <p:nvSpPr>
          <p:cNvPr id="3" name="TextBox 2"/>
          <p:cNvSpPr txBox="1"/>
          <p:nvPr/>
        </p:nvSpPr>
        <p:spPr>
          <a:xfrm>
            <a:off x="822960" y="841248"/>
            <a:ext cx="10698480" cy="914400"/>
          </a:xfrm>
          <a:prstGeom prst="rect">
            <a:avLst/>
          </a:prstGeom>
          <a:noFill/>
        </p:spPr>
        <p:txBody>
          <a:bodyPr wrap="square" anchor="t" lIns="0" rIns="0" tIns="0" bIns="0">
            <a:spAutoFit/>
          </a:bodyPr>
          <a:lstStyle/>
          <a:p>
            <a:pPr algn="l">
              <a:lnSpc>
                <a:spcPct val="100000"/>
              </a:lnSpc>
              <a:spcBef>
                <a:spcPts val="0"/>
              </a:spcBef>
              <a:spcAft>
                <a:spcPts val="400"/>
              </a:spcAft>
            </a:pPr>
            <a:r>
              <a:rPr sz="2900" b="1" i="0">
                <a:solidFill>
                  <a:srgbClr val="1D1D21"/>
                </a:solidFill>
                <a:latin typeface="Arial"/>
              </a:rPr>
              <a:t>Measured honestly on real receipts</a:t>
            </a:r>
          </a:p>
        </p:txBody>
      </p:sp>
      <p:sp>
        <p:nvSpPr>
          <p:cNvPr id="4" name="Rectangle 3"/>
          <p:cNvSpPr/>
          <p:nvPr/>
        </p:nvSpPr>
        <p:spPr>
          <a:xfrm>
            <a:off x="841248" y="1481328"/>
            <a:ext cx="1371600" cy="41148"/>
          </a:xfrm>
          <a:prstGeom prst="rect">
            <a:avLst/>
          </a:prstGeom>
          <a:solidFill>
            <a:srgbClr val="7C9A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822960" y="1737360"/>
            <a:ext cx="6446520" cy="3429000"/>
          </a:xfrm>
          <a:prstGeom prst="roundRect">
            <a:avLst>
              <a:gd name="adj" fmla="val 4000"/>
            </a:avLst>
          </a:prstGeom>
          <a:solidFill>
            <a:srgbClr val="FFFFFF"/>
          </a:solidFill>
          <a:ln w="9525">
            <a:solidFill>
              <a:srgbClr val="E5E4E0"/>
            </a:solidFill>
          </a:ln>
          <a:effectLst/>
          <a:effectLst>
            <a:outerShdw blurRad="80000" dist="30000" dir="5400000" rotWithShape="0">
              <a:srgbClr val="1D1D21">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cleanup.png"/>
          <p:cNvPicPr>
            <a:picLocks noChangeAspect="1"/>
          </p:cNvPicPr>
          <p:nvPr/>
        </p:nvPicPr>
        <p:blipFill>
          <a:blip r:embed="rId2"/>
          <a:stretch>
            <a:fillRect/>
          </a:stretch>
        </p:blipFill>
        <p:spPr>
          <a:xfrm>
            <a:off x="1051560" y="1920240"/>
            <a:ext cx="5029764" cy="3063240"/>
          </a:xfrm>
          <a:prstGeom prst="rect">
            <a:avLst/>
          </a:prstGeom>
        </p:spPr>
      </p:pic>
      <p:sp>
        <p:nvSpPr>
          <p:cNvPr id="7" name="Rounded Rectangle 6"/>
          <p:cNvSpPr/>
          <p:nvPr/>
        </p:nvSpPr>
        <p:spPr>
          <a:xfrm>
            <a:off x="7543800" y="1737360"/>
            <a:ext cx="3822191" cy="1051560"/>
          </a:xfrm>
          <a:prstGeom prst="roundRect">
            <a:avLst>
              <a:gd name="adj" fmla="val 6000"/>
            </a:avLst>
          </a:prstGeom>
          <a:solidFill>
            <a:srgbClr val="FFFFFF"/>
          </a:solidFill>
          <a:ln w="9525">
            <a:solidFill>
              <a:srgbClr val="E5E4E0"/>
            </a:solidFill>
          </a:ln>
          <a:effectLst/>
          <a:effectLst>
            <a:outerShdw blurRad="80000" dist="30000" dir="5400000" rotWithShape="0">
              <a:srgbClr val="1D1D21">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543800" y="1865376"/>
            <a:ext cx="73152" cy="795527"/>
          </a:xfrm>
          <a:prstGeom prst="rect">
            <a:avLst/>
          </a:prstGeom>
          <a:solidFill>
            <a:srgbClr val="7C9A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818120" y="1865376"/>
            <a:ext cx="3438144" cy="813815"/>
          </a:xfrm>
          <a:prstGeom prst="rect">
            <a:avLst/>
          </a:prstGeom>
          <a:noFill/>
        </p:spPr>
        <p:txBody>
          <a:bodyPr wrap="square" anchor="ctr" lIns="0" rIns="0" tIns="0" bIns="0">
            <a:spAutoFit/>
          </a:bodyPr>
          <a:lstStyle/>
          <a:p>
            <a:pPr algn="l">
              <a:lnSpc>
                <a:spcPct val="102000"/>
              </a:lnSpc>
              <a:spcBef>
                <a:spcPts val="0"/>
              </a:spcBef>
              <a:spcAft>
                <a:spcPts val="300"/>
              </a:spcAft>
            </a:pPr>
            <a:r>
              <a:rPr sz="2900" b="1" i="0">
                <a:solidFill>
                  <a:srgbClr val="7C9A6A"/>
                </a:solidFill>
                <a:latin typeface="Arial"/>
              </a:rPr>
              <a:t>99%</a:t>
            </a:r>
          </a:p>
          <a:p>
            <a:pPr algn="l">
              <a:lnSpc>
                <a:spcPct val="102000"/>
              </a:lnSpc>
              <a:spcBef>
                <a:spcPts val="0"/>
              </a:spcBef>
              <a:spcAft>
                <a:spcPts val="300"/>
              </a:spcAft>
            </a:pPr>
            <a:r>
              <a:rPr sz="1250" b="1" i="0">
                <a:solidFill>
                  <a:srgbClr val="1D1D21"/>
                </a:solidFill>
                <a:latin typeface="Arial"/>
              </a:rPr>
              <a:t>Lines resolved</a:t>
            </a:r>
          </a:p>
          <a:p>
            <a:pPr algn="l">
              <a:lnSpc>
                <a:spcPct val="102000"/>
              </a:lnSpc>
              <a:spcBef>
                <a:spcPts val="0"/>
              </a:spcBef>
              <a:spcAft>
                <a:spcPts val="300"/>
              </a:spcAft>
            </a:pPr>
            <a:r>
              <a:rPr sz="1050" b="0" i="0">
                <a:solidFill>
                  <a:srgbClr val="6E6F74"/>
                </a:solidFill>
                <a:latin typeface="Arial"/>
              </a:rPr>
              <a:t>174 German table · 4 branded · 2 left open, of 180</a:t>
            </a:r>
          </a:p>
        </p:txBody>
      </p:sp>
      <p:sp>
        <p:nvSpPr>
          <p:cNvPr id="10" name="Rounded Rectangle 9"/>
          <p:cNvSpPr/>
          <p:nvPr/>
        </p:nvSpPr>
        <p:spPr>
          <a:xfrm>
            <a:off x="7543800" y="2880360"/>
            <a:ext cx="3822191" cy="1051560"/>
          </a:xfrm>
          <a:prstGeom prst="roundRect">
            <a:avLst>
              <a:gd name="adj" fmla="val 6000"/>
            </a:avLst>
          </a:prstGeom>
          <a:solidFill>
            <a:srgbClr val="FFFFFF"/>
          </a:solidFill>
          <a:ln w="9525">
            <a:solidFill>
              <a:srgbClr val="E5E4E0"/>
            </a:solidFill>
          </a:ln>
          <a:effectLst/>
          <a:effectLst>
            <a:outerShdw blurRad="80000" dist="30000" dir="5400000" rotWithShape="0">
              <a:srgbClr val="1D1D21">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543800" y="3008376"/>
            <a:ext cx="73152" cy="795527"/>
          </a:xfrm>
          <a:prstGeom prst="rect">
            <a:avLst/>
          </a:prstGeom>
          <a:solidFill>
            <a:srgbClr val="5F7B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818120" y="3008376"/>
            <a:ext cx="3438144" cy="813815"/>
          </a:xfrm>
          <a:prstGeom prst="rect">
            <a:avLst/>
          </a:prstGeom>
          <a:noFill/>
        </p:spPr>
        <p:txBody>
          <a:bodyPr wrap="square" anchor="ctr" lIns="0" rIns="0" tIns="0" bIns="0">
            <a:spAutoFit/>
          </a:bodyPr>
          <a:lstStyle/>
          <a:p>
            <a:pPr algn="l">
              <a:lnSpc>
                <a:spcPct val="102000"/>
              </a:lnSpc>
              <a:spcBef>
                <a:spcPts val="0"/>
              </a:spcBef>
              <a:spcAft>
                <a:spcPts val="300"/>
              </a:spcAft>
            </a:pPr>
            <a:r>
              <a:rPr sz="2900" b="1" i="0">
                <a:solidFill>
                  <a:srgbClr val="5F7B4F"/>
                </a:solidFill>
                <a:latin typeface="Arial"/>
              </a:rPr>
              <a:t>~half</a:t>
            </a:r>
          </a:p>
          <a:p>
            <a:pPr algn="l">
              <a:lnSpc>
                <a:spcPct val="102000"/>
              </a:lnSpc>
              <a:spcBef>
                <a:spcPts val="0"/>
              </a:spcBef>
              <a:spcAft>
                <a:spcPts val="300"/>
              </a:spcAft>
            </a:pPr>
            <a:r>
              <a:rPr sz="1250" b="1" i="0">
                <a:solidFill>
                  <a:srgbClr val="1D1D21"/>
                </a:solidFill>
                <a:latin typeface="Arial"/>
              </a:rPr>
              <a:t>Right food in top 5</a:t>
            </a:r>
          </a:p>
          <a:p>
            <a:pPr algn="l">
              <a:lnSpc>
                <a:spcPct val="102000"/>
              </a:lnSpc>
              <a:spcBef>
                <a:spcPts val="0"/>
              </a:spcBef>
              <a:spcAft>
                <a:spcPts val="300"/>
              </a:spcAft>
            </a:pPr>
            <a:r>
              <a:rPr sz="1050" b="0" i="0">
                <a:solidFill>
                  <a:srgbClr val="6E6F74"/>
                </a:solidFill>
                <a:latin typeface="Arial"/>
              </a:rPr>
              <a:t>47% after cleanup — up from 32% on raw text</a:t>
            </a:r>
          </a:p>
        </p:txBody>
      </p:sp>
      <p:sp>
        <p:nvSpPr>
          <p:cNvPr id="13" name="Rounded Rectangle 12"/>
          <p:cNvSpPr/>
          <p:nvPr/>
        </p:nvSpPr>
        <p:spPr>
          <a:xfrm>
            <a:off x="7543800" y="4023360"/>
            <a:ext cx="3822191" cy="1051560"/>
          </a:xfrm>
          <a:prstGeom prst="roundRect">
            <a:avLst>
              <a:gd name="adj" fmla="val 6000"/>
            </a:avLst>
          </a:prstGeom>
          <a:solidFill>
            <a:srgbClr val="FFFFFF"/>
          </a:solidFill>
          <a:ln w="9525">
            <a:solidFill>
              <a:srgbClr val="E5E4E0"/>
            </a:solidFill>
          </a:ln>
          <a:effectLst/>
          <a:effectLst>
            <a:outerShdw blurRad="80000" dist="30000" dir="5400000" rotWithShape="0">
              <a:srgbClr val="1D1D21">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7543800" y="4151376"/>
            <a:ext cx="73152" cy="795527"/>
          </a:xfrm>
          <a:prstGeom prst="rect">
            <a:avLst/>
          </a:prstGeom>
          <a:solidFill>
            <a:srgbClr val="7C9A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818120" y="4151376"/>
            <a:ext cx="3438144" cy="813815"/>
          </a:xfrm>
          <a:prstGeom prst="rect">
            <a:avLst/>
          </a:prstGeom>
          <a:noFill/>
        </p:spPr>
        <p:txBody>
          <a:bodyPr wrap="square" anchor="ctr" lIns="0" rIns="0" tIns="0" bIns="0">
            <a:spAutoFit/>
          </a:bodyPr>
          <a:lstStyle/>
          <a:p>
            <a:pPr algn="l">
              <a:lnSpc>
                <a:spcPct val="102000"/>
              </a:lnSpc>
              <a:spcBef>
                <a:spcPts val="0"/>
              </a:spcBef>
              <a:spcAft>
                <a:spcPts val="300"/>
              </a:spcAft>
            </a:pPr>
            <a:r>
              <a:rPr sz="2900" b="1" i="0">
                <a:solidFill>
                  <a:srgbClr val="7C9A6A"/>
                </a:solidFill>
                <a:latin typeface="Arial"/>
              </a:rPr>
              <a:t>56% → 47%</a:t>
            </a:r>
          </a:p>
          <a:p>
            <a:pPr algn="l">
              <a:lnSpc>
                <a:spcPct val="102000"/>
              </a:lnSpc>
              <a:spcBef>
                <a:spcPts val="0"/>
              </a:spcBef>
              <a:spcAft>
                <a:spcPts val="300"/>
              </a:spcAft>
            </a:pPr>
            <a:r>
              <a:rPr sz="1250" b="1" i="0">
                <a:solidFill>
                  <a:srgbClr val="1D1D21"/>
                </a:solidFill>
                <a:latin typeface="Arial"/>
              </a:rPr>
              <a:t>Real is harder</a:t>
            </a:r>
          </a:p>
          <a:p>
            <a:pPr algn="l">
              <a:lnSpc>
                <a:spcPct val="102000"/>
              </a:lnSpc>
              <a:spcBef>
                <a:spcPts val="0"/>
              </a:spcBef>
              <a:spcAft>
                <a:spcPts val="300"/>
              </a:spcAft>
            </a:pPr>
            <a:r>
              <a:rPr sz="1050" b="0" i="0">
                <a:solidFill>
                  <a:srgbClr val="6E6F74"/>
                </a:solidFill>
                <a:latin typeface="Arial"/>
              </a:rPr>
              <a:t>clean names vs. messy real receipts</a:t>
            </a:r>
          </a:p>
        </p:txBody>
      </p:sp>
      <p:sp>
        <p:nvSpPr>
          <p:cNvPr id="16" name="Rounded Rectangle 15"/>
          <p:cNvSpPr/>
          <p:nvPr/>
        </p:nvSpPr>
        <p:spPr>
          <a:xfrm>
            <a:off x="822960" y="5321808"/>
            <a:ext cx="10543032" cy="777240"/>
          </a:xfrm>
          <a:prstGeom prst="roundRect">
            <a:avLst>
              <a:gd name="adj" fmla="val 6000"/>
            </a:avLst>
          </a:prstGeom>
          <a:solidFill>
            <a:srgbClr val="EEF2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97280" y="5422392"/>
            <a:ext cx="10058400" cy="640080"/>
          </a:xfrm>
          <a:prstGeom prst="rect">
            <a:avLst/>
          </a:prstGeom>
          <a:noFill/>
        </p:spPr>
        <p:txBody>
          <a:bodyPr wrap="square" anchor="ctr" lIns="0" rIns="0" tIns="0" bIns="0">
            <a:spAutoFit/>
          </a:bodyPr>
          <a:lstStyle/>
          <a:p>
            <a:pPr algn="l">
              <a:lnSpc>
                <a:spcPct val="108000"/>
              </a:lnSpc>
              <a:spcBef>
                <a:spcPts val="0"/>
              </a:spcBef>
              <a:spcAft>
                <a:spcPts val="400"/>
              </a:spcAft>
            </a:pPr>
            <a:r>
              <a:rPr sz="1300" b="1" i="0">
                <a:solidFill>
                  <a:srgbClr val="5F7B4F"/>
                </a:solidFill>
                <a:latin typeface="Arial"/>
              </a:rPr>
              <a:t>The honest finding:  </a:t>
            </a:r>
            <a:r>
              <a:rPr sz="1300" b="0" i="0">
                <a:solidFill>
                  <a:srgbClr val="1D1D21"/>
                </a:solidFill>
                <a:latin typeface="Arial"/>
              </a:rPr>
              <a:t>cleaning the receipt text is the real lever, and every user correction we save makes the next match better. Simple and transparent beats a black box here.</a:t>
            </a:r>
          </a:p>
        </p:txBody>
      </p:sp>
      <p:sp>
        <p:nvSpPr>
          <p:cNvPr id="18" name="TextBox 17"/>
          <p:cNvSpPr txBox="1"/>
          <p:nvPr/>
        </p:nvSpPr>
        <p:spPr>
          <a:xfrm>
            <a:off x="548640" y="6428232"/>
            <a:ext cx="4572000" cy="274320"/>
          </a:xfrm>
          <a:prstGeom prst="rect">
            <a:avLst/>
          </a:prstGeom>
          <a:noFill/>
        </p:spPr>
        <p:txBody>
          <a:bodyPr wrap="square" anchor="t" lIns="0" rIns="0" tIns="0" bIns="0">
            <a:spAutoFit/>
          </a:bodyPr>
          <a:lstStyle/>
          <a:p>
            <a:pPr algn="l">
              <a:lnSpc>
                <a:spcPct val="100000"/>
              </a:lnSpc>
              <a:spcBef>
                <a:spcPts val="0"/>
              </a:spcBef>
              <a:spcAft>
                <a:spcPts val="400"/>
              </a:spcAft>
            </a:pPr>
            <a:r>
              <a:rPr sz="900" b="1" i="0">
                <a:solidFill>
                  <a:srgbClr val="6E6F74"/>
                </a:solidFill>
                <a:latin typeface="Arial"/>
              </a:rPr>
              <a:t>NutriWise</a:t>
            </a:r>
            <a:r>
              <a:rPr sz="900" b="0" i="0">
                <a:solidFill>
                  <a:srgbClr val="6E6F74"/>
                </a:solidFill>
                <a:latin typeface="Arial"/>
              </a:rPr>
              <a:t>  ·  Final · V0</a:t>
            </a:r>
          </a:p>
        </p:txBody>
      </p:sp>
      <p:sp>
        <p:nvSpPr>
          <p:cNvPr id="19" name="TextBox 18"/>
          <p:cNvSpPr txBox="1"/>
          <p:nvPr/>
        </p:nvSpPr>
        <p:spPr>
          <a:xfrm>
            <a:off x="9875520" y="6428232"/>
            <a:ext cx="1737360" cy="274320"/>
          </a:xfrm>
          <a:prstGeom prst="rect">
            <a:avLst/>
          </a:prstGeom>
          <a:noFill/>
        </p:spPr>
        <p:txBody>
          <a:bodyPr wrap="square" anchor="t" lIns="0" rIns="0" tIns="0" bIns="0">
            <a:spAutoFit/>
          </a:bodyPr>
          <a:lstStyle/>
          <a:p>
            <a:pPr algn="r">
              <a:lnSpc>
                <a:spcPct val="100000"/>
              </a:lnSpc>
              <a:spcBef>
                <a:spcPts val="0"/>
              </a:spcBef>
              <a:spcAft>
                <a:spcPts val="400"/>
              </a:spcAft>
            </a:pPr>
            <a:r>
              <a:rPr sz="900" b="0" i="0">
                <a:solidFill>
                  <a:srgbClr val="6E6F74"/>
                </a:solidFill>
                <a:latin typeface="Arial"/>
              </a:rPr>
              <a:t>13 / 14</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AFAFA"/>
        </a:solidFill>
        <a:effectLst/>
      </p:bgPr>
    </p:bg>
    <p:spTree>
      <p:nvGrpSpPr>
        <p:cNvPr id="1" name=""/>
        <p:cNvGrpSpPr/>
        <p:nvPr/>
      </p:nvGrpSpPr>
      <p:grpSpPr/>
      <p:sp>
        <p:nvSpPr>
          <p:cNvPr id="2" name="Rectangle 1"/>
          <p:cNvSpPr/>
          <p:nvPr/>
        </p:nvSpPr>
        <p:spPr>
          <a:xfrm>
            <a:off x="0" y="0"/>
            <a:ext cx="12191695" cy="128016"/>
          </a:xfrm>
          <a:prstGeom prst="rect">
            <a:avLst/>
          </a:prstGeom>
          <a:solidFill>
            <a:srgbClr val="7C9A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729984"/>
            <a:ext cx="12191695" cy="128016"/>
          </a:xfrm>
          <a:prstGeom prst="rect">
            <a:avLst/>
          </a:prstGeom>
          <a:solidFill>
            <a:srgbClr val="7C9A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822960" y="822960"/>
            <a:ext cx="310896" cy="310896"/>
          </a:xfrm>
          <a:prstGeom prst="roundRect">
            <a:avLst>
              <a:gd name="adj" fmla="val 30000"/>
            </a:avLst>
          </a:prstGeom>
          <a:solidFill>
            <a:srgbClr val="7C9A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243584" y="795528"/>
            <a:ext cx="3657600" cy="384048"/>
          </a:xfrm>
          <a:prstGeom prst="rect">
            <a:avLst/>
          </a:prstGeom>
          <a:noFill/>
        </p:spPr>
        <p:txBody>
          <a:bodyPr wrap="square" anchor="ctr" lIns="0" rIns="0" tIns="0" bIns="0">
            <a:spAutoFit/>
          </a:bodyPr>
          <a:lstStyle/>
          <a:p>
            <a:pPr algn="l">
              <a:lnSpc>
                <a:spcPct val="100000"/>
              </a:lnSpc>
              <a:spcBef>
                <a:spcPts val="0"/>
              </a:spcBef>
              <a:spcAft>
                <a:spcPts val="400"/>
              </a:spcAft>
            </a:pPr>
            <a:r>
              <a:rPr sz="1300" b="1" i="0">
                <a:solidFill>
                  <a:srgbClr val="1D1D21"/>
                </a:solidFill>
                <a:latin typeface="Arial"/>
              </a:rPr>
              <a:t>NUTRIWISE</a:t>
            </a:r>
          </a:p>
        </p:txBody>
      </p:sp>
      <p:sp>
        <p:nvSpPr>
          <p:cNvPr id="6" name="TextBox 5"/>
          <p:cNvSpPr txBox="1"/>
          <p:nvPr/>
        </p:nvSpPr>
        <p:spPr>
          <a:xfrm>
            <a:off x="822960" y="2286000"/>
            <a:ext cx="10515600" cy="1097280"/>
          </a:xfrm>
          <a:prstGeom prst="rect">
            <a:avLst/>
          </a:prstGeom>
          <a:noFill/>
        </p:spPr>
        <p:txBody>
          <a:bodyPr wrap="square" anchor="t" lIns="0" rIns="0" tIns="0" bIns="0">
            <a:spAutoFit/>
          </a:bodyPr>
          <a:lstStyle/>
          <a:p>
            <a:pPr algn="l">
              <a:lnSpc>
                <a:spcPct val="100000"/>
              </a:lnSpc>
              <a:spcBef>
                <a:spcPts val="0"/>
              </a:spcBef>
              <a:spcAft>
                <a:spcPts val="400"/>
              </a:spcAft>
            </a:pPr>
            <a:r>
              <a:rPr sz="5000" b="1" i="0">
                <a:solidFill>
                  <a:srgbClr val="1D1D21"/>
                </a:solidFill>
                <a:latin typeface="Arial"/>
              </a:rPr>
              <a:t>Thank you.</a:t>
            </a:r>
          </a:p>
        </p:txBody>
      </p:sp>
      <p:sp>
        <p:nvSpPr>
          <p:cNvPr id="7" name="Rectangle 6"/>
          <p:cNvSpPr/>
          <p:nvPr/>
        </p:nvSpPr>
        <p:spPr>
          <a:xfrm>
            <a:off x="841248" y="3383280"/>
            <a:ext cx="3108960" cy="41148"/>
          </a:xfrm>
          <a:prstGeom prst="rect">
            <a:avLst/>
          </a:prstGeom>
          <a:solidFill>
            <a:srgbClr val="7C9A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41248" y="3611880"/>
            <a:ext cx="10058400" cy="548640"/>
          </a:xfrm>
          <a:prstGeom prst="rect">
            <a:avLst/>
          </a:prstGeom>
          <a:noFill/>
        </p:spPr>
        <p:txBody>
          <a:bodyPr wrap="square" anchor="t" lIns="0" rIns="0" tIns="0" bIns="0">
            <a:spAutoFit/>
          </a:bodyPr>
          <a:lstStyle/>
          <a:p>
            <a:pPr algn="l">
              <a:lnSpc>
                <a:spcPct val="100000"/>
              </a:lnSpc>
              <a:spcBef>
                <a:spcPts val="0"/>
              </a:spcBef>
              <a:spcAft>
                <a:spcPts val="400"/>
              </a:spcAft>
            </a:pPr>
            <a:r>
              <a:rPr sz="1800" b="0" i="1">
                <a:solidFill>
                  <a:srgbClr val="5F7B4F"/>
                </a:solidFill>
                <a:latin typeface="Arial"/>
              </a:rPr>
              <a:t>Upload a grocery receipt. Get one smarter thing to buy next time.</a:t>
            </a:r>
          </a:p>
        </p:txBody>
      </p:sp>
      <p:sp>
        <p:nvSpPr>
          <p:cNvPr id="9" name="TextBox 8"/>
          <p:cNvSpPr txBox="1"/>
          <p:nvPr/>
        </p:nvSpPr>
        <p:spPr>
          <a:xfrm>
            <a:off x="822960" y="4526280"/>
            <a:ext cx="10515600" cy="914400"/>
          </a:xfrm>
          <a:prstGeom prst="rect">
            <a:avLst/>
          </a:prstGeom>
          <a:noFill/>
        </p:spPr>
        <p:txBody>
          <a:bodyPr wrap="square" anchor="t" lIns="0" rIns="0" tIns="0" bIns="0">
            <a:spAutoFit/>
          </a:bodyPr>
          <a:lstStyle/>
          <a:p>
            <a:pPr algn="l">
              <a:lnSpc>
                <a:spcPct val="100000"/>
              </a:lnSpc>
              <a:spcBef>
                <a:spcPts val="0"/>
              </a:spcBef>
              <a:spcAft>
                <a:spcPts val="800"/>
              </a:spcAft>
            </a:pPr>
            <a:r>
              <a:rPr sz="1500" b="1" i="0">
                <a:solidFill>
                  <a:srgbClr val="1D1D21"/>
                </a:solidFill>
                <a:latin typeface="Arial"/>
              </a:rPr>
              <a:t>Jennifer Rake</a:t>
            </a:r>
            <a:r>
              <a:rPr sz="1500" b="0" i="0">
                <a:solidFill>
                  <a:srgbClr val="6E6F74"/>
                </a:solidFill>
                <a:latin typeface="Arial"/>
              </a:rPr>
              <a:t>   &amp;   </a:t>
            </a:r>
            <a:r>
              <a:rPr sz="1500" b="1" i="0">
                <a:solidFill>
                  <a:srgbClr val="1D1D21"/>
                </a:solidFill>
                <a:latin typeface="Arial"/>
              </a:rPr>
              <a:t>Stuart Kasemeier</a:t>
            </a:r>
          </a:p>
          <a:p>
            <a:pPr algn="l">
              <a:lnSpc>
                <a:spcPct val="100000"/>
              </a:lnSpc>
              <a:spcBef>
                <a:spcPts val="0"/>
              </a:spcBef>
              <a:spcAft>
                <a:spcPts val="800"/>
              </a:spcAft>
            </a:pPr>
            <a:r>
              <a:rPr sz="1250" b="0" i="0">
                <a:solidFill>
                  <a:srgbClr val="6E6F74"/>
                </a:solidFill>
                <a:latin typeface="Arial"/>
              </a:rPr>
              <a:t>NutriWise  ·  AI PM Capstone  ·  Final · Version 0  —  Questions &amp; feedback welcome</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AFAFA"/>
        </a:solidFill>
        <a:effectLst/>
      </p:bgPr>
    </p:bg>
    <p:spTree>
      <p:nvGrpSpPr>
        <p:cNvPr id="1" name=""/>
        <p:cNvGrpSpPr/>
        <p:nvPr/>
      </p:nvGrpSpPr>
      <p:grpSpPr/>
      <p:sp>
        <p:nvSpPr>
          <p:cNvPr id="2" name="TextBox 1"/>
          <p:cNvSpPr txBox="1"/>
          <p:nvPr/>
        </p:nvSpPr>
        <p:spPr>
          <a:xfrm>
            <a:off x="822960" y="548640"/>
            <a:ext cx="9144000" cy="274320"/>
          </a:xfrm>
          <a:prstGeom prst="rect">
            <a:avLst/>
          </a:prstGeom>
          <a:noFill/>
        </p:spPr>
        <p:txBody>
          <a:bodyPr wrap="square" anchor="t" lIns="0" rIns="0" tIns="0" bIns="0">
            <a:spAutoFit/>
          </a:bodyPr>
          <a:lstStyle/>
          <a:p>
            <a:pPr algn="l">
              <a:lnSpc>
                <a:spcPct val="100000"/>
              </a:lnSpc>
              <a:spcBef>
                <a:spcPts val="0"/>
              </a:spcBef>
              <a:spcAft>
                <a:spcPts val="400"/>
              </a:spcAft>
            </a:pPr>
            <a:r>
              <a:rPr sz="1250" b="1" i="0">
                <a:solidFill>
                  <a:srgbClr val="5F7B4F"/>
                </a:solidFill>
                <a:latin typeface="Arial"/>
              </a:rPr>
              <a:t>BACKUP — THE METRIC IN TECHNICAL TERMS</a:t>
            </a:r>
          </a:p>
        </p:txBody>
      </p:sp>
      <p:sp>
        <p:nvSpPr>
          <p:cNvPr id="3" name="TextBox 2"/>
          <p:cNvSpPr txBox="1"/>
          <p:nvPr/>
        </p:nvSpPr>
        <p:spPr>
          <a:xfrm>
            <a:off x="822960" y="841248"/>
            <a:ext cx="10698480" cy="914400"/>
          </a:xfrm>
          <a:prstGeom prst="rect">
            <a:avLst/>
          </a:prstGeom>
          <a:noFill/>
        </p:spPr>
        <p:txBody>
          <a:bodyPr wrap="square" anchor="t" lIns="0" rIns="0" tIns="0" bIns="0">
            <a:spAutoFit/>
          </a:bodyPr>
          <a:lstStyle/>
          <a:p>
            <a:pPr algn="l">
              <a:lnSpc>
                <a:spcPct val="100000"/>
              </a:lnSpc>
              <a:spcBef>
                <a:spcPts val="0"/>
              </a:spcBef>
              <a:spcAft>
                <a:spcPts val="400"/>
              </a:spcAft>
            </a:pPr>
            <a:r>
              <a:rPr sz="2600" b="1" i="0">
                <a:solidFill>
                  <a:srgbClr val="1D1D21"/>
                </a:solidFill>
                <a:latin typeface="Arial"/>
              </a:rPr>
              <a:t>Recall@5 on a human-verified gold set</a:t>
            </a:r>
          </a:p>
        </p:txBody>
      </p:sp>
      <p:sp>
        <p:nvSpPr>
          <p:cNvPr id="4" name="Rectangle 3"/>
          <p:cNvSpPr/>
          <p:nvPr/>
        </p:nvSpPr>
        <p:spPr>
          <a:xfrm>
            <a:off x="841248" y="1481328"/>
            <a:ext cx="1371600" cy="41148"/>
          </a:xfrm>
          <a:prstGeom prst="rect">
            <a:avLst/>
          </a:prstGeom>
          <a:solidFill>
            <a:srgbClr val="7C9A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1572768"/>
            <a:ext cx="10515600" cy="365760"/>
          </a:xfrm>
          <a:prstGeom prst="rect">
            <a:avLst/>
          </a:prstGeom>
          <a:noFill/>
        </p:spPr>
        <p:txBody>
          <a:bodyPr wrap="square" anchor="t" lIns="0" rIns="0" tIns="0" bIns="0">
            <a:spAutoFit/>
          </a:bodyPr>
          <a:lstStyle/>
          <a:p>
            <a:pPr algn="l">
              <a:lnSpc>
                <a:spcPct val="100000"/>
              </a:lnSpc>
              <a:spcBef>
                <a:spcPts val="0"/>
              </a:spcBef>
              <a:spcAft>
                <a:spcPts val="400"/>
              </a:spcAft>
            </a:pPr>
            <a:r>
              <a:rPr sz="1200" b="0" i="1">
                <a:solidFill>
                  <a:srgbClr val="6E6F74"/>
                </a:solidFill>
                <a:latin typeface="Arial"/>
              </a:rPr>
              <a:t>For the technically curious — the plain-language version is on the main slides.</a:t>
            </a:r>
          </a:p>
        </p:txBody>
      </p:sp>
      <p:sp>
        <p:nvSpPr>
          <p:cNvPr id="6" name="Rounded Rectangle 5"/>
          <p:cNvSpPr/>
          <p:nvPr/>
        </p:nvSpPr>
        <p:spPr>
          <a:xfrm>
            <a:off x="822960" y="2057400"/>
            <a:ext cx="5230368" cy="1783080"/>
          </a:xfrm>
          <a:prstGeom prst="roundRect">
            <a:avLst>
              <a:gd name="adj" fmla="val 5000"/>
            </a:avLst>
          </a:prstGeom>
          <a:solidFill>
            <a:srgbClr val="FFFFFF"/>
          </a:solidFill>
          <a:ln w="9525">
            <a:solidFill>
              <a:srgbClr val="E5E4E0"/>
            </a:solidFill>
          </a:ln>
          <a:effectLst/>
          <a:effectLst>
            <a:outerShdw blurRad="80000" dist="30000" dir="5400000" rotWithShape="0">
              <a:srgbClr val="1D1D21">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22960" y="2203704"/>
            <a:ext cx="73152" cy="1490472"/>
          </a:xfrm>
          <a:prstGeom prst="rect">
            <a:avLst/>
          </a:prstGeom>
          <a:solidFill>
            <a:srgbClr val="7C9A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115568" y="2240280"/>
            <a:ext cx="4727448" cy="365760"/>
          </a:xfrm>
          <a:prstGeom prst="rect">
            <a:avLst/>
          </a:prstGeom>
          <a:noFill/>
        </p:spPr>
        <p:txBody>
          <a:bodyPr wrap="square" anchor="t" lIns="0" rIns="0" tIns="0" bIns="0">
            <a:spAutoFit/>
          </a:bodyPr>
          <a:lstStyle/>
          <a:p>
            <a:pPr algn="l">
              <a:lnSpc>
                <a:spcPct val="100000"/>
              </a:lnSpc>
              <a:spcBef>
                <a:spcPts val="0"/>
              </a:spcBef>
              <a:spcAft>
                <a:spcPts val="400"/>
              </a:spcAft>
            </a:pPr>
            <a:r>
              <a:rPr sz="1400" b="1" i="0">
                <a:solidFill>
                  <a:srgbClr val="1D1D21"/>
                </a:solidFill>
                <a:latin typeface="Arial"/>
              </a:rPr>
              <a:t>Gold set</a:t>
            </a:r>
          </a:p>
        </p:txBody>
      </p:sp>
      <p:sp>
        <p:nvSpPr>
          <p:cNvPr id="9" name="TextBox 8"/>
          <p:cNvSpPr txBox="1"/>
          <p:nvPr/>
        </p:nvSpPr>
        <p:spPr>
          <a:xfrm>
            <a:off x="1115568" y="2660904"/>
            <a:ext cx="4681728" cy="1097280"/>
          </a:xfrm>
          <a:prstGeom prst="rect">
            <a:avLst/>
          </a:prstGeom>
          <a:noFill/>
        </p:spPr>
        <p:txBody>
          <a:bodyPr wrap="square" anchor="t" lIns="0" rIns="0" tIns="0" bIns="0">
            <a:spAutoFit/>
          </a:bodyPr>
          <a:lstStyle/>
          <a:p>
            <a:pPr algn="l">
              <a:lnSpc>
                <a:spcPct val="110000"/>
              </a:lnSpc>
              <a:spcBef>
                <a:spcPts val="0"/>
              </a:spcBef>
              <a:spcAft>
                <a:spcPts val="400"/>
              </a:spcAft>
            </a:pPr>
            <a:r>
              <a:rPr sz="1150" b="0" i="0">
                <a:solidFill>
                  <a:srgbClr val="6E6F74"/>
                </a:solidFill>
                <a:latin typeface="Arial"/>
              </a:rPr>
              <a:t>180 real receipt lines (grown from 45); 152 unique. Each labeled against the full 7,140-food BLS corpus — not a shortlist, or the score would be inflated.</a:t>
            </a:r>
          </a:p>
        </p:txBody>
      </p:sp>
      <p:sp>
        <p:nvSpPr>
          <p:cNvPr id="10" name="Rounded Rectangle 9"/>
          <p:cNvSpPr/>
          <p:nvPr/>
        </p:nvSpPr>
        <p:spPr>
          <a:xfrm>
            <a:off x="6227064" y="2057400"/>
            <a:ext cx="5230368" cy="1783080"/>
          </a:xfrm>
          <a:prstGeom prst="roundRect">
            <a:avLst>
              <a:gd name="adj" fmla="val 5000"/>
            </a:avLst>
          </a:prstGeom>
          <a:solidFill>
            <a:srgbClr val="FFFFFF"/>
          </a:solidFill>
          <a:ln w="9525">
            <a:solidFill>
              <a:srgbClr val="E5E4E0"/>
            </a:solidFill>
          </a:ln>
          <a:effectLst/>
          <a:effectLst>
            <a:outerShdw blurRad="80000" dist="30000" dir="5400000" rotWithShape="0">
              <a:srgbClr val="1D1D21">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227064" y="2203704"/>
            <a:ext cx="73152" cy="1490472"/>
          </a:xfrm>
          <a:prstGeom prst="rect">
            <a:avLst/>
          </a:prstGeom>
          <a:solidFill>
            <a:srgbClr val="7C9A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519672" y="2240280"/>
            <a:ext cx="4727448" cy="365760"/>
          </a:xfrm>
          <a:prstGeom prst="rect">
            <a:avLst/>
          </a:prstGeom>
          <a:noFill/>
        </p:spPr>
        <p:txBody>
          <a:bodyPr wrap="square" anchor="t" lIns="0" rIns="0" tIns="0" bIns="0">
            <a:spAutoFit/>
          </a:bodyPr>
          <a:lstStyle/>
          <a:p>
            <a:pPr algn="l">
              <a:lnSpc>
                <a:spcPct val="100000"/>
              </a:lnSpc>
              <a:spcBef>
                <a:spcPts val="0"/>
              </a:spcBef>
              <a:spcAft>
                <a:spcPts val="400"/>
              </a:spcAft>
            </a:pPr>
            <a:r>
              <a:rPr sz="1400" b="1" i="0">
                <a:solidFill>
                  <a:srgbClr val="1D1D21"/>
                </a:solidFill>
                <a:latin typeface="Arial"/>
              </a:rPr>
              <a:t>Metric — Recall@5</a:t>
            </a:r>
          </a:p>
        </p:txBody>
      </p:sp>
      <p:sp>
        <p:nvSpPr>
          <p:cNvPr id="13" name="TextBox 12"/>
          <p:cNvSpPr txBox="1"/>
          <p:nvPr/>
        </p:nvSpPr>
        <p:spPr>
          <a:xfrm>
            <a:off x="6519672" y="2660904"/>
            <a:ext cx="4681728" cy="1097280"/>
          </a:xfrm>
          <a:prstGeom prst="rect">
            <a:avLst/>
          </a:prstGeom>
          <a:noFill/>
        </p:spPr>
        <p:txBody>
          <a:bodyPr wrap="square" anchor="t" lIns="0" rIns="0" tIns="0" bIns="0">
            <a:spAutoFit/>
          </a:bodyPr>
          <a:lstStyle/>
          <a:p>
            <a:pPr algn="l">
              <a:lnSpc>
                <a:spcPct val="110000"/>
              </a:lnSpc>
              <a:spcBef>
                <a:spcPts val="0"/>
              </a:spcBef>
              <a:spcAft>
                <a:spcPts val="400"/>
              </a:spcAft>
            </a:pPr>
            <a:r>
              <a:rPr sz="1150" b="0" i="0">
                <a:solidFill>
                  <a:srgbClr val="6E6F74"/>
                </a:solidFill>
                <a:latin typeface="Arial"/>
              </a:rPr>
              <a:t>Share of lines where the correct food is in the top-5 candidates the matcher returns. Also track Top-1 (auto-pick) and lines-resolved coverage.</a:t>
            </a:r>
          </a:p>
        </p:txBody>
      </p:sp>
      <p:sp>
        <p:nvSpPr>
          <p:cNvPr id="14" name="Rounded Rectangle 13"/>
          <p:cNvSpPr/>
          <p:nvPr/>
        </p:nvSpPr>
        <p:spPr>
          <a:xfrm>
            <a:off x="822960" y="4023360"/>
            <a:ext cx="5230368" cy="1783080"/>
          </a:xfrm>
          <a:prstGeom prst="roundRect">
            <a:avLst>
              <a:gd name="adj" fmla="val 5000"/>
            </a:avLst>
          </a:prstGeom>
          <a:solidFill>
            <a:srgbClr val="FFFFFF"/>
          </a:solidFill>
          <a:ln w="9525">
            <a:solidFill>
              <a:srgbClr val="E5E4E0"/>
            </a:solidFill>
          </a:ln>
          <a:effectLst/>
          <a:effectLst>
            <a:outerShdw blurRad="80000" dist="30000" dir="5400000" rotWithShape="0">
              <a:srgbClr val="1D1D21">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822960" y="4169664"/>
            <a:ext cx="73152" cy="1490472"/>
          </a:xfrm>
          <a:prstGeom prst="rect">
            <a:avLst/>
          </a:prstGeom>
          <a:solidFill>
            <a:srgbClr val="7C9A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115568" y="4206240"/>
            <a:ext cx="4727448" cy="365760"/>
          </a:xfrm>
          <a:prstGeom prst="rect">
            <a:avLst/>
          </a:prstGeom>
          <a:noFill/>
        </p:spPr>
        <p:txBody>
          <a:bodyPr wrap="square" anchor="t" lIns="0" rIns="0" tIns="0" bIns="0">
            <a:spAutoFit/>
          </a:bodyPr>
          <a:lstStyle/>
          <a:p>
            <a:pPr algn="l">
              <a:lnSpc>
                <a:spcPct val="100000"/>
              </a:lnSpc>
              <a:spcBef>
                <a:spcPts val="0"/>
              </a:spcBef>
              <a:spcAft>
                <a:spcPts val="400"/>
              </a:spcAft>
            </a:pPr>
            <a:r>
              <a:rPr sz="1400" b="1" i="0">
                <a:solidFill>
                  <a:srgbClr val="1D1D21"/>
                </a:solidFill>
                <a:latin typeface="Arial"/>
              </a:rPr>
              <a:t>Label quality</a:t>
            </a:r>
          </a:p>
        </p:txBody>
      </p:sp>
      <p:sp>
        <p:nvSpPr>
          <p:cNvPr id="17" name="TextBox 16"/>
          <p:cNvSpPr txBox="1"/>
          <p:nvPr/>
        </p:nvSpPr>
        <p:spPr>
          <a:xfrm>
            <a:off x="1115568" y="4626864"/>
            <a:ext cx="4681728" cy="1097280"/>
          </a:xfrm>
          <a:prstGeom prst="rect">
            <a:avLst/>
          </a:prstGeom>
          <a:noFill/>
        </p:spPr>
        <p:txBody>
          <a:bodyPr wrap="square" anchor="t" lIns="0" rIns="0" tIns="0" bIns="0">
            <a:spAutoFit/>
          </a:bodyPr>
          <a:lstStyle/>
          <a:p>
            <a:pPr algn="l">
              <a:lnSpc>
                <a:spcPct val="110000"/>
              </a:lnSpc>
              <a:spcBef>
                <a:spcPts val="0"/>
              </a:spcBef>
              <a:spcAft>
                <a:spcPts val="400"/>
              </a:spcAft>
            </a:pPr>
            <a:r>
              <a:rPr sz="1150" b="0" i="0">
                <a:solidFill>
                  <a:srgbClr val="6E6F74"/>
                </a:solidFill>
                <a:latin typeface="Arial"/>
              </a:rPr>
              <a:t>Human spot-check: ~3% label-error rate on the gold labels; verdicts cross-checked.</a:t>
            </a:r>
          </a:p>
        </p:txBody>
      </p:sp>
      <p:sp>
        <p:nvSpPr>
          <p:cNvPr id="18" name="Rounded Rectangle 17"/>
          <p:cNvSpPr/>
          <p:nvPr/>
        </p:nvSpPr>
        <p:spPr>
          <a:xfrm>
            <a:off x="6227064" y="4023360"/>
            <a:ext cx="5230368" cy="1783080"/>
          </a:xfrm>
          <a:prstGeom prst="roundRect">
            <a:avLst>
              <a:gd name="adj" fmla="val 5000"/>
            </a:avLst>
          </a:prstGeom>
          <a:solidFill>
            <a:srgbClr val="FFFFFF"/>
          </a:solidFill>
          <a:ln w="9525">
            <a:solidFill>
              <a:srgbClr val="E5E4E0"/>
            </a:solidFill>
          </a:ln>
          <a:effectLst/>
          <a:effectLst>
            <a:outerShdw blurRad="80000" dist="30000" dir="5400000" rotWithShape="0">
              <a:srgbClr val="1D1D21">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227064" y="4169664"/>
            <a:ext cx="73152" cy="1490472"/>
          </a:xfrm>
          <a:prstGeom prst="rect">
            <a:avLst/>
          </a:prstGeom>
          <a:solidFill>
            <a:srgbClr val="7C9A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519672" y="4206240"/>
            <a:ext cx="4727448" cy="365760"/>
          </a:xfrm>
          <a:prstGeom prst="rect">
            <a:avLst/>
          </a:prstGeom>
          <a:noFill/>
        </p:spPr>
        <p:txBody>
          <a:bodyPr wrap="square" anchor="t" lIns="0" rIns="0" tIns="0" bIns="0">
            <a:spAutoFit/>
          </a:bodyPr>
          <a:lstStyle/>
          <a:p>
            <a:pPr algn="l">
              <a:lnSpc>
                <a:spcPct val="100000"/>
              </a:lnSpc>
              <a:spcBef>
                <a:spcPts val="0"/>
              </a:spcBef>
              <a:spcAft>
                <a:spcPts val="400"/>
              </a:spcAft>
            </a:pPr>
            <a:r>
              <a:rPr sz="1400" b="1" i="0">
                <a:solidFill>
                  <a:srgbClr val="1D1D21"/>
                </a:solidFill>
                <a:latin typeface="Arial"/>
              </a:rPr>
              <a:t>Resolver tiers</a:t>
            </a:r>
          </a:p>
        </p:txBody>
      </p:sp>
      <p:sp>
        <p:nvSpPr>
          <p:cNvPr id="21" name="TextBox 20"/>
          <p:cNvSpPr txBox="1"/>
          <p:nvPr/>
        </p:nvSpPr>
        <p:spPr>
          <a:xfrm>
            <a:off x="6519672" y="4626864"/>
            <a:ext cx="4681728" cy="1097280"/>
          </a:xfrm>
          <a:prstGeom prst="rect">
            <a:avLst/>
          </a:prstGeom>
          <a:noFill/>
        </p:spPr>
        <p:txBody>
          <a:bodyPr wrap="square" anchor="t" lIns="0" rIns="0" tIns="0" bIns="0">
            <a:spAutoFit/>
          </a:bodyPr>
          <a:lstStyle/>
          <a:p>
            <a:pPr algn="l">
              <a:lnSpc>
                <a:spcPct val="110000"/>
              </a:lnSpc>
              <a:spcBef>
                <a:spcPts val="0"/>
              </a:spcBef>
              <a:spcAft>
                <a:spcPts val="400"/>
              </a:spcAft>
            </a:pPr>
            <a:r>
              <a:rPr sz="1150" b="0" i="0">
                <a:solidFill>
                  <a:srgbClr val="6E6F74"/>
                </a:solidFill>
                <a:latin typeface="Arial"/>
              </a:rPr>
              <a:t>Tier 0 learned/confirmed → Tier 1 BLS 4.0 → Tier 2 Open Food Facts fallback → left open. Embedding similarity is a tie-breaker only, not the primary matcher.</a:t>
            </a:r>
          </a:p>
        </p:txBody>
      </p:sp>
      <p:sp>
        <p:nvSpPr>
          <p:cNvPr id="22" name="TextBox 21"/>
          <p:cNvSpPr txBox="1"/>
          <p:nvPr/>
        </p:nvSpPr>
        <p:spPr>
          <a:xfrm>
            <a:off x="548640" y="6428232"/>
            <a:ext cx="4572000" cy="274320"/>
          </a:xfrm>
          <a:prstGeom prst="rect">
            <a:avLst/>
          </a:prstGeom>
          <a:noFill/>
        </p:spPr>
        <p:txBody>
          <a:bodyPr wrap="square" anchor="t" lIns="0" rIns="0" tIns="0" bIns="0">
            <a:spAutoFit/>
          </a:bodyPr>
          <a:lstStyle/>
          <a:p>
            <a:pPr algn="l">
              <a:lnSpc>
                <a:spcPct val="100000"/>
              </a:lnSpc>
              <a:spcBef>
                <a:spcPts val="0"/>
              </a:spcBef>
              <a:spcAft>
                <a:spcPts val="400"/>
              </a:spcAft>
            </a:pPr>
            <a:r>
              <a:rPr sz="900" b="1" i="0">
                <a:solidFill>
                  <a:srgbClr val="6E6F74"/>
                </a:solidFill>
                <a:latin typeface="Arial"/>
              </a:rPr>
              <a:t>NutriWise</a:t>
            </a:r>
            <a:r>
              <a:rPr sz="900" b="0" i="0">
                <a:solidFill>
                  <a:srgbClr val="6E6F74"/>
                </a:solidFill>
                <a:latin typeface="Arial"/>
              </a:rPr>
              <a:t>  ·  Backup</a:t>
            </a:r>
          </a:p>
        </p:txBody>
      </p:sp>
      <p:sp>
        <p:nvSpPr>
          <p:cNvPr id="23" name="TextBox 22"/>
          <p:cNvSpPr txBox="1"/>
          <p:nvPr/>
        </p:nvSpPr>
        <p:spPr>
          <a:xfrm>
            <a:off x="9875520" y="6428232"/>
            <a:ext cx="1737360" cy="274320"/>
          </a:xfrm>
          <a:prstGeom prst="rect">
            <a:avLst/>
          </a:prstGeom>
          <a:noFill/>
        </p:spPr>
        <p:txBody>
          <a:bodyPr wrap="square" anchor="t" lIns="0" rIns="0" tIns="0" bIns="0">
            <a:spAutoFit/>
          </a:bodyPr>
          <a:lstStyle/>
          <a:p>
            <a:pPr algn="r">
              <a:lnSpc>
                <a:spcPct val="100000"/>
              </a:lnSpc>
              <a:spcBef>
                <a:spcPts val="0"/>
              </a:spcBef>
              <a:spcAft>
                <a:spcPts val="400"/>
              </a:spcAft>
            </a:pPr>
            <a:r>
              <a:rPr sz="900" b="0" i="1">
                <a:solidFill>
                  <a:srgbClr val="6E6F74"/>
                </a:solidFill>
                <a:latin typeface="Arial"/>
              </a:rPr>
              <a:t>appendix</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AFAFA"/>
        </a:solidFill>
        <a:effectLst/>
      </p:bgPr>
    </p:bg>
    <p:spTree>
      <p:nvGrpSpPr>
        <p:cNvPr id="1" name=""/>
        <p:cNvGrpSpPr/>
        <p:nvPr/>
      </p:nvGrpSpPr>
      <p:grpSpPr/>
      <p:sp>
        <p:nvSpPr>
          <p:cNvPr id="2" name="TextBox 1"/>
          <p:cNvSpPr txBox="1"/>
          <p:nvPr/>
        </p:nvSpPr>
        <p:spPr>
          <a:xfrm>
            <a:off x="822960" y="548640"/>
            <a:ext cx="9144000" cy="274320"/>
          </a:xfrm>
          <a:prstGeom prst="rect">
            <a:avLst/>
          </a:prstGeom>
          <a:noFill/>
        </p:spPr>
        <p:txBody>
          <a:bodyPr wrap="square" anchor="t" lIns="0" rIns="0" tIns="0" bIns="0">
            <a:spAutoFit/>
          </a:bodyPr>
          <a:lstStyle/>
          <a:p>
            <a:pPr algn="l">
              <a:lnSpc>
                <a:spcPct val="100000"/>
              </a:lnSpc>
              <a:spcBef>
                <a:spcPts val="0"/>
              </a:spcBef>
              <a:spcAft>
                <a:spcPts val="400"/>
              </a:spcAft>
            </a:pPr>
            <a:r>
              <a:rPr sz="1250" b="1" i="0">
                <a:solidFill>
                  <a:srgbClr val="5F7B4F"/>
                </a:solidFill>
                <a:latin typeface="Arial"/>
              </a:rPr>
              <a:t>BACKUP — EARLIER PILOT MEASUREMENT</a:t>
            </a:r>
          </a:p>
        </p:txBody>
      </p:sp>
      <p:sp>
        <p:nvSpPr>
          <p:cNvPr id="3" name="TextBox 2"/>
          <p:cNvSpPr txBox="1"/>
          <p:nvPr/>
        </p:nvSpPr>
        <p:spPr>
          <a:xfrm>
            <a:off x="822960" y="841248"/>
            <a:ext cx="10698480" cy="914400"/>
          </a:xfrm>
          <a:prstGeom prst="rect">
            <a:avLst/>
          </a:prstGeom>
          <a:noFill/>
        </p:spPr>
        <p:txBody>
          <a:bodyPr wrap="square" anchor="t" lIns="0" rIns="0" tIns="0" bIns="0">
            <a:spAutoFit/>
          </a:bodyPr>
          <a:lstStyle/>
          <a:p>
            <a:pPr algn="l">
              <a:lnSpc>
                <a:spcPct val="100000"/>
              </a:lnSpc>
              <a:spcBef>
                <a:spcPts val="0"/>
              </a:spcBef>
              <a:spcAft>
                <a:spcPts val="400"/>
              </a:spcAft>
            </a:pPr>
            <a:r>
              <a:rPr sz="2600" b="1" i="0">
                <a:solidFill>
                  <a:srgbClr val="1D1D21"/>
                </a:solidFill>
                <a:latin typeface="Arial"/>
              </a:rPr>
              <a:t>Pilot: OFF vs BLS, judged head-to-head</a:t>
            </a:r>
          </a:p>
        </p:txBody>
      </p:sp>
      <p:sp>
        <p:nvSpPr>
          <p:cNvPr id="4" name="Rectangle 3"/>
          <p:cNvSpPr/>
          <p:nvPr/>
        </p:nvSpPr>
        <p:spPr>
          <a:xfrm>
            <a:off x="841248" y="1481328"/>
            <a:ext cx="1371600" cy="41148"/>
          </a:xfrm>
          <a:prstGeom prst="rect">
            <a:avLst/>
          </a:prstGeom>
          <a:solidFill>
            <a:srgbClr val="7C9A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1536192"/>
            <a:ext cx="10515600" cy="365760"/>
          </a:xfrm>
          <a:prstGeom prst="rect">
            <a:avLst/>
          </a:prstGeom>
          <a:noFill/>
        </p:spPr>
        <p:txBody>
          <a:bodyPr wrap="square" anchor="t" lIns="0" rIns="0" tIns="0" bIns="0">
            <a:spAutoFit/>
          </a:bodyPr>
          <a:lstStyle/>
          <a:p>
            <a:pPr algn="l">
              <a:lnSpc>
                <a:spcPct val="100000"/>
              </a:lnSpc>
              <a:spcBef>
                <a:spcPts val="0"/>
              </a:spcBef>
              <a:spcAft>
                <a:spcPts val="400"/>
              </a:spcAft>
            </a:pPr>
            <a:r>
              <a:rPr sz="1200" b="0" i="1">
                <a:solidFill>
                  <a:srgbClr val="6E6F74"/>
                </a:solidFill>
                <a:latin typeface="Arial"/>
              </a:rPr>
              <a:t>Different method than Recall@5 — an earlier LLM-judge pilot on 76 items. Not directly comparable; kept for context.</a:t>
            </a:r>
          </a:p>
        </p:txBody>
      </p:sp>
      <p:sp>
        <p:nvSpPr>
          <p:cNvPr id="6" name="Rounded Rectangle 5"/>
          <p:cNvSpPr/>
          <p:nvPr/>
        </p:nvSpPr>
        <p:spPr>
          <a:xfrm>
            <a:off x="822960" y="1965960"/>
            <a:ext cx="6903720" cy="3200400"/>
          </a:xfrm>
          <a:prstGeom prst="roundRect">
            <a:avLst>
              <a:gd name="adj" fmla="val 4000"/>
            </a:avLst>
          </a:prstGeom>
          <a:solidFill>
            <a:srgbClr val="FFFFFF"/>
          </a:solidFill>
          <a:ln w="9525">
            <a:solidFill>
              <a:srgbClr val="E5E4E0"/>
            </a:solidFill>
          </a:ln>
          <a:effectLst/>
          <a:effectLst>
            <a:outerShdw blurRad="80000" dist="30000" dir="5400000" rotWithShape="0">
              <a:srgbClr val="1D1D21">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baseline.png"/>
          <p:cNvPicPr>
            <a:picLocks noChangeAspect="1"/>
          </p:cNvPicPr>
          <p:nvPr/>
        </p:nvPicPr>
        <p:blipFill>
          <a:blip r:embed="rId2"/>
          <a:stretch>
            <a:fillRect/>
          </a:stretch>
        </p:blipFill>
        <p:spPr>
          <a:xfrm>
            <a:off x="960120" y="2148840"/>
            <a:ext cx="6629400" cy="2392510"/>
          </a:xfrm>
          <a:prstGeom prst="rect">
            <a:avLst/>
          </a:prstGeom>
        </p:spPr>
      </p:pic>
      <p:sp>
        <p:nvSpPr>
          <p:cNvPr id="8" name="Rounded Rectangle 7"/>
          <p:cNvSpPr/>
          <p:nvPr/>
        </p:nvSpPr>
        <p:spPr>
          <a:xfrm>
            <a:off x="8001000" y="1965960"/>
            <a:ext cx="3364992" cy="960120"/>
          </a:xfrm>
          <a:prstGeom prst="roundRect">
            <a:avLst>
              <a:gd name="adj" fmla="val 6000"/>
            </a:avLst>
          </a:prstGeom>
          <a:solidFill>
            <a:srgbClr val="FFFFFF"/>
          </a:solidFill>
          <a:ln w="9525">
            <a:solidFill>
              <a:srgbClr val="E5E4E0"/>
            </a:solidFill>
          </a:ln>
          <a:effectLst/>
          <a:effectLst>
            <a:outerShdw blurRad="80000" dist="30000" dir="5400000" rotWithShape="0">
              <a:srgbClr val="1D1D21">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8001000" y="2093976"/>
            <a:ext cx="73152" cy="704088"/>
          </a:xfrm>
          <a:prstGeom prst="rect">
            <a:avLst/>
          </a:prstGeom>
          <a:solidFill>
            <a:srgbClr val="7C9A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75320" y="2093976"/>
            <a:ext cx="2980944" cy="722376"/>
          </a:xfrm>
          <a:prstGeom prst="rect">
            <a:avLst/>
          </a:prstGeom>
          <a:noFill/>
        </p:spPr>
        <p:txBody>
          <a:bodyPr wrap="square" anchor="ctr" lIns="0" rIns="0" tIns="0" bIns="0">
            <a:spAutoFit/>
          </a:bodyPr>
          <a:lstStyle/>
          <a:p>
            <a:pPr algn="l">
              <a:lnSpc>
                <a:spcPct val="102000"/>
              </a:lnSpc>
              <a:spcBef>
                <a:spcPts val="0"/>
              </a:spcBef>
              <a:spcAft>
                <a:spcPts val="300"/>
              </a:spcAft>
            </a:pPr>
            <a:r>
              <a:rPr sz="2900" b="1" i="0">
                <a:solidFill>
                  <a:srgbClr val="7C9A6A"/>
                </a:solidFill>
                <a:latin typeface="Arial"/>
              </a:rPr>
              <a:t>66%</a:t>
            </a:r>
          </a:p>
          <a:p>
            <a:pPr algn="l">
              <a:lnSpc>
                <a:spcPct val="102000"/>
              </a:lnSpc>
              <a:spcBef>
                <a:spcPts val="0"/>
              </a:spcBef>
              <a:spcAft>
                <a:spcPts val="300"/>
              </a:spcAft>
            </a:pPr>
            <a:r>
              <a:rPr sz="1250" b="1" i="0">
                <a:solidFill>
                  <a:srgbClr val="1D1D21"/>
                </a:solidFill>
                <a:latin typeface="Arial"/>
              </a:rPr>
              <a:t>OFF usable (pilot)</a:t>
            </a:r>
          </a:p>
          <a:p>
            <a:pPr algn="l">
              <a:lnSpc>
                <a:spcPct val="102000"/>
              </a:lnSpc>
              <a:spcBef>
                <a:spcPts val="0"/>
              </a:spcBef>
              <a:spcAft>
                <a:spcPts val="300"/>
              </a:spcAft>
            </a:pPr>
            <a:r>
              <a:rPr sz="1050" b="0" i="0">
                <a:solidFill>
                  <a:srgbClr val="6E6F74"/>
                </a:solidFill>
                <a:latin typeface="Arial"/>
              </a:rPr>
              <a:t>correct + partial, LLM-judged</a:t>
            </a:r>
          </a:p>
        </p:txBody>
      </p:sp>
      <p:sp>
        <p:nvSpPr>
          <p:cNvPr id="11" name="Rounded Rectangle 10"/>
          <p:cNvSpPr/>
          <p:nvPr/>
        </p:nvSpPr>
        <p:spPr>
          <a:xfrm>
            <a:off x="8001000" y="3035808"/>
            <a:ext cx="3364992" cy="960120"/>
          </a:xfrm>
          <a:prstGeom prst="roundRect">
            <a:avLst>
              <a:gd name="adj" fmla="val 6000"/>
            </a:avLst>
          </a:prstGeom>
          <a:solidFill>
            <a:srgbClr val="FFFFFF"/>
          </a:solidFill>
          <a:ln w="9525">
            <a:solidFill>
              <a:srgbClr val="E5E4E0"/>
            </a:solidFill>
          </a:ln>
          <a:effectLst/>
          <a:effectLst>
            <a:outerShdw blurRad="80000" dist="30000" dir="5400000" rotWithShape="0">
              <a:srgbClr val="1D1D21">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8001000" y="3163824"/>
            <a:ext cx="73152" cy="704088"/>
          </a:xfrm>
          <a:prstGeom prst="rect">
            <a:avLst/>
          </a:prstGeom>
          <a:solidFill>
            <a:srgbClr val="5F7B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275320" y="3163824"/>
            <a:ext cx="2980944" cy="722376"/>
          </a:xfrm>
          <a:prstGeom prst="rect">
            <a:avLst/>
          </a:prstGeom>
          <a:noFill/>
        </p:spPr>
        <p:txBody>
          <a:bodyPr wrap="square" anchor="ctr" lIns="0" rIns="0" tIns="0" bIns="0">
            <a:spAutoFit/>
          </a:bodyPr>
          <a:lstStyle/>
          <a:p>
            <a:pPr algn="l">
              <a:lnSpc>
                <a:spcPct val="102000"/>
              </a:lnSpc>
              <a:spcBef>
                <a:spcPts val="0"/>
              </a:spcBef>
              <a:spcAft>
                <a:spcPts val="300"/>
              </a:spcAft>
            </a:pPr>
            <a:r>
              <a:rPr sz="2900" b="1" i="0">
                <a:solidFill>
                  <a:srgbClr val="5F7B4F"/>
                </a:solidFill>
                <a:latin typeface="Arial"/>
              </a:rPr>
              <a:t>2×</a:t>
            </a:r>
          </a:p>
          <a:p>
            <a:pPr algn="l">
              <a:lnSpc>
                <a:spcPct val="102000"/>
              </a:lnSpc>
              <a:spcBef>
                <a:spcPts val="0"/>
              </a:spcBef>
              <a:spcAft>
                <a:spcPts val="300"/>
              </a:spcAft>
            </a:pPr>
            <a:r>
              <a:rPr sz="1250" b="1" i="0">
                <a:solidFill>
                  <a:srgbClr val="1D1D21"/>
                </a:solidFill>
                <a:latin typeface="Arial"/>
              </a:rPr>
              <a:t>OFF beats BLS</a:t>
            </a:r>
          </a:p>
          <a:p>
            <a:pPr algn="l">
              <a:lnSpc>
                <a:spcPct val="102000"/>
              </a:lnSpc>
              <a:spcBef>
                <a:spcPts val="0"/>
              </a:spcBef>
              <a:spcAft>
                <a:spcPts val="300"/>
              </a:spcAft>
            </a:pPr>
            <a:r>
              <a:rPr sz="1050" b="0" i="0">
                <a:solidFill>
                  <a:srgbClr val="6E6F74"/>
                </a:solidFill>
                <a:latin typeface="Arial"/>
              </a:rPr>
              <a:t>54% vs 32% correct on identity</a:t>
            </a:r>
          </a:p>
        </p:txBody>
      </p:sp>
      <p:sp>
        <p:nvSpPr>
          <p:cNvPr id="14" name="Rounded Rectangle 13"/>
          <p:cNvSpPr/>
          <p:nvPr/>
        </p:nvSpPr>
        <p:spPr>
          <a:xfrm>
            <a:off x="8001000" y="4105656"/>
            <a:ext cx="3364992" cy="960120"/>
          </a:xfrm>
          <a:prstGeom prst="roundRect">
            <a:avLst>
              <a:gd name="adj" fmla="val 6000"/>
            </a:avLst>
          </a:prstGeom>
          <a:solidFill>
            <a:srgbClr val="FFFFFF"/>
          </a:solidFill>
          <a:ln w="9525">
            <a:solidFill>
              <a:srgbClr val="E5E4E0"/>
            </a:solidFill>
          </a:ln>
          <a:effectLst/>
          <a:effectLst>
            <a:outerShdw blurRad="80000" dist="30000" dir="5400000" rotWithShape="0">
              <a:srgbClr val="1D1D21">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8001000" y="4233672"/>
            <a:ext cx="73152" cy="704088"/>
          </a:xfrm>
          <a:prstGeom prst="rect">
            <a:avLst/>
          </a:prstGeom>
          <a:solidFill>
            <a:srgbClr val="7C9A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275320" y="4233672"/>
            <a:ext cx="2980944" cy="722376"/>
          </a:xfrm>
          <a:prstGeom prst="rect">
            <a:avLst/>
          </a:prstGeom>
          <a:noFill/>
        </p:spPr>
        <p:txBody>
          <a:bodyPr wrap="square" anchor="ctr" lIns="0" rIns="0" tIns="0" bIns="0">
            <a:spAutoFit/>
          </a:bodyPr>
          <a:lstStyle/>
          <a:p>
            <a:pPr algn="l">
              <a:lnSpc>
                <a:spcPct val="102000"/>
              </a:lnSpc>
              <a:spcBef>
                <a:spcPts val="0"/>
              </a:spcBef>
              <a:spcAft>
                <a:spcPts val="300"/>
              </a:spcAft>
            </a:pPr>
            <a:r>
              <a:rPr sz="2900" b="1" i="0">
                <a:solidFill>
                  <a:srgbClr val="7C9A6A"/>
                </a:solidFill>
                <a:latin typeface="Arial"/>
              </a:rPr>
              <a:t>96%</a:t>
            </a:r>
          </a:p>
          <a:p>
            <a:pPr algn="l">
              <a:lnSpc>
                <a:spcPct val="102000"/>
              </a:lnSpc>
              <a:spcBef>
                <a:spcPts val="0"/>
              </a:spcBef>
              <a:spcAft>
                <a:spcPts val="300"/>
              </a:spcAft>
            </a:pPr>
            <a:r>
              <a:rPr sz="1250" b="1" i="0">
                <a:solidFill>
                  <a:srgbClr val="1D1D21"/>
                </a:solidFill>
                <a:latin typeface="Arial"/>
              </a:rPr>
              <a:t>Judge agreement</a:t>
            </a:r>
          </a:p>
          <a:p>
            <a:pPr algn="l">
              <a:lnSpc>
                <a:spcPct val="102000"/>
              </a:lnSpc>
              <a:spcBef>
                <a:spcPts val="0"/>
              </a:spcBef>
              <a:spcAft>
                <a:spcPts val="300"/>
              </a:spcAft>
            </a:pPr>
            <a:r>
              <a:rPr sz="1050" b="0" i="0">
                <a:solidFill>
                  <a:srgbClr val="6E6F74"/>
                </a:solidFill>
                <a:latin typeface="Arial"/>
              </a:rPr>
              <a:t>3/3 unanimous — pilot metric</a:t>
            </a:r>
          </a:p>
        </p:txBody>
      </p:sp>
      <p:sp>
        <p:nvSpPr>
          <p:cNvPr id="17" name="TextBox 16"/>
          <p:cNvSpPr txBox="1"/>
          <p:nvPr/>
        </p:nvSpPr>
        <p:spPr>
          <a:xfrm>
            <a:off x="822960" y="5349240"/>
            <a:ext cx="10515600" cy="457200"/>
          </a:xfrm>
          <a:prstGeom prst="rect">
            <a:avLst/>
          </a:prstGeom>
          <a:noFill/>
        </p:spPr>
        <p:txBody>
          <a:bodyPr wrap="square" anchor="t" lIns="0" rIns="0" tIns="0" bIns="0">
            <a:spAutoFit/>
          </a:bodyPr>
          <a:lstStyle/>
          <a:p>
            <a:pPr algn="l">
              <a:lnSpc>
                <a:spcPct val="105000"/>
              </a:lnSpc>
              <a:spcBef>
                <a:spcPts val="0"/>
              </a:spcBef>
              <a:spcAft>
                <a:spcPts val="400"/>
              </a:spcAft>
            </a:pPr>
            <a:r>
              <a:rPr sz="1250" b="1" i="0">
                <a:solidFill>
                  <a:srgbClr val="5F7B4F"/>
                </a:solidFill>
                <a:latin typeface="Arial"/>
              </a:rPr>
              <a:t>Why it still matters:  </a:t>
            </a:r>
            <a:r>
              <a:rPr sz="1250" b="0" i="0">
                <a:solidFill>
                  <a:srgbClr val="1D1D21"/>
                </a:solidFill>
                <a:latin typeface="Arial"/>
              </a:rPr>
              <a:t>it's why BLS leads for nutrients and OFF is only a fallback — and why we moved to the stricter, human-verified Recall@5.</a:t>
            </a:r>
          </a:p>
        </p:txBody>
      </p:sp>
      <p:sp>
        <p:nvSpPr>
          <p:cNvPr id="18" name="TextBox 17"/>
          <p:cNvSpPr txBox="1"/>
          <p:nvPr/>
        </p:nvSpPr>
        <p:spPr>
          <a:xfrm>
            <a:off x="548640" y="6428232"/>
            <a:ext cx="4572000" cy="274320"/>
          </a:xfrm>
          <a:prstGeom prst="rect">
            <a:avLst/>
          </a:prstGeom>
          <a:noFill/>
        </p:spPr>
        <p:txBody>
          <a:bodyPr wrap="square" anchor="t" lIns="0" rIns="0" tIns="0" bIns="0">
            <a:spAutoFit/>
          </a:bodyPr>
          <a:lstStyle/>
          <a:p>
            <a:pPr algn="l">
              <a:lnSpc>
                <a:spcPct val="100000"/>
              </a:lnSpc>
              <a:spcBef>
                <a:spcPts val="0"/>
              </a:spcBef>
              <a:spcAft>
                <a:spcPts val="400"/>
              </a:spcAft>
            </a:pPr>
            <a:r>
              <a:rPr sz="900" b="1" i="0">
                <a:solidFill>
                  <a:srgbClr val="6E6F74"/>
                </a:solidFill>
                <a:latin typeface="Arial"/>
              </a:rPr>
              <a:t>NutriWise</a:t>
            </a:r>
            <a:r>
              <a:rPr sz="900" b="0" i="0">
                <a:solidFill>
                  <a:srgbClr val="6E6F74"/>
                </a:solidFill>
                <a:latin typeface="Arial"/>
              </a:rPr>
              <a:t>  ·  Backup</a:t>
            </a:r>
          </a:p>
        </p:txBody>
      </p:sp>
      <p:sp>
        <p:nvSpPr>
          <p:cNvPr id="19" name="TextBox 18"/>
          <p:cNvSpPr txBox="1"/>
          <p:nvPr/>
        </p:nvSpPr>
        <p:spPr>
          <a:xfrm>
            <a:off x="9875520" y="6428232"/>
            <a:ext cx="1737360" cy="274320"/>
          </a:xfrm>
          <a:prstGeom prst="rect">
            <a:avLst/>
          </a:prstGeom>
          <a:noFill/>
        </p:spPr>
        <p:txBody>
          <a:bodyPr wrap="square" anchor="t" lIns="0" rIns="0" tIns="0" bIns="0">
            <a:spAutoFit/>
          </a:bodyPr>
          <a:lstStyle/>
          <a:p>
            <a:pPr algn="r">
              <a:lnSpc>
                <a:spcPct val="100000"/>
              </a:lnSpc>
              <a:spcBef>
                <a:spcPts val="0"/>
              </a:spcBef>
              <a:spcAft>
                <a:spcPts val="400"/>
              </a:spcAft>
            </a:pPr>
            <a:r>
              <a:rPr sz="900" b="0" i="1">
                <a:solidFill>
                  <a:srgbClr val="6E6F74"/>
                </a:solidFill>
                <a:latin typeface="Arial"/>
              </a:rPr>
              <a:t>appendix</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