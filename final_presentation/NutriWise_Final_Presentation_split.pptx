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71" r:id="rId22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576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g/KwOh831FyxQv3It/CW1R4CIC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57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customschemas.google.com/relationships/presentationmetadata" Target="metadata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e7f05a7f_2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e7f05a7f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J: </a:t>
            </a:r>
            <a:r>
              <a:rPr b="1" lang="en-US">
                <a:solidFill>
                  <a:schemeClr val="dk1"/>
                </a:solidFill>
              </a:rPr>
              <a:t>Just a moment! //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I'm quickly logging my lunch / in my food app.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[...]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Upload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Datei vs. manuell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Korrektur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Match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Unit/Menge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Insights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kcal, makro, micro, top lebensmittel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Profile (+ Onboarding-Chat nennen)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Daten zum berechnen oder bei Neuanmeldung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Pantry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Was vorhanden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Gegessen/entfernen aus anderen Gründen → Slider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Sortierung nach Länge im Lager/ geschätze Haltbarkeit vs. nach Kategory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Recipts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Suche nach Rezepten anahnd Präferenzen + Feedback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S: Pretty cool!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5e7f05a7f_2_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f5e7f05a7f_2_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Our whole idea in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one sentence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/  you upload a supermarket </a:t>
            </a:r>
            <a:r>
              <a:rPr lang="en-US" sz="80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/  and you get honest </a:t>
            </a:r>
            <a:r>
              <a:rPr lang="en-US" sz="800">
                <a:solidFill>
                  <a:srgbClr val="1F7A55"/>
                </a:solidFill>
                <a:highlight>
                  <a:srgbClr val="E2F2EA"/>
                </a:highlight>
              </a:rPr>
              <a:t>nju-TRISH-nl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feedback.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A receipt-first nutrition assistant.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Hi everyone // 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we're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NutriWise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 I'm Jennifer Rake, /  and this is Stuart Kasemeier.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Quick plan: / I'll cover the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problem and architecture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/ Stuart shows how we made the data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solid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/  and I'll close with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where we're headed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Warum und wie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Let's start with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why this matters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f5e7f05a7f_2_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c94b8770_1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g3f5c94b8770_1_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Most of us want to eat a little better. /  So we download an app.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And every one asks us to type in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every meal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 /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every day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Be honest: / who's still doing that after two weeks? 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Nobody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The habit dies. / We quit.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The real problem isn't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willpower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WILL-pau-er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 It's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effort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There's no easy record of what we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really eat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Except / there already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is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one. // 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It's your supermarket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The one honest record of what you bought /  and you get it for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free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/  every shop.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So we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flipped it around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You snap your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 Your pantry fills itself. / You tap what you ate / 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no typing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At the end,  / you see where your nutrition has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gaps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And you get a couple of easy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RESS-i-piis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to close them.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➡️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Our vision and mission is simple: / eating better with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zero extra effort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/ turning a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ri-SIIT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you already have into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nutritional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nju-TRISH-nl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insights.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f5c94b8770_1_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5c94b8770_1_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g3f5c94b8770_1_6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So / who is this for?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Let me introduce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three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people.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🔵 Sara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is vegan. / She's not counting calories.  / She wants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proof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her diet works.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🔵 Tobias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has two kids / and no time. / He just wants to be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told what to do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🔵 Lena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works out. / But food feels like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too much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/  and a bit shaming. 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She wants to feel she's doing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enough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/ without a second job.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➡️ 🔵 Three different people. / The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same need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/  eat better without the effort.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And these are just examples. // 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Our core group is broader: /  health-minded adults,  / twenty-five and up,  / here in Germany.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5c94b8770_1_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5c94b8770_1_1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f5c94b8770_1_1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So how does it work?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Four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simple steps.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🔵 One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 / you capture your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 / a photo or a PDF.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Two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/ we read the items. 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Three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 / we match each one / to a trusted, / official German food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database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Four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 / we turn that into feedback  / your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gaps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 / and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RESS-i-piis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➡️ 🔵 Two things we're proud of. / Both are about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trust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First, / 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privacy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 Your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is processed on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our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server. / It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never leaves it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And you can delete everything with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one tap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Second, /  we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don't guess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 When we're not sure,  / we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tell you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 / instead of inventing a number.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In health,  / that honesty is the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whole point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➡️ 🔵 All of that depends on getting the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data right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And that's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not easy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So I'll hand over to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Stuart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[... exactly look like]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5c94b8770_1_1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3c959be5c_0_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f3c959be5c_0_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[...investigation]</a:t>
            </a:r>
            <a:endParaRPr/>
          </a:p>
        </p:txBody>
      </p:sp>
      <p:sp>
        <p:nvSpPr>
          <p:cNvPr id="243" name="Google Shape;243;g3f3c959be5c_0_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3c959be5c_0_8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f3c959be5c_0_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[..]</a:t>
            </a:r>
            <a:endParaRPr/>
          </a:p>
        </p:txBody>
      </p:sp>
      <p:sp>
        <p:nvSpPr>
          <p:cNvPr id="256" name="Google Shape;256;g3f3c959be5c_0_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5c94b8770_1_1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g3f5c94b8770_1_1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Thanks, Stuart.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So  /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where are we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?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Everything in this first column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runs today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 That's the loop you just saw in the demo.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//  It works, / 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end to end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➡️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What's next? // 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Four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things. / A friendly AI coach you can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ask questions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Native iPhone and Android apps. / A shopping list built from this week's supermarket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deals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And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sharper 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0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 reading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 / so more items land correctly.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For growth, /  the 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0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opens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real doors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here in Germany: / health-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insurance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in-SCHUR-ens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bonuses, / corporate health,  / and retail partners.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➡️ 🔵 But here's our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honest bet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Do people trust a receipt-based tip enough to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change what they buy next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? 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And does the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check-off habit stick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? 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That's what this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version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is all about.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f5c94b8770_1_1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5c94b8770_1_20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g3f5c94b8770_1_2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That's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NutriWise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 / upload a </a:t>
            </a:r>
            <a:r>
              <a:rPr lang="en-US" sz="80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 / get </a:t>
            </a:r>
            <a:r>
              <a:rPr lang="en-US" sz="800">
                <a:solidFill>
                  <a:srgbClr val="1F7A55"/>
                </a:solidFill>
                <a:highlight>
                  <a:srgbClr val="E2F2EA"/>
                </a:highlight>
              </a:rPr>
              <a:t>nju-TRISH-nl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insights.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The qr-codes on screen take you to our app and the repo. /  You can connect with us on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LinkedIn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And there's an appendix with the details.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🔵 Thank you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/ we'd love your questions.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f5c94b8770_1_2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5c94b8770_1_2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g3f5c94b8770_1_2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[Appendix — persona 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Sara, the dietary restrictor. Vegan by values; wants proof she's healthy; hates preachy apps.</a:t>
            </a:r>
            <a:endParaRPr/>
          </a:p>
        </p:txBody>
      </p:sp>
      <p:sp>
        <p:nvSpPr>
          <p:cNvPr id="360" name="Google Shape;360;g3f5c94b8770_1_2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5c94b8770_1_2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g3f5c94b8770_1_2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[Appendix — persona 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Tobias, the busy professional. No time, responds to systems. Secret: scared of getting sick like his dad.</a:t>
            </a:r>
            <a:endParaRPr/>
          </a:p>
        </p:txBody>
      </p:sp>
      <p:sp>
        <p:nvSpPr>
          <p:cNvPr id="405" name="Google Shape;405;g3f5c94b8770_1_2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5c94b8770_1_3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g3f5c94b8770_1_3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[Appendix — persona 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Lena, the early adopter. Design-led; nutrition feels shameful. Secret: stop feeling guilty, feel she's doing enough.</a:t>
            </a:r>
            <a:endParaRPr/>
          </a:p>
        </p:txBody>
      </p:sp>
      <p:sp>
        <p:nvSpPr>
          <p:cNvPr id="450" name="Google Shape;450;g3f5c94b8770_1_3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5c94b8770_1_3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g3f5c94b8770_1_3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f5c94b8770_1_3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5c94b8770_1_10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6" name="Google Shape;536;g3f5c94b8770_1_10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f5c94b8770_1_10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5c94b8770_1_3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g3f5c94b8770_1_3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f5c94b8770_1_3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2.png"/><Relationship Id="rId5" Type="http://schemas.openxmlformats.org/officeDocument/2006/relationships/image" Target="../media/image7.jpg"/><Relationship Id="rId6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5e7f05a7f_2_5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5e7f05a7f_2_35"/>
          <p:cNvSpPr/>
          <p:nvPr/>
        </p:nvSpPr>
        <p:spPr>
          <a:xfrm>
            <a:off x="0" y="0"/>
            <a:ext cx="12191700" cy="1281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f5e7f05a7f_2_35"/>
          <p:cNvSpPr/>
          <p:nvPr/>
        </p:nvSpPr>
        <p:spPr>
          <a:xfrm>
            <a:off x="8138160" y="128016"/>
            <a:ext cx="4053600" cy="6729900"/>
          </a:xfrm>
          <a:prstGeom prst="rect">
            <a:avLst/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5e7f05a7f_2_35"/>
          <p:cNvSpPr/>
          <p:nvPr/>
        </p:nvSpPr>
        <p:spPr>
          <a:xfrm>
            <a:off x="822960" y="777240"/>
            <a:ext cx="310800" cy="310800"/>
          </a:xfrm>
          <a:prstGeom prst="roundRect">
            <a:avLst>
              <a:gd fmla="val 30000" name="adj"/>
            </a:avLst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5e7f05a7f_2_35"/>
          <p:cNvSpPr txBox="1"/>
          <p:nvPr/>
        </p:nvSpPr>
        <p:spPr>
          <a:xfrm>
            <a:off x="1243584" y="749808"/>
            <a:ext cx="365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sp>
        <p:nvSpPr>
          <p:cNvPr id="94" name="Google Shape;94;g3f5e7f05a7f_2_35"/>
          <p:cNvSpPr txBox="1"/>
          <p:nvPr/>
        </p:nvSpPr>
        <p:spPr>
          <a:xfrm>
            <a:off x="822960" y="1874519"/>
            <a:ext cx="67665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Upload your </a:t>
            </a:r>
            <a:endParaRPr b="1" i="0" sz="4000" u="none" cap="none" strike="noStrike">
              <a:solidFill>
                <a:srgbClr val="1D1D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D1D21"/>
                </a:solidFill>
              </a:rPr>
              <a:t>supermarket </a:t>
            </a:r>
            <a:r>
              <a:rPr b="1" i="0" lang="en-US" sz="4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receipts.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5F7B4F"/>
                </a:solidFill>
              </a:rPr>
              <a:t>Gain</a:t>
            </a:r>
            <a:r>
              <a:rPr b="1" i="0" lang="en-US" sz="40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4000">
                <a:solidFill>
                  <a:srgbClr val="5F7B4F"/>
                </a:solidFill>
              </a:rPr>
              <a:t>nutritional insights.</a:t>
            </a:r>
            <a:endParaRPr/>
          </a:p>
        </p:txBody>
      </p:sp>
      <p:sp>
        <p:nvSpPr>
          <p:cNvPr id="95" name="Google Shape;95;g3f5e7f05a7f_2_35"/>
          <p:cNvSpPr/>
          <p:nvPr/>
        </p:nvSpPr>
        <p:spPr>
          <a:xfrm>
            <a:off x="841248" y="4114800"/>
            <a:ext cx="31089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5e7f05a7f_2_35"/>
          <p:cNvSpPr txBox="1"/>
          <p:nvPr/>
        </p:nvSpPr>
        <p:spPr>
          <a:xfrm>
            <a:off x="841248" y="4343400"/>
            <a:ext cx="64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 receipt-first nutrition assistant.</a:t>
            </a:r>
            <a:endParaRPr/>
          </a:p>
        </p:txBody>
      </p:sp>
      <p:sp>
        <p:nvSpPr>
          <p:cNvPr id="97" name="Google Shape;97;g3f5e7f05a7f_2_35"/>
          <p:cNvSpPr txBox="1"/>
          <p:nvPr/>
        </p:nvSpPr>
        <p:spPr>
          <a:xfrm>
            <a:off x="822960" y="5212080"/>
            <a:ext cx="6949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6E6F74"/>
                </a:solidFill>
              </a:rPr>
              <a:t>Spiced Academy x neue fische </a:t>
            </a: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Capstone</a:t>
            </a:r>
            <a:r>
              <a:rPr lang="en-US" sz="1250">
                <a:solidFill>
                  <a:srgbClr val="6E6F74"/>
                </a:solidFill>
              </a:rPr>
              <a:t>  · </a:t>
            </a:r>
            <a:r>
              <a:rPr lang="en-US" sz="1250">
                <a:solidFill>
                  <a:srgbClr val="6E6F74"/>
                </a:solidFill>
              </a:rPr>
              <a:t>AI Project Management  · </a:t>
            </a:r>
            <a:r>
              <a:rPr lang="en-US" sz="1250">
                <a:solidFill>
                  <a:srgbClr val="6E6F74"/>
                </a:solidFill>
              </a:rPr>
              <a:t>July 31, 2026</a:t>
            </a:r>
            <a:endParaRPr/>
          </a:p>
        </p:txBody>
      </p:sp>
      <p:sp>
        <p:nvSpPr>
          <p:cNvPr id="98" name="Google Shape;98;g3f5e7f05a7f_2_35"/>
          <p:cNvSpPr txBox="1"/>
          <p:nvPr/>
        </p:nvSpPr>
        <p:spPr>
          <a:xfrm>
            <a:off x="9646920" y="2124456"/>
            <a:ext cx="2377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Jennifer Rake</a:t>
            </a:r>
            <a:endParaRPr/>
          </a:p>
        </p:txBody>
      </p:sp>
      <p:sp>
        <p:nvSpPr>
          <p:cNvPr id="99" name="Google Shape;99;g3f5e7f05a7f_2_35"/>
          <p:cNvSpPr txBox="1"/>
          <p:nvPr/>
        </p:nvSpPr>
        <p:spPr>
          <a:xfrm>
            <a:off x="9646920" y="3450336"/>
            <a:ext cx="2377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Stuart Kasemeier</a:t>
            </a:r>
            <a:endParaRPr/>
          </a:p>
        </p:txBody>
      </p:sp>
      <p:pic>
        <p:nvPicPr>
          <p:cNvPr id="100" name="Google Shape;100;g3f5e7f05a7f_2_35" title="Rake Jennifer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0538" y="1776413"/>
            <a:ext cx="1219200" cy="914400"/>
          </a:xfrm>
          <a:prstGeom prst="foldedCorner">
            <a:avLst>
              <a:gd fmla="val 16667" name="adj"/>
            </a:avLst>
          </a:prstGeom>
          <a:solidFill>
            <a:srgbClr val="7C9A6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1" name="Google Shape;101;g3f5e7f05a7f_2_35" title="Screenshot 2026-07-27 at 16.11.37.png"/>
          <p:cNvPicPr preferRelativeResize="0"/>
          <p:nvPr/>
        </p:nvPicPr>
        <p:blipFill rotWithShape="1">
          <a:blip r:embed="rId4">
            <a:alphaModFix/>
          </a:blip>
          <a:srcRect b="11125" l="0" r="0" t="11133"/>
          <a:stretch/>
        </p:blipFill>
        <p:spPr>
          <a:xfrm>
            <a:off x="8290538" y="3111775"/>
            <a:ext cx="1219200" cy="914400"/>
          </a:xfrm>
          <a:prstGeom prst="foldedCorner">
            <a:avLst>
              <a:gd fmla="val 16667" name="adj"/>
            </a:avLst>
          </a:prstGeom>
          <a:solidFill>
            <a:srgbClr val="7C9A6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2" name="Google Shape;102;g3f5e7f05a7f_2_35" title="logo@2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948" y="777253"/>
            <a:ext cx="310799" cy="310799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5c94b8770_1_19"/>
          <p:cNvSpPr txBox="1"/>
          <p:nvPr/>
        </p:nvSpPr>
        <p:spPr>
          <a:xfrm>
            <a:off x="822960" y="50292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PROBLEM &amp; SOLUTION</a:t>
            </a:r>
            <a:endParaRPr/>
          </a:p>
        </p:txBody>
      </p:sp>
      <p:sp>
        <p:nvSpPr>
          <p:cNvPr id="109" name="Google Shape;109;g3f5c94b8770_1_19"/>
          <p:cNvSpPr txBox="1"/>
          <p:nvPr/>
        </p:nvSpPr>
        <p:spPr>
          <a:xfrm>
            <a:off x="822960" y="822960"/>
            <a:ext cx="100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The gap we close</a:t>
            </a:r>
            <a:endParaRPr/>
          </a:p>
        </p:txBody>
      </p:sp>
      <p:sp>
        <p:nvSpPr>
          <p:cNvPr id="110" name="Google Shape;110;g3f5c94b8770_1_19"/>
          <p:cNvSpPr/>
          <p:nvPr/>
        </p:nvSpPr>
        <p:spPr>
          <a:xfrm>
            <a:off x="841248" y="1481328"/>
            <a:ext cx="1417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5c94b8770_1_19"/>
          <p:cNvSpPr/>
          <p:nvPr/>
        </p:nvSpPr>
        <p:spPr>
          <a:xfrm>
            <a:off x="815150" y="1808276"/>
            <a:ext cx="3520500" cy="43269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5c94b8770_1_19"/>
          <p:cNvSpPr txBox="1"/>
          <p:nvPr/>
        </p:nvSpPr>
        <p:spPr>
          <a:xfrm>
            <a:off x="1135188" y="2843289"/>
            <a:ext cx="54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113" name="Google Shape;113;g3f5c94b8770_1_19"/>
          <p:cNvSpPr txBox="1"/>
          <p:nvPr/>
        </p:nvSpPr>
        <p:spPr>
          <a:xfrm>
            <a:off x="1135188" y="3529089"/>
            <a:ext cx="2971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/>
          </a:p>
        </p:txBody>
      </p:sp>
      <p:sp>
        <p:nvSpPr>
          <p:cNvPr id="114" name="Google Shape;114;g3f5c94b8770_1_19"/>
          <p:cNvSpPr txBox="1"/>
          <p:nvPr/>
        </p:nvSpPr>
        <p:spPr>
          <a:xfrm>
            <a:off x="1135188" y="3803410"/>
            <a:ext cx="297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Logging kills the habit</a:t>
            </a:r>
            <a:endParaRPr/>
          </a:p>
        </p:txBody>
      </p:sp>
      <p:sp>
        <p:nvSpPr>
          <p:cNvPr id="115" name="Google Shape;115;g3f5c94b8770_1_19"/>
          <p:cNvSpPr txBox="1"/>
          <p:nvPr/>
        </p:nvSpPr>
        <p:spPr>
          <a:xfrm>
            <a:off x="1135188" y="4394526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16" name="Google Shape;116;g3f5c94b8770_1_19"/>
          <p:cNvSpPr txBox="1"/>
          <p:nvPr/>
        </p:nvSpPr>
        <p:spPr>
          <a:xfrm>
            <a:off x="1391220" y="4412814"/>
            <a:ext cx="271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Every app = type in every meal</a:t>
            </a:r>
            <a:endParaRPr/>
          </a:p>
        </p:txBody>
      </p:sp>
      <p:sp>
        <p:nvSpPr>
          <p:cNvPr id="117" name="Google Shape;117;g3f5c94b8770_1_19"/>
          <p:cNvSpPr txBox="1"/>
          <p:nvPr/>
        </p:nvSpPr>
        <p:spPr>
          <a:xfrm>
            <a:off x="1135188" y="4723711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18" name="Google Shape;118;g3f5c94b8770_1_19"/>
          <p:cNvSpPr txBox="1"/>
          <p:nvPr/>
        </p:nvSpPr>
        <p:spPr>
          <a:xfrm>
            <a:off x="1391220" y="4741998"/>
            <a:ext cx="271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Habit dies in weeks → people quit</a:t>
            </a:r>
            <a:endParaRPr/>
          </a:p>
        </p:txBody>
      </p:sp>
      <p:sp>
        <p:nvSpPr>
          <p:cNvPr id="119" name="Google Shape;119;g3f5c94b8770_1_19"/>
          <p:cNvSpPr txBox="1"/>
          <p:nvPr/>
        </p:nvSpPr>
        <p:spPr>
          <a:xfrm>
            <a:off x="1135188" y="5052894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20" name="Google Shape;120;g3f5c94b8770_1_19"/>
          <p:cNvSpPr txBox="1"/>
          <p:nvPr/>
        </p:nvSpPr>
        <p:spPr>
          <a:xfrm>
            <a:off x="1391220" y="5071182"/>
            <a:ext cx="271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No effortless record of eating</a:t>
            </a:r>
            <a:endParaRPr/>
          </a:p>
        </p:txBody>
      </p:sp>
      <p:sp>
        <p:nvSpPr>
          <p:cNvPr id="121" name="Google Shape;121;g3f5c94b8770_1_19"/>
          <p:cNvSpPr/>
          <p:nvPr/>
        </p:nvSpPr>
        <p:spPr>
          <a:xfrm>
            <a:off x="4564200" y="1808176"/>
            <a:ext cx="3520500" cy="4326900"/>
          </a:xfrm>
          <a:prstGeom prst="roundRect">
            <a:avLst>
              <a:gd fmla="val 4500" name="adj"/>
            </a:avLst>
          </a:prstGeom>
          <a:solidFill>
            <a:srgbClr val="EEF2EA"/>
          </a:solidFill>
          <a:ln cap="flat" cmpd="sng" w="9525">
            <a:solidFill>
              <a:srgbClr val="EEF2EA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f5c94b8770_1_19"/>
          <p:cNvSpPr txBox="1"/>
          <p:nvPr/>
        </p:nvSpPr>
        <p:spPr>
          <a:xfrm>
            <a:off x="4884228" y="3529089"/>
            <a:ext cx="2971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123" name="Google Shape;123;g3f5c94b8770_1_19"/>
          <p:cNvSpPr txBox="1"/>
          <p:nvPr/>
        </p:nvSpPr>
        <p:spPr>
          <a:xfrm>
            <a:off x="4884228" y="3803410"/>
            <a:ext cx="297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D1D21"/>
                </a:solidFill>
              </a:rPr>
              <a:t>R</a:t>
            </a:r>
            <a:r>
              <a:rPr b="1" i="0" lang="en-US" sz="21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eceipts log for you</a:t>
            </a:r>
            <a:endParaRPr/>
          </a:p>
        </p:txBody>
      </p:sp>
      <p:sp>
        <p:nvSpPr>
          <p:cNvPr id="124" name="Google Shape;124;g3f5c94b8770_1_19"/>
          <p:cNvSpPr txBox="1"/>
          <p:nvPr/>
        </p:nvSpPr>
        <p:spPr>
          <a:xfrm>
            <a:off x="4884228" y="441936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25" name="Google Shape;125;g3f5c94b8770_1_19"/>
          <p:cNvSpPr txBox="1"/>
          <p:nvPr/>
        </p:nvSpPr>
        <p:spPr>
          <a:xfrm>
            <a:off x="5140260" y="4437650"/>
            <a:ext cx="271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Snap receipt → pantry auto-fills</a:t>
            </a:r>
            <a:endParaRPr/>
          </a:p>
        </p:txBody>
      </p:sp>
      <p:sp>
        <p:nvSpPr>
          <p:cNvPr id="126" name="Google Shape;126;g3f5c94b8770_1_19"/>
          <p:cNvSpPr txBox="1"/>
          <p:nvPr/>
        </p:nvSpPr>
        <p:spPr>
          <a:xfrm>
            <a:off x="4884228" y="4751143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27" name="Google Shape;127;g3f5c94b8770_1_19"/>
          <p:cNvSpPr txBox="1"/>
          <p:nvPr/>
        </p:nvSpPr>
        <p:spPr>
          <a:xfrm>
            <a:off x="5140260" y="4769431"/>
            <a:ext cx="271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Tap what you ate, no typing</a:t>
            </a:r>
            <a:endParaRPr/>
          </a:p>
        </p:txBody>
      </p:sp>
      <p:sp>
        <p:nvSpPr>
          <p:cNvPr id="128" name="Google Shape;128;g3f5c94b8770_1_19"/>
          <p:cNvSpPr txBox="1"/>
          <p:nvPr/>
        </p:nvSpPr>
        <p:spPr>
          <a:xfrm>
            <a:off x="4884228" y="5082923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29" name="Google Shape;129;g3f5c94b8770_1_19"/>
          <p:cNvSpPr txBox="1"/>
          <p:nvPr/>
        </p:nvSpPr>
        <p:spPr>
          <a:xfrm>
            <a:off x="5140260" y="5101211"/>
            <a:ext cx="271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D1D21"/>
                </a:solidFill>
              </a:rPr>
              <a:t>G</a:t>
            </a: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aps + </a:t>
            </a:r>
            <a:r>
              <a:rPr lang="en-US" sz="1300">
                <a:solidFill>
                  <a:srgbClr val="1D1D21"/>
                </a:solidFill>
              </a:rPr>
              <a:t>recipes</a:t>
            </a:r>
            <a:endParaRPr/>
          </a:p>
        </p:txBody>
      </p:sp>
      <p:sp>
        <p:nvSpPr>
          <p:cNvPr id="130" name="Google Shape;130;g3f5c94b8770_1_19"/>
          <p:cNvSpPr/>
          <p:nvPr/>
        </p:nvSpPr>
        <p:spPr>
          <a:xfrm>
            <a:off x="8313225" y="1805876"/>
            <a:ext cx="3063300" cy="21153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f5c94b8770_1_19"/>
          <p:cNvSpPr/>
          <p:nvPr/>
        </p:nvSpPr>
        <p:spPr>
          <a:xfrm>
            <a:off x="8313225" y="2033333"/>
            <a:ext cx="73200" cy="16605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5c94b8770_1_19"/>
          <p:cNvSpPr txBox="1"/>
          <p:nvPr/>
        </p:nvSpPr>
        <p:spPr>
          <a:xfrm>
            <a:off x="8605833" y="2124314"/>
            <a:ext cx="260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VISION</a:t>
            </a:r>
            <a:endParaRPr/>
          </a:p>
        </p:txBody>
      </p:sp>
      <p:sp>
        <p:nvSpPr>
          <p:cNvPr id="133" name="Google Shape;133;g3f5c94b8770_1_19"/>
          <p:cNvSpPr txBox="1"/>
          <p:nvPr/>
        </p:nvSpPr>
        <p:spPr>
          <a:xfrm>
            <a:off x="8605833" y="2556479"/>
            <a:ext cx="25602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Eating better, zero extra effort</a:t>
            </a:r>
            <a:endParaRPr/>
          </a:p>
        </p:txBody>
      </p:sp>
      <p:sp>
        <p:nvSpPr>
          <p:cNvPr id="134" name="Google Shape;134;g3f5c94b8770_1_19"/>
          <p:cNvSpPr/>
          <p:nvPr/>
        </p:nvSpPr>
        <p:spPr>
          <a:xfrm>
            <a:off x="8313225" y="4126501"/>
            <a:ext cx="3063300" cy="20085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5c94b8770_1_19"/>
          <p:cNvSpPr/>
          <p:nvPr/>
        </p:nvSpPr>
        <p:spPr>
          <a:xfrm>
            <a:off x="8313225" y="4342484"/>
            <a:ext cx="73200" cy="1576800"/>
          </a:xfrm>
          <a:prstGeom prst="rect">
            <a:avLst/>
          </a:prstGeom>
          <a:solidFill>
            <a:srgbClr val="5F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f5c94b8770_1_19"/>
          <p:cNvSpPr txBox="1"/>
          <p:nvPr/>
        </p:nvSpPr>
        <p:spPr>
          <a:xfrm>
            <a:off x="8605833" y="4428878"/>
            <a:ext cx="260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MISSION</a:t>
            </a:r>
            <a:endParaRPr/>
          </a:p>
        </p:txBody>
      </p:sp>
      <p:sp>
        <p:nvSpPr>
          <p:cNvPr id="137" name="Google Shape;137;g3f5c94b8770_1_19"/>
          <p:cNvSpPr txBox="1"/>
          <p:nvPr/>
        </p:nvSpPr>
        <p:spPr>
          <a:xfrm>
            <a:off x="8605833" y="4839247"/>
            <a:ext cx="25602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Turn</a:t>
            </a:r>
            <a:r>
              <a:rPr b="1" lang="en-US" sz="1700">
                <a:solidFill>
                  <a:srgbClr val="1D1D21"/>
                </a:solidFill>
              </a:rPr>
              <a:t> </a:t>
            </a:r>
            <a:r>
              <a:rPr b="1" i="0" lang="en-US" sz="17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receipt</a:t>
            </a:r>
            <a:r>
              <a:rPr b="1" lang="en-US" sz="1700">
                <a:solidFill>
                  <a:srgbClr val="1D1D21"/>
                </a:solidFill>
              </a:rPr>
              <a:t>s </a:t>
            </a:r>
            <a:r>
              <a:rPr b="1" i="0" lang="en-US" sz="17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into </a:t>
            </a:r>
            <a:r>
              <a:rPr b="1" lang="en-US" sz="1700">
                <a:solidFill>
                  <a:srgbClr val="1D1D21"/>
                </a:solidFill>
              </a:rPr>
              <a:t>nutritional insights</a:t>
            </a:r>
            <a:endParaRPr/>
          </a:p>
        </p:txBody>
      </p:sp>
      <p:sp>
        <p:nvSpPr>
          <p:cNvPr id="138" name="Google Shape;138;g3f5c94b8770_1_19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02 /</a:t>
            </a:r>
            <a:r>
              <a:rPr lang="en-US" sz="900">
                <a:solidFill>
                  <a:srgbClr val="6E6F74"/>
                </a:solidFill>
              </a:rPr>
              <a:t>09</a:t>
            </a:r>
            <a:endParaRPr/>
          </a:p>
        </p:txBody>
      </p:sp>
      <p:pic>
        <p:nvPicPr>
          <p:cNvPr id="139" name="Google Shape;139;g3f5c94b8770_1_19"/>
          <p:cNvPicPr preferRelativeResize="0"/>
          <p:nvPr/>
        </p:nvPicPr>
        <p:blipFill rotWithShape="1">
          <a:blip r:embed="rId3">
            <a:alphaModFix/>
          </a:blip>
          <a:srcRect b="0" l="1225" r="0" t="0"/>
          <a:stretch/>
        </p:blipFill>
        <p:spPr>
          <a:xfrm>
            <a:off x="1328000" y="1997663"/>
            <a:ext cx="2494800" cy="1335000"/>
          </a:xfrm>
          <a:prstGeom prst="roundRect">
            <a:avLst>
              <a:gd fmla="val 16667" name="adj"/>
            </a:avLst>
          </a:prstGeom>
          <a:solidFill>
            <a:srgbClr val="EEF2E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0" name="Google Shape;140;g3f5c94b8770_1_19" title="Screenshot 2026-07-28 at 10.34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4601" y="1918899"/>
            <a:ext cx="1343700" cy="1749000"/>
          </a:xfrm>
          <a:prstGeom prst="roundRect">
            <a:avLst>
              <a:gd fmla="val 16667" name="adj"/>
            </a:avLst>
          </a:prstGeom>
          <a:solidFill>
            <a:srgbClr val="EEF2EA"/>
          </a:solidFill>
          <a:ln cap="flat" cmpd="sng" w="9525">
            <a:solidFill>
              <a:srgbClr val="EEF2EA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</p:pic>
      <p:pic>
        <p:nvPicPr>
          <p:cNvPr id="141" name="Google Shape;141;g3f5c94b8770_1_19" title="Screenshot 2026-07-28 at 10.36.2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5434" y="1918875"/>
            <a:ext cx="1587300" cy="1461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42" name="Google Shape;142;g3f5c94b8770_1_19"/>
          <p:cNvSpPr txBox="1"/>
          <p:nvPr/>
        </p:nvSpPr>
        <p:spPr>
          <a:xfrm>
            <a:off x="902208" y="65714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143" name="Google Shape;143;g3f5c94b8770_1_19" title="logo@2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050" y="65989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5c94b8770_1_61"/>
          <p:cNvSpPr txBox="1"/>
          <p:nvPr/>
        </p:nvSpPr>
        <p:spPr>
          <a:xfrm>
            <a:off x="822960" y="50292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TARGET GROUP</a:t>
            </a:r>
            <a:endParaRPr/>
          </a:p>
        </p:txBody>
      </p:sp>
      <p:sp>
        <p:nvSpPr>
          <p:cNvPr id="150" name="Google Shape;150;g3f5c94b8770_1_61"/>
          <p:cNvSpPr txBox="1"/>
          <p:nvPr/>
        </p:nvSpPr>
        <p:spPr>
          <a:xfrm>
            <a:off x="822960" y="822960"/>
            <a:ext cx="100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Who it's for</a:t>
            </a:r>
            <a:endParaRPr/>
          </a:p>
        </p:txBody>
      </p:sp>
      <p:sp>
        <p:nvSpPr>
          <p:cNvPr id="151" name="Google Shape;151;g3f5c94b8770_1_61"/>
          <p:cNvSpPr/>
          <p:nvPr/>
        </p:nvSpPr>
        <p:spPr>
          <a:xfrm>
            <a:off x="841248" y="1481328"/>
            <a:ext cx="1417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f5c94b8770_1_61"/>
          <p:cNvSpPr/>
          <p:nvPr/>
        </p:nvSpPr>
        <p:spPr>
          <a:xfrm>
            <a:off x="822960" y="1828800"/>
            <a:ext cx="3502200" cy="3794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f5c94b8770_1_61"/>
          <p:cNvSpPr/>
          <p:nvPr/>
        </p:nvSpPr>
        <p:spPr>
          <a:xfrm>
            <a:off x="1143000" y="2121408"/>
            <a:ext cx="567000" cy="567000"/>
          </a:xfrm>
          <a:prstGeom prst="roundRect">
            <a:avLst>
              <a:gd fmla="val 25000" name="adj"/>
            </a:avLst>
          </a:prstGeom>
          <a:solidFill>
            <a:srgbClr val="F3E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f5c94b8770_1_61"/>
          <p:cNvSpPr txBox="1"/>
          <p:nvPr/>
        </p:nvSpPr>
        <p:spPr>
          <a:xfrm>
            <a:off x="1143000" y="2244231"/>
            <a:ext cx="56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🌱</a:t>
            </a:r>
            <a:endParaRPr/>
          </a:p>
        </p:txBody>
      </p:sp>
      <p:sp>
        <p:nvSpPr>
          <p:cNvPr id="155" name="Google Shape;155;g3f5c94b8770_1_61"/>
          <p:cNvSpPr txBox="1"/>
          <p:nvPr/>
        </p:nvSpPr>
        <p:spPr>
          <a:xfrm>
            <a:off x="1143000" y="3657600"/>
            <a:ext cx="29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Sara, 25 · vegan</a:t>
            </a:r>
            <a:endParaRPr/>
          </a:p>
        </p:txBody>
      </p:sp>
      <p:sp>
        <p:nvSpPr>
          <p:cNvPr id="156" name="Google Shape;156;g3f5c94b8770_1_61"/>
          <p:cNvSpPr txBox="1"/>
          <p:nvPr/>
        </p:nvSpPr>
        <p:spPr>
          <a:xfrm>
            <a:off x="1143000" y="409651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57" name="Google Shape;157;g3f5c94b8770_1_61"/>
          <p:cNvSpPr txBox="1"/>
          <p:nvPr/>
        </p:nvSpPr>
        <p:spPr>
          <a:xfrm>
            <a:off x="1399032" y="411480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Vegan/veggie/allergies</a:t>
            </a:r>
            <a:endParaRPr/>
          </a:p>
        </p:txBody>
      </p:sp>
      <p:sp>
        <p:nvSpPr>
          <p:cNvPr id="158" name="Google Shape;158;g3f5c94b8770_1_61"/>
          <p:cNvSpPr txBox="1"/>
          <p:nvPr/>
        </p:nvSpPr>
        <p:spPr>
          <a:xfrm>
            <a:off x="1143000" y="446227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59" name="Google Shape;159;g3f5c94b8770_1_61"/>
          <p:cNvSpPr txBox="1"/>
          <p:nvPr/>
        </p:nvSpPr>
        <p:spPr>
          <a:xfrm>
            <a:off x="1399032" y="448056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"Vegan = default, not checkbox"</a:t>
            </a:r>
            <a:endParaRPr/>
          </a:p>
        </p:txBody>
      </p:sp>
      <p:sp>
        <p:nvSpPr>
          <p:cNvPr id="160" name="Google Shape;160;g3f5c94b8770_1_61"/>
          <p:cNvSpPr txBox="1"/>
          <p:nvPr/>
        </p:nvSpPr>
        <p:spPr>
          <a:xfrm>
            <a:off x="1143000" y="482803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61" name="Google Shape;161;g3f5c94b8770_1_61"/>
          <p:cNvSpPr txBox="1"/>
          <p:nvPr/>
        </p:nvSpPr>
        <p:spPr>
          <a:xfrm>
            <a:off x="1399032" y="484632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Unsure on iron, omega-3, B12</a:t>
            </a:r>
            <a:endParaRPr/>
          </a:p>
        </p:txBody>
      </p:sp>
      <p:sp>
        <p:nvSpPr>
          <p:cNvPr id="162" name="Google Shape;162;g3f5c94b8770_1_61"/>
          <p:cNvSpPr/>
          <p:nvPr/>
        </p:nvSpPr>
        <p:spPr>
          <a:xfrm>
            <a:off x="4462272" y="1828800"/>
            <a:ext cx="3502200" cy="3794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5c94b8770_1_61"/>
          <p:cNvSpPr/>
          <p:nvPr/>
        </p:nvSpPr>
        <p:spPr>
          <a:xfrm>
            <a:off x="4782312" y="2121408"/>
            <a:ext cx="567000" cy="567000"/>
          </a:xfrm>
          <a:prstGeom prst="roundRect">
            <a:avLst>
              <a:gd fmla="val 25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5c94b8770_1_61"/>
          <p:cNvSpPr txBox="1"/>
          <p:nvPr/>
        </p:nvSpPr>
        <p:spPr>
          <a:xfrm>
            <a:off x="4782312" y="2226592"/>
            <a:ext cx="56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⏱️</a:t>
            </a:r>
            <a:endParaRPr/>
          </a:p>
        </p:txBody>
      </p:sp>
      <p:sp>
        <p:nvSpPr>
          <p:cNvPr id="165" name="Google Shape;165;g3f5c94b8770_1_61"/>
          <p:cNvSpPr txBox="1"/>
          <p:nvPr/>
        </p:nvSpPr>
        <p:spPr>
          <a:xfrm>
            <a:off x="4782312" y="3310187"/>
            <a:ext cx="295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No time, low friction</a:t>
            </a:r>
            <a:endParaRPr sz="900"/>
          </a:p>
        </p:txBody>
      </p:sp>
      <p:sp>
        <p:nvSpPr>
          <p:cNvPr id="166" name="Google Shape;166;g3f5c94b8770_1_61"/>
          <p:cNvSpPr txBox="1"/>
          <p:nvPr/>
        </p:nvSpPr>
        <p:spPr>
          <a:xfrm>
            <a:off x="4782312" y="3657600"/>
            <a:ext cx="29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Tobias, 38 · 2 kids</a:t>
            </a:r>
            <a:endParaRPr/>
          </a:p>
        </p:txBody>
      </p:sp>
      <p:sp>
        <p:nvSpPr>
          <p:cNvPr id="167" name="Google Shape;167;g3f5c94b8770_1_61"/>
          <p:cNvSpPr txBox="1"/>
          <p:nvPr/>
        </p:nvSpPr>
        <p:spPr>
          <a:xfrm>
            <a:off x="4782312" y="409651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68" name="Google Shape;168;g3f5c94b8770_1_61"/>
          <p:cNvSpPr txBox="1"/>
          <p:nvPr/>
        </p:nvSpPr>
        <p:spPr>
          <a:xfrm>
            <a:off x="5038344" y="411480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"Just tell me what to do"</a:t>
            </a:r>
            <a:endParaRPr/>
          </a:p>
        </p:txBody>
      </p:sp>
      <p:sp>
        <p:nvSpPr>
          <p:cNvPr id="169" name="Google Shape;169;g3f5c94b8770_1_61"/>
          <p:cNvSpPr txBox="1"/>
          <p:nvPr/>
        </p:nvSpPr>
        <p:spPr>
          <a:xfrm>
            <a:off x="4782312" y="446227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70" name="Google Shape;170;g3f5c94b8770_1_61"/>
          <p:cNvSpPr txBox="1"/>
          <p:nvPr/>
        </p:nvSpPr>
        <p:spPr>
          <a:xfrm>
            <a:off x="5038344" y="448056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Hates daily input</a:t>
            </a:r>
            <a:endParaRPr/>
          </a:p>
        </p:txBody>
      </p:sp>
      <p:sp>
        <p:nvSpPr>
          <p:cNvPr id="171" name="Google Shape;171;g3f5c94b8770_1_61"/>
          <p:cNvSpPr txBox="1"/>
          <p:nvPr/>
        </p:nvSpPr>
        <p:spPr>
          <a:xfrm>
            <a:off x="4782312" y="482803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72" name="Google Shape;172;g3f5c94b8770_1_61"/>
          <p:cNvSpPr txBox="1"/>
          <p:nvPr/>
        </p:nvSpPr>
        <p:spPr>
          <a:xfrm>
            <a:off x="5038344" y="484632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Pays for time, not complexity</a:t>
            </a:r>
            <a:endParaRPr/>
          </a:p>
        </p:txBody>
      </p:sp>
      <p:sp>
        <p:nvSpPr>
          <p:cNvPr id="173" name="Google Shape;173;g3f5c94b8770_1_61"/>
          <p:cNvSpPr/>
          <p:nvPr/>
        </p:nvSpPr>
        <p:spPr>
          <a:xfrm>
            <a:off x="8101583" y="1828800"/>
            <a:ext cx="3502200" cy="3794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5c94b8770_1_61"/>
          <p:cNvSpPr/>
          <p:nvPr/>
        </p:nvSpPr>
        <p:spPr>
          <a:xfrm>
            <a:off x="8421624" y="2121408"/>
            <a:ext cx="567000" cy="567000"/>
          </a:xfrm>
          <a:prstGeom prst="roundRect">
            <a:avLst>
              <a:gd fmla="val 25000" name="adj"/>
            </a:avLst>
          </a:prstGeom>
          <a:solidFill>
            <a:srgbClr val="ECEA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5c94b8770_1_61"/>
          <p:cNvSpPr txBox="1"/>
          <p:nvPr/>
        </p:nvSpPr>
        <p:spPr>
          <a:xfrm>
            <a:off x="8421624" y="2244231"/>
            <a:ext cx="56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✨</a:t>
            </a:r>
            <a:endParaRPr/>
          </a:p>
        </p:txBody>
      </p:sp>
      <p:sp>
        <p:nvSpPr>
          <p:cNvPr id="176" name="Google Shape;176;g3f5c94b8770_1_61"/>
          <p:cNvSpPr txBox="1"/>
          <p:nvPr/>
        </p:nvSpPr>
        <p:spPr>
          <a:xfrm>
            <a:off x="8421624" y="3310187"/>
            <a:ext cx="295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Feel "enough"</a:t>
            </a:r>
            <a:endParaRPr sz="900"/>
          </a:p>
        </p:txBody>
      </p:sp>
      <p:sp>
        <p:nvSpPr>
          <p:cNvPr id="177" name="Google Shape;177;g3f5c94b8770_1_61"/>
          <p:cNvSpPr txBox="1"/>
          <p:nvPr/>
        </p:nvSpPr>
        <p:spPr>
          <a:xfrm>
            <a:off x="8421624" y="3657600"/>
            <a:ext cx="29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Lena, 29 · gym 3×/wk</a:t>
            </a:r>
            <a:endParaRPr/>
          </a:p>
        </p:txBody>
      </p:sp>
      <p:sp>
        <p:nvSpPr>
          <p:cNvPr id="178" name="Google Shape;178;g3f5c94b8770_1_61"/>
          <p:cNvSpPr txBox="1"/>
          <p:nvPr/>
        </p:nvSpPr>
        <p:spPr>
          <a:xfrm>
            <a:off x="8421624" y="409651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79" name="Google Shape;179;g3f5c94b8770_1_61"/>
          <p:cNvSpPr txBox="1"/>
          <p:nvPr/>
        </p:nvSpPr>
        <p:spPr>
          <a:xfrm>
            <a:off x="8677655" y="411480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Design quality = dealbreaker</a:t>
            </a:r>
            <a:endParaRPr/>
          </a:p>
        </p:txBody>
      </p:sp>
      <p:sp>
        <p:nvSpPr>
          <p:cNvPr id="180" name="Google Shape;180;g3f5c94b8770_1_61"/>
          <p:cNvSpPr txBox="1"/>
          <p:nvPr/>
        </p:nvSpPr>
        <p:spPr>
          <a:xfrm>
            <a:off x="8421624" y="446227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81" name="Google Shape;181;g3f5c94b8770_1_61"/>
          <p:cNvSpPr txBox="1"/>
          <p:nvPr/>
        </p:nvSpPr>
        <p:spPr>
          <a:xfrm>
            <a:off x="8677655" y="448056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Hates calorie counting</a:t>
            </a:r>
            <a:endParaRPr/>
          </a:p>
        </p:txBody>
      </p:sp>
      <p:sp>
        <p:nvSpPr>
          <p:cNvPr id="182" name="Google Shape;182;g3f5c94b8770_1_61"/>
          <p:cNvSpPr txBox="1"/>
          <p:nvPr/>
        </p:nvSpPr>
        <p:spPr>
          <a:xfrm>
            <a:off x="8421624" y="482803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83" name="Google Shape;183;g3f5c94b8770_1_61"/>
          <p:cNvSpPr txBox="1"/>
          <p:nvPr/>
        </p:nvSpPr>
        <p:spPr>
          <a:xfrm>
            <a:off x="8677655" y="484632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Wants control, not a 2nd job</a:t>
            </a:r>
            <a:endParaRPr/>
          </a:p>
        </p:txBody>
      </p:sp>
      <p:sp>
        <p:nvSpPr>
          <p:cNvPr id="184" name="Google Shape;184;g3f5c94b8770_1_61"/>
          <p:cNvSpPr txBox="1"/>
          <p:nvPr/>
        </p:nvSpPr>
        <p:spPr>
          <a:xfrm>
            <a:off x="822960" y="5870448"/>
            <a:ext cx="1051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F7B4F"/>
                </a:solidFill>
              </a:rPr>
              <a:t>Examples above · Core group:</a:t>
            </a:r>
            <a:r>
              <a:rPr lang="en-US">
                <a:solidFill>
                  <a:srgbClr val="1D1D21"/>
                </a:solidFill>
              </a:rPr>
              <a:t> </a:t>
            </a:r>
            <a:r>
              <a:rPr b="1" lang="en-US">
                <a:solidFill>
                  <a:srgbClr val="1D1D21"/>
                </a:solidFill>
              </a:rPr>
              <a:t>Health-minded </a:t>
            </a:r>
            <a:r>
              <a:rPr lang="en-US">
                <a:solidFill>
                  <a:srgbClr val="1D1D21"/>
                </a:solidFill>
              </a:rPr>
              <a:t>adults, </a:t>
            </a:r>
            <a:r>
              <a:rPr b="1" lang="en-US">
                <a:solidFill>
                  <a:srgbClr val="1D1D21"/>
                </a:solidFill>
              </a:rPr>
              <a:t>25-60+</a:t>
            </a:r>
            <a:r>
              <a:rPr lang="en-US">
                <a:solidFill>
                  <a:srgbClr val="1D1D21"/>
                </a:solidFill>
              </a:rPr>
              <a:t>, in </a:t>
            </a:r>
            <a:r>
              <a:rPr b="1" lang="en-US">
                <a:solidFill>
                  <a:srgbClr val="1D1D21"/>
                </a:solidFill>
              </a:rPr>
              <a:t>Germany</a:t>
            </a:r>
            <a:r>
              <a:rPr lang="en-US">
                <a:solidFill>
                  <a:srgbClr val="1D1D21"/>
                </a:solidFill>
              </a:rPr>
              <a:t>.</a:t>
            </a:r>
            <a:endParaRPr>
              <a:solidFill>
                <a:srgbClr val="1D1D21"/>
              </a:solidFill>
            </a:endParaRPr>
          </a:p>
        </p:txBody>
      </p:sp>
      <p:sp>
        <p:nvSpPr>
          <p:cNvPr id="185" name="Google Shape;185;g3f5c94b8770_1_61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03 / </a:t>
            </a:r>
            <a:r>
              <a:rPr lang="en-US" sz="900">
                <a:solidFill>
                  <a:srgbClr val="6E6F74"/>
                </a:solidFill>
              </a:rPr>
              <a:t>09</a:t>
            </a:r>
            <a:endParaRPr/>
          </a:p>
        </p:txBody>
      </p:sp>
      <p:pic>
        <p:nvPicPr>
          <p:cNvPr id="186" name="Google Shape;186;g3f5c94b8770_1_61" title="downloaded-im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942" y="1935021"/>
            <a:ext cx="1542900" cy="15429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87" name="Google Shape;187;g3f5c94b8770_1_61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188" name="Google Shape;188;g3f5c94b8770_1_61" title="logo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sp>
        <p:nvSpPr>
          <p:cNvPr id="189" name="Google Shape;189;g3f5c94b8770_1_61"/>
          <p:cNvSpPr/>
          <p:nvPr/>
        </p:nvSpPr>
        <p:spPr>
          <a:xfrm>
            <a:off x="1143000" y="2852928"/>
            <a:ext cx="1737300" cy="310800"/>
          </a:xfrm>
          <a:prstGeom prst="roundRect">
            <a:avLst>
              <a:gd fmla="val 50000" name="adj"/>
            </a:avLst>
          </a:prstGeom>
          <a:solidFill>
            <a:srgbClr val="F3E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5c94b8770_1_61"/>
          <p:cNvSpPr txBox="1"/>
          <p:nvPr/>
        </p:nvSpPr>
        <p:spPr>
          <a:xfrm>
            <a:off x="1143000" y="2932628"/>
            <a:ext cx="1737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DIETARY RESTRICTOR</a:t>
            </a:r>
            <a:endParaRPr/>
          </a:p>
        </p:txBody>
      </p:sp>
      <p:sp>
        <p:nvSpPr>
          <p:cNvPr id="191" name="Google Shape;191;g3f5c94b8770_1_61"/>
          <p:cNvSpPr txBox="1"/>
          <p:nvPr/>
        </p:nvSpPr>
        <p:spPr>
          <a:xfrm>
            <a:off x="1143000" y="3310187"/>
            <a:ext cx="295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Proof it works</a:t>
            </a:r>
            <a:endParaRPr sz="900"/>
          </a:p>
        </p:txBody>
      </p:sp>
      <p:pic>
        <p:nvPicPr>
          <p:cNvPr id="192" name="Google Shape;192;g3f5c94b8770_1_61" title="downloaded-image (1)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9067" y="1938528"/>
            <a:ext cx="1542900" cy="15429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3" name="Google Shape;193;g3f5c94b8770_1_61" title="downloaded-image (2)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86192" y="1938528"/>
            <a:ext cx="1542900" cy="15429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94" name="Google Shape;194;g3f5c94b8770_1_61"/>
          <p:cNvSpPr/>
          <p:nvPr/>
        </p:nvSpPr>
        <p:spPr>
          <a:xfrm>
            <a:off x="4782312" y="2852928"/>
            <a:ext cx="1737300" cy="310800"/>
          </a:xfrm>
          <a:prstGeom prst="roundRect">
            <a:avLst>
              <a:gd fmla="val 5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5c94b8770_1_61"/>
          <p:cNvSpPr txBox="1"/>
          <p:nvPr/>
        </p:nvSpPr>
        <p:spPr>
          <a:xfrm>
            <a:off x="4782312" y="2932628"/>
            <a:ext cx="1737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BUSY PROFESSIONAL</a:t>
            </a:r>
            <a:endParaRPr/>
          </a:p>
        </p:txBody>
      </p:sp>
      <p:sp>
        <p:nvSpPr>
          <p:cNvPr id="196" name="Google Shape;196;g3f5c94b8770_1_61"/>
          <p:cNvSpPr/>
          <p:nvPr/>
        </p:nvSpPr>
        <p:spPr>
          <a:xfrm>
            <a:off x="8421624" y="2852928"/>
            <a:ext cx="1737300" cy="310800"/>
          </a:xfrm>
          <a:prstGeom prst="roundRect">
            <a:avLst>
              <a:gd fmla="val 50000" name="adj"/>
            </a:avLst>
          </a:prstGeom>
          <a:solidFill>
            <a:srgbClr val="ECEA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f5c94b8770_1_61"/>
          <p:cNvSpPr txBox="1"/>
          <p:nvPr/>
        </p:nvSpPr>
        <p:spPr>
          <a:xfrm>
            <a:off x="8421624" y="2932628"/>
            <a:ext cx="1737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EARLY ADOPTER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5c94b8770_1_113"/>
          <p:cNvSpPr txBox="1"/>
          <p:nvPr/>
        </p:nvSpPr>
        <p:spPr>
          <a:xfrm>
            <a:off x="822960" y="50292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</p:txBody>
      </p:sp>
      <p:sp>
        <p:nvSpPr>
          <p:cNvPr id="204" name="Google Shape;204;g3f5c94b8770_1_113"/>
          <p:cNvSpPr txBox="1"/>
          <p:nvPr/>
        </p:nvSpPr>
        <p:spPr>
          <a:xfrm>
            <a:off x="822960" y="822960"/>
            <a:ext cx="1005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From a photo to smart </a:t>
            </a:r>
            <a:r>
              <a:rPr b="1" lang="en-US" sz="2800">
                <a:solidFill>
                  <a:srgbClr val="1D1D21"/>
                </a:solidFill>
              </a:rPr>
              <a:t>recipes</a:t>
            </a:r>
            <a:endParaRPr/>
          </a:p>
        </p:txBody>
      </p:sp>
      <p:sp>
        <p:nvSpPr>
          <p:cNvPr id="205" name="Google Shape;205;g3f5c94b8770_1_113"/>
          <p:cNvSpPr/>
          <p:nvPr/>
        </p:nvSpPr>
        <p:spPr>
          <a:xfrm>
            <a:off x="841248" y="1481328"/>
            <a:ext cx="1417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5c94b8770_1_113"/>
          <p:cNvSpPr/>
          <p:nvPr/>
        </p:nvSpPr>
        <p:spPr>
          <a:xfrm>
            <a:off x="822950" y="1726488"/>
            <a:ext cx="2469000" cy="3302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5c94b8770_1_113"/>
          <p:cNvSpPr txBox="1"/>
          <p:nvPr/>
        </p:nvSpPr>
        <p:spPr>
          <a:xfrm>
            <a:off x="1097270" y="2036115"/>
            <a:ext cx="192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Bild</a:t>
            </a:r>
            <a:endParaRPr/>
          </a:p>
        </p:txBody>
      </p:sp>
      <p:sp>
        <p:nvSpPr>
          <p:cNvPr id="208" name="Google Shape;208;g3f5c94b8770_1_113"/>
          <p:cNvSpPr txBox="1"/>
          <p:nvPr/>
        </p:nvSpPr>
        <p:spPr>
          <a:xfrm>
            <a:off x="1051745" y="3460403"/>
            <a:ext cx="196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Capture</a:t>
            </a:r>
            <a:endParaRPr/>
          </a:p>
        </p:txBody>
      </p:sp>
      <p:sp>
        <p:nvSpPr>
          <p:cNvPr id="209" name="Google Shape;209;g3f5c94b8770_1_113"/>
          <p:cNvSpPr txBox="1"/>
          <p:nvPr/>
        </p:nvSpPr>
        <p:spPr>
          <a:xfrm>
            <a:off x="1074495" y="3869063"/>
            <a:ext cx="196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Receipt photo or PDF.</a:t>
            </a:r>
            <a:endParaRPr/>
          </a:p>
        </p:txBody>
      </p:sp>
      <p:sp>
        <p:nvSpPr>
          <p:cNvPr id="210" name="Google Shape;210;g3f5c94b8770_1_113"/>
          <p:cNvSpPr/>
          <p:nvPr/>
        </p:nvSpPr>
        <p:spPr>
          <a:xfrm>
            <a:off x="1097270" y="4409934"/>
            <a:ext cx="1920300" cy="3714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5c94b8770_1_113"/>
          <p:cNvSpPr txBox="1"/>
          <p:nvPr/>
        </p:nvSpPr>
        <p:spPr>
          <a:xfrm>
            <a:off x="1097270" y="4505184"/>
            <a:ext cx="192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r>
              <a:rPr b="1" lang="en-US" sz="1050">
                <a:solidFill>
                  <a:srgbClr val="5F7B4F"/>
                </a:solidFill>
              </a:rPr>
              <a:t> </a:t>
            </a:r>
            <a:r>
              <a:rPr b="1" i="0" lang="en-US" sz="10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lang="en-US" sz="1050">
                <a:solidFill>
                  <a:srgbClr val="5F7B4F"/>
                </a:solidFill>
              </a:rPr>
              <a:t>Vite</a:t>
            </a:r>
            <a:endParaRPr/>
          </a:p>
        </p:txBody>
      </p:sp>
      <p:sp>
        <p:nvSpPr>
          <p:cNvPr id="212" name="Google Shape;212;g3f5c94b8770_1_113"/>
          <p:cNvSpPr txBox="1"/>
          <p:nvPr/>
        </p:nvSpPr>
        <p:spPr>
          <a:xfrm>
            <a:off x="3273545" y="2965001"/>
            <a:ext cx="3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13" name="Google Shape;213;g3f5c94b8770_1_113"/>
          <p:cNvSpPr/>
          <p:nvPr/>
        </p:nvSpPr>
        <p:spPr>
          <a:xfrm>
            <a:off x="3547866" y="1726488"/>
            <a:ext cx="2469000" cy="3302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5c94b8770_1_113"/>
          <p:cNvSpPr txBox="1"/>
          <p:nvPr/>
        </p:nvSpPr>
        <p:spPr>
          <a:xfrm>
            <a:off x="3822186" y="3460403"/>
            <a:ext cx="196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  <a:endParaRPr/>
          </a:p>
        </p:txBody>
      </p:sp>
      <p:sp>
        <p:nvSpPr>
          <p:cNvPr id="215" name="Google Shape;215;g3f5c94b8770_1_113"/>
          <p:cNvSpPr txBox="1"/>
          <p:nvPr/>
        </p:nvSpPr>
        <p:spPr>
          <a:xfrm>
            <a:off x="3799423" y="3883163"/>
            <a:ext cx="1965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Read text </a:t>
            </a:r>
            <a:r>
              <a:rPr lang="en-US" sz="1350">
                <a:solidFill>
                  <a:srgbClr val="6E6F74"/>
                </a:solidFill>
              </a:rPr>
              <a:t>on our server</a:t>
            </a:r>
            <a:r>
              <a:rPr b="0" i="0" lang="en-US" sz="13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>
                <a:solidFill>
                  <a:srgbClr val="6E6F74"/>
                </a:solidFill>
              </a:rPr>
              <a:t>-</a:t>
            </a:r>
            <a:r>
              <a:rPr b="0" i="0" lang="en-US" sz="13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 offline, </a:t>
            </a:r>
            <a:r>
              <a:rPr lang="en-US" sz="1350">
                <a:solidFill>
                  <a:srgbClr val="6E6F74"/>
                </a:solidFill>
              </a:rPr>
              <a:t>no 3rd-party AI</a:t>
            </a:r>
            <a:r>
              <a:rPr b="0" i="0" lang="en-US" sz="13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16" name="Google Shape;216;g3f5c94b8770_1_113"/>
          <p:cNvSpPr/>
          <p:nvPr/>
        </p:nvSpPr>
        <p:spPr>
          <a:xfrm>
            <a:off x="3822186" y="4409934"/>
            <a:ext cx="1920300" cy="3714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5c94b8770_1_113"/>
          <p:cNvSpPr txBox="1"/>
          <p:nvPr/>
        </p:nvSpPr>
        <p:spPr>
          <a:xfrm>
            <a:off x="3822186" y="4505184"/>
            <a:ext cx="192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FastAPI · Tesseract</a:t>
            </a:r>
            <a:endParaRPr/>
          </a:p>
        </p:txBody>
      </p:sp>
      <p:sp>
        <p:nvSpPr>
          <p:cNvPr id="218" name="Google Shape;218;g3f5c94b8770_1_113"/>
          <p:cNvSpPr txBox="1"/>
          <p:nvPr/>
        </p:nvSpPr>
        <p:spPr>
          <a:xfrm>
            <a:off x="5998461" y="2965001"/>
            <a:ext cx="3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19" name="Google Shape;219;g3f5c94b8770_1_113"/>
          <p:cNvSpPr/>
          <p:nvPr/>
        </p:nvSpPr>
        <p:spPr>
          <a:xfrm>
            <a:off x="6272781" y="1726488"/>
            <a:ext cx="2469000" cy="3302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5c94b8770_1_113"/>
          <p:cNvSpPr txBox="1"/>
          <p:nvPr/>
        </p:nvSpPr>
        <p:spPr>
          <a:xfrm>
            <a:off x="6524339" y="3460391"/>
            <a:ext cx="196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  <a:endParaRPr/>
          </a:p>
        </p:txBody>
      </p:sp>
      <p:sp>
        <p:nvSpPr>
          <p:cNvPr id="221" name="Google Shape;221;g3f5c94b8770_1_113"/>
          <p:cNvSpPr txBox="1"/>
          <p:nvPr/>
        </p:nvSpPr>
        <p:spPr>
          <a:xfrm>
            <a:off x="6524339" y="3869063"/>
            <a:ext cx="1965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6E6F74"/>
                </a:solidFill>
              </a:rPr>
              <a:t>Tiered, safest-first - falls back to category, never guesses.</a:t>
            </a:r>
            <a:endParaRPr sz="1200"/>
          </a:p>
        </p:txBody>
      </p:sp>
      <p:sp>
        <p:nvSpPr>
          <p:cNvPr id="222" name="Google Shape;222;g3f5c94b8770_1_113"/>
          <p:cNvSpPr/>
          <p:nvPr/>
        </p:nvSpPr>
        <p:spPr>
          <a:xfrm>
            <a:off x="6547102" y="4409934"/>
            <a:ext cx="1920300" cy="3714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5c94b8770_1_113"/>
          <p:cNvSpPr txBox="1"/>
          <p:nvPr/>
        </p:nvSpPr>
        <p:spPr>
          <a:xfrm>
            <a:off x="6547102" y="4454384"/>
            <a:ext cx="192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F7B4F"/>
                </a:solidFill>
              </a:rPr>
              <a:t>verified → OFF → BLS </a:t>
            </a:r>
            <a:br>
              <a:rPr b="1" lang="en-US" sz="1050">
                <a:solidFill>
                  <a:srgbClr val="5F7B4F"/>
                </a:solidFill>
              </a:rPr>
            </a:br>
            <a:r>
              <a:rPr b="1" lang="en-US" sz="1050">
                <a:solidFill>
                  <a:srgbClr val="5F7B4F"/>
                </a:solidFill>
              </a:rPr>
              <a:t>→ fallback</a:t>
            </a:r>
            <a:endParaRPr/>
          </a:p>
        </p:txBody>
      </p:sp>
      <p:sp>
        <p:nvSpPr>
          <p:cNvPr id="224" name="Google Shape;224;g3f5c94b8770_1_113"/>
          <p:cNvSpPr txBox="1"/>
          <p:nvPr/>
        </p:nvSpPr>
        <p:spPr>
          <a:xfrm>
            <a:off x="8723376" y="2965001"/>
            <a:ext cx="3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25" name="Google Shape;225;g3f5c94b8770_1_113"/>
          <p:cNvSpPr/>
          <p:nvPr/>
        </p:nvSpPr>
        <p:spPr>
          <a:xfrm>
            <a:off x="8997697" y="1726488"/>
            <a:ext cx="2469000" cy="3302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f5c94b8770_1_113"/>
          <p:cNvSpPr txBox="1"/>
          <p:nvPr/>
        </p:nvSpPr>
        <p:spPr>
          <a:xfrm>
            <a:off x="9226467" y="3460403"/>
            <a:ext cx="196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Advise</a:t>
            </a:r>
            <a:endParaRPr/>
          </a:p>
        </p:txBody>
      </p:sp>
      <p:sp>
        <p:nvSpPr>
          <p:cNvPr id="227" name="Google Shape;227;g3f5c94b8770_1_113"/>
          <p:cNvSpPr txBox="1"/>
          <p:nvPr/>
        </p:nvSpPr>
        <p:spPr>
          <a:xfrm>
            <a:off x="9249217" y="3869063"/>
            <a:ext cx="196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E6F74"/>
                </a:solidFill>
              </a:rPr>
              <a:t>G</a:t>
            </a:r>
            <a:r>
              <a:rPr b="0" i="0" lang="en-US" sz="13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aps + </a:t>
            </a:r>
            <a:r>
              <a:rPr lang="en-US" sz="1350">
                <a:solidFill>
                  <a:srgbClr val="6E6F74"/>
                </a:solidFill>
              </a:rPr>
              <a:t>recipes</a:t>
            </a:r>
            <a:endParaRPr/>
          </a:p>
        </p:txBody>
      </p:sp>
      <p:sp>
        <p:nvSpPr>
          <p:cNvPr id="228" name="Google Shape;228;g3f5c94b8770_1_113"/>
          <p:cNvSpPr/>
          <p:nvPr/>
        </p:nvSpPr>
        <p:spPr>
          <a:xfrm>
            <a:off x="9272017" y="4409934"/>
            <a:ext cx="1920300" cy="3714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5c94b8770_1_113"/>
          <p:cNvSpPr txBox="1"/>
          <p:nvPr/>
        </p:nvSpPr>
        <p:spPr>
          <a:xfrm>
            <a:off x="9272017" y="4505184"/>
            <a:ext cx="192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nutrition engine</a:t>
            </a:r>
            <a:endParaRPr/>
          </a:p>
        </p:txBody>
      </p:sp>
      <p:sp>
        <p:nvSpPr>
          <p:cNvPr id="230" name="Google Shape;230;g3f5c94b8770_1_113"/>
          <p:cNvSpPr/>
          <p:nvPr/>
        </p:nvSpPr>
        <p:spPr>
          <a:xfrm>
            <a:off x="822960" y="5394960"/>
            <a:ext cx="10542900" cy="777300"/>
          </a:xfrm>
          <a:prstGeom prst="roundRect">
            <a:avLst>
              <a:gd fmla="val 8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5c94b8770_1_113"/>
          <p:cNvSpPr txBox="1"/>
          <p:nvPr/>
        </p:nvSpPr>
        <p:spPr>
          <a:xfrm>
            <a:off x="1097280" y="5593588"/>
            <a:ext cx="10058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Privacy by design: </a:t>
            </a:r>
            <a:r>
              <a:rPr lang="en-US" sz="1300">
                <a:solidFill>
                  <a:srgbClr val="1D1D21"/>
                </a:solidFill>
              </a:rPr>
              <a:t>OCR runs on our own backend - receipts never touch a third-party AI · per-user data isolation · GDPR account deletion. </a:t>
            </a:r>
            <a:r>
              <a:rPr b="1" lang="en-US" sz="1300">
                <a:solidFill>
                  <a:srgbClr val="1D1D21"/>
                </a:solidFill>
              </a:rPr>
              <a:t>Matching is 100 % rule-based and fully auditable - no AI guesswork.</a:t>
            </a:r>
            <a:endParaRPr b="1" sz="1300">
              <a:solidFill>
                <a:srgbClr val="1D1D21"/>
              </a:solidFill>
            </a:endParaRPr>
          </a:p>
        </p:txBody>
      </p:sp>
      <p:sp>
        <p:nvSpPr>
          <p:cNvPr id="232" name="Google Shape;232;g3f5c94b8770_1_113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04 / </a:t>
            </a:r>
            <a:r>
              <a:rPr lang="en-US" sz="900">
                <a:solidFill>
                  <a:srgbClr val="6E6F74"/>
                </a:solidFill>
              </a:rPr>
              <a:t>09</a:t>
            </a:r>
            <a:endParaRPr/>
          </a:p>
        </p:txBody>
      </p:sp>
      <p:pic>
        <p:nvPicPr>
          <p:cNvPr id="233" name="Google Shape;233;g3f5c94b8770_1_113" title="WhatsApp Image 2026-07-16 at 13.05.02.jpeg"/>
          <p:cNvPicPr preferRelativeResize="0"/>
          <p:nvPr/>
        </p:nvPicPr>
        <p:blipFill rotWithShape="1">
          <a:blip r:embed="rId3">
            <a:alphaModFix/>
          </a:blip>
          <a:srcRect b="68004" l="-10442" r="-10418" t="11981"/>
          <a:stretch/>
        </p:blipFill>
        <p:spPr>
          <a:xfrm>
            <a:off x="1074350" y="1797775"/>
            <a:ext cx="1965900" cy="1527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4" name="Google Shape;234;g3f5c94b8770_1_113" title="Bildschirmfoto 2026-07-30 um 14.19.08.png"/>
          <p:cNvPicPr preferRelativeResize="0"/>
          <p:nvPr/>
        </p:nvPicPr>
        <p:blipFill rotWithShape="1">
          <a:blip r:embed="rId4">
            <a:alphaModFix/>
          </a:blip>
          <a:srcRect b="41227" l="0" r="0" t="-828"/>
          <a:stretch/>
        </p:blipFill>
        <p:spPr>
          <a:xfrm>
            <a:off x="3776575" y="1893095"/>
            <a:ext cx="1965900" cy="141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5" name="Google Shape;235;g3f5c94b8770_1_113" title="Screenshot 2026-07-28 at 10.46.2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7725" y="1863113"/>
            <a:ext cx="1417200" cy="139688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6" name="Google Shape;236;g3f5c94b8770_1_113" title="Screenshot 2026-07-28 at 23.39.52.png"/>
          <p:cNvPicPr preferRelativeResize="0"/>
          <p:nvPr/>
        </p:nvPicPr>
        <p:blipFill rotWithShape="1">
          <a:blip r:embed="rId6">
            <a:alphaModFix/>
          </a:blip>
          <a:srcRect b="17788" l="0" r="0" t="17788"/>
          <a:stretch/>
        </p:blipFill>
        <p:spPr>
          <a:xfrm>
            <a:off x="9348325" y="1854462"/>
            <a:ext cx="1767739" cy="14141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37" name="Google Shape;237;g3f5c94b8770_1_113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238" name="Google Shape;238;g3f5c94b8770_1_113" title="logo@2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sp>
        <p:nvSpPr>
          <p:cNvPr id="239" name="Google Shape;239;g3f5c94b8770_1_113"/>
          <p:cNvSpPr/>
          <p:nvPr/>
        </p:nvSpPr>
        <p:spPr>
          <a:xfrm>
            <a:off x="7821600" y="3163125"/>
            <a:ext cx="865188" cy="1032264"/>
          </a:xfrm>
          <a:prstGeom prst="lightningBol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3c959be5c_0_45"/>
          <p:cNvSpPr txBox="1"/>
          <p:nvPr/>
        </p:nvSpPr>
        <p:spPr>
          <a:xfrm>
            <a:off x="822960" y="548640"/>
            <a:ext cx="9144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5F7B4F"/>
                </a:solidFill>
              </a:rPr>
              <a:t>Data flow</a:t>
            </a:r>
            <a:endParaRPr/>
          </a:p>
        </p:txBody>
      </p:sp>
      <p:sp>
        <p:nvSpPr>
          <p:cNvPr id="246" name="Google Shape;246;g3f3c959be5c_0_45"/>
          <p:cNvSpPr txBox="1"/>
          <p:nvPr/>
        </p:nvSpPr>
        <p:spPr>
          <a:xfrm>
            <a:off x="822960" y="841248"/>
            <a:ext cx="1069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D1D21"/>
                </a:solidFill>
              </a:rPr>
              <a:t>Matching Problem</a:t>
            </a:r>
            <a:endParaRPr/>
          </a:p>
        </p:txBody>
      </p:sp>
      <p:sp>
        <p:nvSpPr>
          <p:cNvPr id="247" name="Google Shape;247;g3f3c959be5c_0_45"/>
          <p:cNvSpPr/>
          <p:nvPr/>
        </p:nvSpPr>
        <p:spPr>
          <a:xfrm>
            <a:off x="841248" y="1536192"/>
            <a:ext cx="1371600" cy="411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3c959be5c_0_45"/>
          <p:cNvSpPr txBox="1"/>
          <p:nvPr/>
        </p:nvSpPr>
        <p:spPr>
          <a:xfrm>
            <a:off x="9875520" y="6428232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00">
                <a:solidFill>
                  <a:srgbClr val="6E6F74"/>
                </a:solidFill>
              </a:rPr>
              <a:t>5</a:t>
            </a: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900">
                <a:solidFill>
                  <a:srgbClr val="6E6F74"/>
                </a:solidFill>
              </a:rPr>
              <a:t>09</a:t>
            </a:r>
            <a:endParaRPr/>
          </a:p>
        </p:txBody>
      </p:sp>
      <p:pic>
        <p:nvPicPr>
          <p:cNvPr id="249" name="Google Shape;249;g3f3c959be5c_0_45" title="Screenshot 2026-07-27 at 12.39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550" y="1811688"/>
            <a:ext cx="6756800" cy="438214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f3c959be5c_0_45"/>
          <p:cNvSpPr/>
          <p:nvPr/>
        </p:nvSpPr>
        <p:spPr>
          <a:xfrm>
            <a:off x="2119275" y="3685675"/>
            <a:ext cx="3185400" cy="64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3c959be5c_0_45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252" name="Google Shape;252;g3f3c959be5c_0_45" title="logo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3c959be5c_0_89"/>
          <p:cNvSpPr txBox="1"/>
          <p:nvPr/>
        </p:nvSpPr>
        <p:spPr>
          <a:xfrm>
            <a:off x="822960" y="548640"/>
            <a:ext cx="9144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5F7B4F"/>
                </a:solidFill>
              </a:rPr>
              <a:t>Data flow</a:t>
            </a:r>
            <a:endParaRPr/>
          </a:p>
        </p:txBody>
      </p:sp>
      <p:sp>
        <p:nvSpPr>
          <p:cNvPr id="259" name="Google Shape;259;g3f3c959be5c_0_89"/>
          <p:cNvSpPr txBox="1"/>
          <p:nvPr/>
        </p:nvSpPr>
        <p:spPr>
          <a:xfrm>
            <a:off x="822960" y="841248"/>
            <a:ext cx="1069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D1D21"/>
                </a:solidFill>
              </a:rPr>
              <a:t>Matching Investigation</a:t>
            </a:r>
            <a:endParaRPr/>
          </a:p>
        </p:txBody>
      </p:sp>
      <p:sp>
        <p:nvSpPr>
          <p:cNvPr id="260" name="Google Shape;260;g3f3c959be5c_0_89"/>
          <p:cNvSpPr/>
          <p:nvPr/>
        </p:nvSpPr>
        <p:spPr>
          <a:xfrm>
            <a:off x="841248" y="1536192"/>
            <a:ext cx="1371600" cy="411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f3c959be5c_0_89"/>
          <p:cNvSpPr txBox="1"/>
          <p:nvPr/>
        </p:nvSpPr>
        <p:spPr>
          <a:xfrm>
            <a:off x="9875520" y="6428232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00">
                <a:solidFill>
                  <a:srgbClr val="6E6F74"/>
                </a:solidFill>
              </a:rPr>
              <a:t>6</a:t>
            </a: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900">
                <a:solidFill>
                  <a:srgbClr val="6E6F74"/>
                </a:solidFill>
              </a:rPr>
              <a:t>09</a:t>
            </a:r>
            <a:endParaRPr/>
          </a:p>
        </p:txBody>
      </p:sp>
      <p:grpSp>
        <p:nvGrpSpPr>
          <p:cNvPr id="262" name="Google Shape;262;g3f3c959be5c_0_89"/>
          <p:cNvGrpSpPr/>
          <p:nvPr/>
        </p:nvGrpSpPr>
        <p:grpSpPr>
          <a:xfrm>
            <a:off x="781050" y="1798475"/>
            <a:ext cx="10460425" cy="492600"/>
            <a:chOff x="781050" y="1798475"/>
            <a:chExt cx="10460425" cy="492600"/>
          </a:xfrm>
        </p:grpSpPr>
        <p:sp>
          <p:nvSpPr>
            <p:cNvPr id="263" name="Google Shape;263;g3f3c959be5c_0_89"/>
            <p:cNvSpPr/>
            <p:nvPr/>
          </p:nvSpPr>
          <p:spPr>
            <a:xfrm>
              <a:off x="3369775" y="1882325"/>
              <a:ext cx="7871700" cy="355500"/>
            </a:xfrm>
            <a:prstGeom prst="rect">
              <a:avLst/>
            </a:prstGeom>
            <a:solidFill>
              <a:srgbClr val="999999"/>
            </a:solidFill>
            <a:ln cap="flat" cmpd="sng" w="9525">
              <a:solidFill>
                <a:srgbClr val="8888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119</a:t>
              </a:r>
              <a:endParaRPr sz="1200"/>
            </a:p>
          </p:txBody>
        </p:sp>
        <p:sp>
          <p:nvSpPr>
            <p:cNvPr id="264" name="Google Shape;264;g3f3c959be5c_0_89"/>
            <p:cNvSpPr txBox="1"/>
            <p:nvPr/>
          </p:nvSpPr>
          <p:spPr>
            <a:xfrm>
              <a:off x="781050" y="1798475"/>
              <a:ext cx="7581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Extracted items</a:t>
              </a:r>
              <a:endParaRPr sz="1700">
                <a:solidFill>
                  <a:schemeClr val="dk1"/>
                </a:solidFill>
              </a:endParaRPr>
            </a:p>
          </p:txBody>
        </p:sp>
      </p:grpSp>
      <p:grpSp>
        <p:nvGrpSpPr>
          <p:cNvPr id="265" name="Google Shape;265;g3f3c959be5c_0_89"/>
          <p:cNvGrpSpPr/>
          <p:nvPr/>
        </p:nvGrpSpPr>
        <p:grpSpPr>
          <a:xfrm>
            <a:off x="781050" y="2954425"/>
            <a:ext cx="6644238" cy="492600"/>
            <a:chOff x="781050" y="3633194"/>
            <a:chExt cx="6644238" cy="492600"/>
          </a:xfrm>
        </p:grpSpPr>
        <p:sp>
          <p:nvSpPr>
            <p:cNvPr id="266" name="Google Shape;266;g3f3c959be5c_0_89"/>
            <p:cNvSpPr txBox="1"/>
            <p:nvPr/>
          </p:nvSpPr>
          <p:spPr>
            <a:xfrm>
              <a:off x="781050" y="3633194"/>
              <a:ext cx="2351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OFF matches</a:t>
              </a:r>
              <a:endParaRPr sz="1700">
                <a:solidFill>
                  <a:schemeClr val="dk1"/>
                </a:solidFill>
              </a:endParaRPr>
            </a:p>
          </p:txBody>
        </p:sp>
        <p:sp>
          <p:nvSpPr>
            <p:cNvPr id="267" name="Google Shape;267;g3f3c959be5c_0_89"/>
            <p:cNvSpPr/>
            <p:nvPr/>
          </p:nvSpPr>
          <p:spPr>
            <a:xfrm>
              <a:off x="4766388" y="3717031"/>
              <a:ext cx="2658900" cy="355500"/>
            </a:xfrm>
            <a:prstGeom prst="rect">
              <a:avLst/>
            </a:prstGeom>
            <a:solidFill>
              <a:srgbClr val="F9CB9C"/>
            </a:solidFill>
            <a:ln cap="flat" cmpd="sng" w="9525">
              <a:solidFill>
                <a:srgbClr val="8888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35 %</a:t>
              </a:r>
              <a:endParaRPr sz="1200"/>
            </a:p>
          </p:txBody>
        </p:sp>
      </p:grpSp>
      <p:grpSp>
        <p:nvGrpSpPr>
          <p:cNvPr id="268" name="Google Shape;268;g3f3c959be5c_0_89"/>
          <p:cNvGrpSpPr/>
          <p:nvPr/>
        </p:nvGrpSpPr>
        <p:grpSpPr>
          <a:xfrm>
            <a:off x="781050" y="3532400"/>
            <a:ext cx="8275200" cy="492600"/>
            <a:chOff x="781050" y="3014200"/>
            <a:chExt cx="8275200" cy="492600"/>
          </a:xfrm>
        </p:grpSpPr>
        <p:sp>
          <p:nvSpPr>
            <p:cNvPr id="269" name="Google Shape;269;g3f3c959be5c_0_89"/>
            <p:cNvSpPr txBox="1"/>
            <p:nvPr/>
          </p:nvSpPr>
          <p:spPr>
            <a:xfrm>
              <a:off x="781050" y="3014200"/>
              <a:ext cx="2351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BLS </a:t>
              </a:r>
              <a:r>
                <a:rPr lang="en-US" sz="2000">
                  <a:solidFill>
                    <a:schemeClr val="dk1"/>
                  </a:solidFill>
                </a:rPr>
                <a:t>matches</a:t>
              </a:r>
              <a:endParaRPr sz="1700"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g3f3c959be5c_0_89"/>
            <p:cNvSpPr/>
            <p:nvPr/>
          </p:nvSpPr>
          <p:spPr>
            <a:xfrm>
              <a:off x="6397350" y="3098063"/>
              <a:ext cx="2658900" cy="3555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rgbClr val="8888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34 %</a:t>
              </a:r>
              <a:endParaRPr sz="1200"/>
            </a:p>
          </p:txBody>
        </p:sp>
      </p:grpSp>
      <p:grpSp>
        <p:nvGrpSpPr>
          <p:cNvPr id="271" name="Google Shape;271;g3f3c959be5c_0_89"/>
          <p:cNvGrpSpPr/>
          <p:nvPr/>
        </p:nvGrpSpPr>
        <p:grpSpPr>
          <a:xfrm>
            <a:off x="781050" y="2376450"/>
            <a:ext cx="6114325" cy="492600"/>
            <a:chOff x="781050" y="2395200"/>
            <a:chExt cx="6114325" cy="492600"/>
          </a:xfrm>
        </p:grpSpPr>
        <p:sp>
          <p:nvSpPr>
            <p:cNvPr id="272" name="Google Shape;272;g3f3c959be5c_0_89"/>
            <p:cNvSpPr txBox="1"/>
            <p:nvPr/>
          </p:nvSpPr>
          <p:spPr>
            <a:xfrm>
              <a:off x="781050" y="2395200"/>
              <a:ext cx="244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Fallback</a:t>
              </a:r>
              <a:r>
                <a:rPr lang="en-US" sz="2000">
                  <a:solidFill>
                    <a:schemeClr val="dk1"/>
                  </a:solidFill>
                </a:rPr>
                <a:t> matches</a:t>
              </a:r>
              <a:endParaRPr sz="1700">
                <a:solidFill>
                  <a:schemeClr val="dk1"/>
                </a:solidFill>
              </a:endParaRPr>
            </a:p>
          </p:txBody>
        </p:sp>
        <p:sp>
          <p:nvSpPr>
            <p:cNvPr id="273" name="Google Shape;273;g3f3c959be5c_0_89"/>
            <p:cNvSpPr/>
            <p:nvPr/>
          </p:nvSpPr>
          <p:spPr>
            <a:xfrm>
              <a:off x="3369775" y="2479050"/>
              <a:ext cx="3525600" cy="3555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8888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41 %</a:t>
              </a:r>
              <a:endParaRPr sz="1200"/>
            </a:p>
          </p:txBody>
        </p:sp>
      </p:grpSp>
      <p:grpSp>
        <p:nvGrpSpPr>
          <p:cNvPr id="274" name="Google Shape;274;g3f3c959be5c_0_89"/>
          <p:cNvGrpSpPr/>
          <p:nvPr/>
        </p:nvGrpSpPr>
        <p:grpSpPr>
          <a:xfrm>
            <a:off x="781050" y="4110375"/>
            <a:ext cx="8275100" cy="492600"/>
            <a:chOff x="781050" y="4353075"/>
            <a:chExt cx="8275100" cy="492600"/>
          </a:xfrm>
        </p:grpSpPr>
        <p:sp>
          <p:nvSpPr>
            <p:cNvPr id="275" name="Google Shape;275;g3f3c959be5c_0_89"/>
            <p:cNvSpPr txBox="1"/>
            <p:nvPr/>
          </p:nvSpPr>
          <p:spPr>
            <a:xfrm>
              <a:off x="781050" y="4353075"/>
              <a:ext cx="244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correct</a:t>
              </a:r>
              <a:endParaRPr sz="1700">
                <a:solidFill>
                  <a:schemeClr val="dk1"/>
                </a:solidFill>
              </a:endParaRPr>
            </a:p>
          </p:txBody>
        </p:sp>
        <p:sp>
          <p:nvSpPr>
            <p:cNvPr id="276" name="Google Shape;276;g3f3c959be5c_0_89"/>
            <p:cNvSpPr/>
            <p:nvPr/>
          </p:nvSpPr>
          <p:spPr>
            <a:xfrm>
              <a:off x="3395150" y="4436920"/>
              <a:ext cx="5661000" cy="3555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8888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72 %</a:t>
              </a:r>
              <a:endParaRPr sz="1200"/>
            </a:p>
          </p:txBody>
        </p:sp>
      </p:grpSp>
      <p:grpSp>
        <p:nvGrpSpPr>
          <p:cNvPr id="277" name="Google Shape;277;g3f3c959be5c_0_89"/>
          <p:cNvGrpSpPr/>
          <p:nvPr/>
        </p:nvGrpSpPr>
        <p:grpSpPr>
          <a:xfrm>
            <a:off x="781063" y="4688350"/>
            <a:ext cx="10460400" cy="492600"/>
            <a:chOff x="781050" y="4353075"/>
            <a:chExt cx="10460400" cy="492600"/>
          </a:xfrm>
        </p:grpSpPr>
        <p:sp>
          <p:nvSpPr>
            <p:cNvPr id="278" name="Google Shape;278;g3f3c959be5c_0_89"/>
            <p:cNvSpPr txBox="1"/>
            <p:nvPr/>
          </p:nvSpPr>
          <p:spPr>
            <a:xfrm>
              <a:off x="781050" y="4353075"/>
              <a:ext cx="244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incorrect</a:t>
              </a:r>
              <a:endParaRPr sz="1700"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g3f3c959be5c_0_89"/>
            <p:cNvSpPr/>
            <p:nvPr/>
          </p:nvSpPr>
          <p:spPr>
            <a:xfrm>
              <a:off x="9056250" y="4436925"/>
              <a:ext cx="2185200" cy="355500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8888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28 %</a:t>
              </a:r>
              <a:endParaRPr sz="1200"/>
            </a:p>
          </p:txBody>
        </p:sp>
      </p:grpSp>
      <p:sp>
        <p:nvSpPr>
          <p:cNvPr id="280" name="Google Shape;280;g3f3c959be5c_0_89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281" name="Google Shape;281;g3f3c959be5c_0_89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sp>
        <p:nvSpPr>
          <p:cNvPr id="282" name="Google Shape;282;g3f3c959be5c_0_89"/>
          <p:cNvSpPr/>
          <p:nvPr/>
        </p:nvSpPr>
        <p:spPr>
          <a:xfrm>
            <a:off x="1241750" y="5236525"/>
            <a:ext cx="1263600" cy="631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3" name="Google Shape;283;g3f3c959be5c_0_89"/>
          <p:cNvSpPr txBox="1"/>
          <p:nvPr/>
        </p:nvSpPr>
        <p:spPr>
          <a:xfrm>
            <a:off x="2988025" y="4991725"/>
            <a:ext cx="86247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include user-verification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expand fallback categories (from 7 to 87)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search in verified matches first, then use OFF/BLS, then fallback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5c94b8770_1_156"/>
          <p:cNvSpPr txBox="1"/>
          <p:nvPr/>
        </p:nvSpPr>
        <p:spPr>
          <a:xfrm>
            <a:off x="822960" y="50292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OUTLOOK</a:t>
            </a:r>
            <a:endParaRPr/>
          </a:p>
        </p:txBody>
      </p:sp>
      <p:sp>
        <p:nvSpPr>
          <p:cNvPr id="290" name="Google Shape;290;g3f5c94b8770_1_156"/>
          <p:cNvSpPr txBox="1"/>
          <p:nvPr/>
        </p:nvSpPr>
        <p:spPr>
          <a:xfrm>
            <a:off x="822960" y="822960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What runs today</a:t>
            </a:r>
            <a:endParaRPr/>
          </a:p>
        </p:txBody>
      </p:sp>
      <p:sp>
        <p:nvSpPr>
          <p:cNvPr id="291" name="Google Shape;291;g3f5c94b8770_1_156"/>
          <p:cNvSpPr/>
          <p:nvPr/>
        </p:nvSpPr>
        <p:spPr>
          <a:xfrm>
            <a:off x="841248" y="1481328"/>
            <a:ext cx="1417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f5c94b8770_1_156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E6F74"/>
                </a:solidFill>
              </a:rPr>
              <a:t>07</a:t>
            </a:r>
            <a:r>
              <a:rPr lang="en-US" sz="900">
                <a:solidFill>
                  <a:srgbClr val="6E6F74"/>
                </a:solidFill>
              </a:rPr>
              <a:t> </a:t>
            </a: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900">
                <a:solidFill>
                  <a:srgbClr val="6E6F74"/>
                </a:solidFill>
              </a:rPr>
              <a:t>09</a:t>
            </a:r>
            <a:endParaRPr/>
          </a:p>
        </p:txBody>
      </p:sp>
      <p:sp>
        <p:nvSpPr>
          <p:cNvPr id="328" name="Google Shape;328;g3f5c94b8770_1_156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329" name="Google Shape;329;g3f5c94b8770_1_156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sp>
        <p:nvSpPr>
          <p:cNvPr id="330" name="Rectangle 329"/>
          <p:cNvSpPr/>
          <p:nvPr/>
        </p:nvSpPr>
        <p:spPr>
          <a:xfrm>
            <a:off x="960120" y="2788920"/>
            <a:ext cx="219456" cy="219456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960120" y="2862072"/>
            <a:ext cx="3319272" cy="45720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960120" y="1965960"/>
            <a:ext cx="331927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LIVE · THE LOOP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960120" y="2258568"/>
            <a:ext cx="3319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21"/>
                </a:solidFill>
                <a:latin typeface="Arial"/>
              </a:rPr>
              <a:t>The loop, end to end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960120" y="3227832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216152" y="32461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Receipt → auto-filled pantry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960120" y="36850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1216152" y="3703319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One-tap check-off (what you ate)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960120" y="41422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1216152" y="4160519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Gaps → AI recipes to close them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960120" y="45994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1216152" y="4617719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Freshness-aware pantry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498848" y="2788920"/>
            <a:ext cx="219456" cy="219456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4498848" y="2862072"/>
            <a:ext cx="3319272" cy="45720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4498848" y="1965960"/>
            <a:ext cx="331927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LIVE · THE ENGINE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4498848" y="2258568"/>
            <a:ext cx="3319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21"/>
                </a:solidFill>
                <a:latin typeface="Arial"/>
              </a:rPr>
              <a:t>Data you can trust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4498848" y="3227832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4754880" y="32461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Offline OCR on our server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4498848" y="36850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4754880" y="3703319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Tiered BLS 4.0 match, verified-first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4498848" y="41422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4754880" y="4160519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Nutrient gaps vs DGE reference values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4498848" y="45994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4754880" y="4617719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Plant-diversity score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8037575" y="2788920"/>
            <a:ext cx="219456" cy="219456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8037575" y="2862072"/>
            <a:ext cx="3319272" cy="45720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8037575" y="1965960"/>
            <a:ext cx="331927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LIVE · PERSONAL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8037575" y="2258568"/>
            <a:ext cx="3319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21"/>
                </a:solidFill>
                <a:latin typeface="Arial"/>
              </a:rPr>
              <a:t>Yours &amp; private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8037575" y="3227832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8293607" y="32461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Onboarding chat: goals &amp; diet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8037575" y="36850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8293607" y="3703319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Household / multi-user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8037575" y="41422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8293607" y="4160519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One-tap delete-all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5c94b8770_1_204"/>
          <p:cNvSpPr/>
          <p:nvPr/>
        </p:nvSpPr>
        <p:spPr>
          <a:xfrm>
            <a:off x="0" y="0"/>
            <a:ext cx="12191700" cy="1281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f5c94b8770_1_204"/>
          <p:cNvSpPr/>
          <p:nvPr/>
        </p:nvSpPr>
        <p:spPr>
          <a:xfrm>
            <a:off x="0" y="6729984"/>
            <a:ext cx="12191700" cy="1281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5c94b8770_1_204"/>
          <p:cNvSpPr/>
          <p:nvPr/>
        </p:nvSpPr>
        <p:spPr>
          <a:xfrm>
            <a:off x="822960" y="777240"/>
            <a:ext cx="310800" cy="310800"/>
          </a:xfrm>
          <a:prstGeom prst="roundRect">
            <a:avLst>
              <a:gd fmla="val 30000" name="adj"/>
            </a:avLst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5c94b8770_1_204"/>
          <p:cNvSpPr txBox="1"/>
          <p:nvPr/>
        </p:nvSpPr>
        <p:spPr>
          <a:xfrm>
            <a:off x="1243584" y="749808"/>
            <a:ext cx="365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sp>
        <p:nvSpPr>
          <p:cNvPr id="342" name="Google Shape;342;g3f5c94b8770_1_204"/>
          <p:cNvSpPr txBox="1"/>
          <p:nvPr/>
        </p:nvSpPr>
        <p:spPr>
          <a:xfrm>
            <a:off x="822960" y="2148840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Thank you. Any questions?</a:t>
            </a:r>
            <a:endParaRPr/>
          </a:p>
        </p:txBody>
      </p:sp>
      <p:sp>
        <p:nvSpPr>
          <p:cNvPr id="343" name="Google Shape;343;g3f5c94b8770_1_204"/>
          <p:cNvSpPr/>
          <p:nvPr/>
        </p:nvSpPr>
        <p:spPr>
          <a:xfrm>
            <a:off x="841248" y="3200400"/>
            <a:ext cx="31089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5c94b8770_1_204"/>
          <p:cNvSpPr txBox="1"/>
          <p:nvPr/>
        </p:nvSpPr>
        <p:spPr>
          <a:xfrm>
            <a:off x="841248" y="3429000"/>
            <a:ext cx="1005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Upload your </a:t>
            </a:r>
            <a:r>
              <a:rPr i="1" lang="en-US" sz="1800">
                <a:solidFill>
                  <a:srgbClr val="5F7B4F"/>
                </a:solidFill>
              </a:rPr>
              <a:t>supermarket</a:t>
            </a:r>
            <a:r>
              <a:rPr b="0" i="1" lang="en-US" sz="18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 receipts. </a:t>
            </a:r>
            <a:r>
              <a:rPr i="1" lang="en-US" sz="1800">
                <a:solidFill>
                  <a:srgbClr val="5F7B4F"/>
                </a:solidFill>
              </a:rPr>
              <a:t>Gain</a:t>
            </a:r>
            <a:r>
              <a:rPr b="0" i="1" lang="en-US" sz="18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 nutritional </a:t>
            </a:r>
            <a:r>
              <a:rPr i="1" lang="en-US" sz="1800">
                <a:solidFill>
                  <a:srgbClr val="5F7B4F"/>
                </a:solidFill>
              </a:rPr>
              <a:t>insights</a:t>
            </a:r>
            <a:r>
              <a:rPr b="0" i="1" lang="en-US" sz="18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45" name="Google Shape;345;g3f5c94b8770_1_204"/>
          <p:cNvSpPr txBox="1"/>
          <p:nvPr/>
        </p:nvSpPr>
        <p:spPr>
          <a:xfrm>
            <a:off x="822960" y="4343400"/>
            <a:ext cx="3566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/>
          </a:p>
        </p:txBody>
      </p:sp>
      <p:sp>
        <p:nvSpPr>
          <p:cNvPr id="346" name="Google Shape;346;g3f5c94b8770_1_204"/>
          <p:cNvSpPr txBox="1"/>
          <p:nvPr/>
        </p:nvSpPr>
        <p:spPr>
          <a:xfrm>
            <a:off x="822960" y="4645152"/>
            <a:ext cx="35661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Jennifer </a:t>
            </a:r>
            <a:endParaRPr b="1" i="0" sz="1300" u="none" cap="none" strike="noStrike">
              <a:solidFill>
                <a:srgbClr val="1D1D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Rake</a:t>
            </a:r>
            <a:endParaRPr/>
          </a:p>
        </p:txBody>
      </p:sp>
      <p:sp>
        <p:nvSpPr>
          <p:cNvPr id="347" name="Google Shape;347;g3f5c94b8770_1_204"/>
          <p:cNvSpPr txBox="1"/>
          <p:nvPr/>
        </p:nvSpPr>
        <p:spPr>
          <a:xfrm>
            <a:off x="7465297" y="4343400"/>
            <a:ext cx="3566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PROJECT &amp; </a:t>
            </a:r>
            <a:r>
              <a:rPr b="1" lang="en-US" sz="1150">
                <a:solidFill>
                  <a:srgbClr val="6E6F74"/>
                </a:solidFill>
              </a:rPr>
              <a:t>APP</a:t>
            </a:r>
            <a:endParaRPr/>
          </a:p>
        </p:txBody>
      </p:sp>
      <p:sp>
        <p:nvSpPr>
          <p:cNvPr id="348" name="Google Shape;348;g3f5c94b8770_1_204"/>
          <p:cNvSpPr txBox="1"/>
          <p:nvPr/>
        </p:nvSpPr>
        <p:spPr>
          <a:xfrm>
            <a:off x="822960" y="5577840"/>
            <a:ext cx="1051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Appendix: </a:t>
            </a:r>
            <a:r>
              <a:rPr lang="en-US" sz="1250">
                <a:solidFill>
                  <a:srgbClr val="6E6F74"/>
                </a:solidFill>
              </a:rPr>
              <a:t>P</a:t>
            </a: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ersonas · </a:t>
            </a:r>
            <a:r>
              <a:rPr lang="en-US" sz="1250">
                <a:solidFill>
                  <a:srgbClr val="6E6F74"/>
                </a:solidFill>
              </a:rPr>
              <a:t>T</a:t>
            </a: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ech </a:t>
            </a:r>
            <a:r>
              <a:rPr lang="en-US" sz="1250">
                <a:solidFill>
                  <a:srgbClr val="6E6F74"/>
                </a:solidFill>
              </a:rPr>
              <a:t>S</a:t>
            </a: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tack · </a:t>
            </a:r>
            <a:r>
              <a:rPr lang="en-US" sz="1250">
                <a:solidFill>
                  <a:srgbClr val="6E6F74"/>
                </a:solidFill>
              </a:rPr>
              <a:t>Data Flow </a:t>
            </a:r>
            <a:r>
              <a:rPr lang="en-US" sz="1250">
                <a:solidFill>
                  <a:srgbClr val="6E6F74"/>
                </a:solidFill>
              </a:rPr>
              <a:t>· B</a:t>
            </a: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usiness </a:t>
            </a:r>
            <a:r>
              <a:rPr lang="en-US" sz="1250">
                <a:solidFill>
                  <a:srgbClr val="6E6F74"/>
                </a:solidFill>
              </a:rPr>
              <a:t>M</a:t>
            </a: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odel</a:t>
            </a:r>
            <a:endParaRPr/>
          </a:p>
        </p:txBody>
      </p:sp>
      <p:pic>
        <p:nvPicPr>
          <p:cNvPr id="349" name="Google Shape;349;g3f5c94b8770_1_204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48" y="777253"/>
            <a:ext cx="310799" cy="310799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pic>
        <p:nvPicPr>
          <p:cNvPr id="350" name="Google Shape;350;g3f5c94b8770_1_204" title="adobe-express-qr-code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7045" y="4646475"/>
            <a:ext cx="805308" cy="805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3f5c94b8770_1_204" title="adobe-express-qr-cod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9450" y="4645150"/>
            <a:ext cx="805307" cy="80530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5c94b8770_1_204"/>
          <p:cNvSpPr txBox="1"/>
          <p:nvPr/>
        </p:nvSpPr>
        <p:spPr>
          <a:xfrm>
            <a:off x="3041314" y="4645152"/>
            <a:ext cx="35661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Stuart </a:t>
            </a:r>
            <a:endParaRPr b="1" i="0" sz="1300" u="none" cap="none" strike="noStrike">
              <a:solidFill>
                <a:srgbClr val="1D1D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Kasemeier</a:t>
            </a:r>
            <a:endParaRPr/>
          </a:p>
        </p:txBody>
      </p:sp>
      <p:sp>
        <p:nvSpPr>
          <p:cNvPr id="353" name="Google Shape;353;g3f5c94b8770_1_204"/>
          <p:cNvSpPr txBox="1"/>
          <p:nvPr/>
        </p:nvSpPr>
        <p:spPr>
          <a:xfrm>
            <a:off x="7477032" y="4718118"/>
            <a:ext cx="356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D1D21"/>
                </a:solidFill>
              </a:rPr>
              <a:t>GitHub</a:t>
            </a:r>
            <a:endParaRPr/>
          </a:p>
        </p:txBody>
      </p:sp>
      <p:pic>
        <p:nvPicPr>
          <p:cNvPr id="354" name="Google Shape;354;g3f5c94b8770_1_204" title="adobe-express-qr-code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8537" y="4719441"/>
            <a:ext cx="805307" cy="805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g3f5c94b8770_1_204" title="adobe-express-qr-code (5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6046" y="4718116"/>
            <a:ext cx="805307" cy="805307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3f5c94b8770_1_204"/>
          <p:cNvSpPr txBox="1"/>
          <p:nvPr/>
        </p:nvSpPr>
        <p:spPr>
          <a:xfrm>
            <a:off x="9562806" y="4718118"/>
            <a:ext cx="356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D1D21"/>
                </a:solidFill>
              </a:rPr>
              <a:t>WebApp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5c94b8770_1_222"/>
          <p:cNvSpPr txBox="1"/>
          <p:nvPr/>
        </p:nvSpPr>
        <p:spPr>
          <a:xfrm>
            <a:off x="822960" y="45720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APPENDIX · PERSONA</a:t>
            </a:r>
            <a:endParaRPr/>
          </a:p>
        </p:txBody>
      </p:sp>
      <p:sp>
        <p:nvSpPr>
          <p:cNvPr id="363" name="Google Shape;363;g3f5c94b8770_1_222"/>
          <p:cNvSpPr/>
          <p:nvPr/>
        </p:nvSpPr>
        <p:spPr>
          <a:xfrm>
            <a:off x="822960" y="914400"/>
            <a:ext cx="685800" cy="685800"/>
          </a:xfrm>
          <a:prstGeom prst="ellipse">
            <a:avLst/>
          </a:prstGeom>
          <a:solidFill>
            <a:srgbClr val="F3E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f5c94b8770_1_222"/>
          <p:cNvSpPr txBox="1"/>
          <p:nvPr/>
        </p:nvSpPr>
        <p:spPr>
          <a:xfrm>
            <a:off x="1645920" y="932688"/>
            <a:ext cx="6858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Sara Bauer, 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Master's student · Munich · Vegan 2 years</a:t>
            </a:r>
            <a:endParaRPr/>
          </a:p>
        </p:txBody>
      </p:sp>
      <p:sp>
        <p:nvSpPr>
          <p:cNvPr id="365" name="Google Shape;365;g3f5c94b8770_1_222"/>
          <p:cNvSpPr/>
          <p:nvPr/>
        </p:nvSpPr>
        <p:spPr>
          <a:xfrm>
            <a:off x="9692640" y="1042415"/>
            <a:ext cx="1691700" cy="420600"/>
          </a:xfrm>
          <a:prstGeom prst="roundRect">
            <a:avLst>
              <a:gd fmla="val 50000" name="adj"/>
            </a:avLst>
          </a:prstGeom>
          <a:solidFill>
            <a:srgbClr val="F3E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f5c94b8770_1_222"/>
          <p:cNvSpPr txBox="1"/>
          <p:nvPr/>
        </p:nvSpPr>
        <p:spPr>
          <a:xfrm>
            <a:off x="9692640" y="1161464"/>
            <a:ext cx="1691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Dietary Restrictor</a:t>
            </a:r>
            <a:endParaRPr/>
          </a:p>
        </p:txBody>
      </p:sp>
      <p:sp>
        <p:nvSpPr>
          <p:cNvPr id="367" name="Google Shape;367;g3f5c94b8770_1_222"/>
          <p:cNvSpPr txBox="1"/>
          <p:nvPr/>
        </p:nvSpPr>
        <p:spPr>
          <a:xfrm>
            <a:off x="822960" y="192024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DAILY WORKFLOW</a:t>
            </a:r>
            <a:endParaRPr/>
          </a:p>
        </p:txBody>
      </p:sp>
      <p:sp>
        <p:nvSpPr>
          <p:cNvPr id="368" name="Google Shape;368;g3f5c94b8770_1_222"/>
          <p:cNvSpPr txBox="1"/>
          <p:nvPr/>
        </p:nvSpPr>
        <p:spPr>
          <a:xfrm>
            <a:off x="822960" y="222199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69" name="Google Shape;369;g3f5c94b8770_1_222"/>
          <p:cNvSpPr txBox="1"/>
          <p:nvPr/>
        </p:nvSpPr>
        <p:spPr>
          <a:xfrm>
            <a:off x="1078992" y="224028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Cooks most meals (ethics + budget)</a:t>
            </a:r>
            <a:endParaRPr/>
          </a:p>
        </p:txBody>
      </p:sp>
      <p:sp>
        <p:nvSpPr>
          <p:cNvPr id="370" name="Google Shape;370;g3f5c94b8770_1_222"/>
          <p:cNvSpPr txBox="1"/>
          <p:nvPr/>
        </p:nvSpPr>
        <p:spPr>
          <a:xfrm>
            <a:off x="822960" y="253288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71" name="Google Shape;371;g3f5c94b8770_1_222"/>
          <p:cNvSpPr txBox="1"/>
          <p:nvPr/>
        </p:nvSpPr>
        <p:spPr>
          <a:xfrm>
            <a:off x="1078992" y="255117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~8-dish rotation, narrow</a:t>
            </a:r>
            <a:endParaRPr/>
          </a:p>
        </p:txBody>
      </p:sp>
      <p:sp>
        <p:nvSpPr>
          <p:cNvPr id="372" name="Google Shape;372;g3f5c94b8770_1_222"/>
          <p:cNvSpPr txBox="1"/>
          <p:nvPr/>
        </p:nvSpPr>
        <p:spPr>
          <a:xfrm>
            <a:off x="822960" y="284378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73" name="Google Shape;373;g3f5c94b8770_1_222"/>
          <p:cNvSpPr txBox="1"/>
          <p:nvPr/>
        </p:nvSpPr>
        <p:spPr>
          <a:xfrm>
            <a:off x="1078992" y="286207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Reads labels · B12 (unsure of dose)</a:t>
            </a:r>
            <a:endParaRPr/>
          </a:p>
        </p:txBody>
      </p:sp>
      <p:sp>
        <p:nvSpPr>
          <p:cNvPr id="374" name="Google Shape;374;g3f5c94b8770_1_222"/>
          <p:cNvSpPr txBox="1"/>
          <p:nvPr/>
        </p:nvSpPr>
        <p:spPr>
          <a:xfrm>
            <a:off x="6172200" y="192024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PSYCHOLOGICAL DRIVERS</a:t>
            </a:r>
            <a:endParaRPr/>
          </a:p>
        </p:txBody>
      </p:sp>
      <p:sp>
        <p:nvSpPr>
          <p:cNvPr id="375" name="Google Shape;375;g3f5c94b8770_1_222"/>
          <p:cNvSpPr txBox="1"/>
          <p:nvPr/>
        </p:nvSpPr>
        <p:spPr>
          <a:xfrm>
            <a:off x="6172200" y="222199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76" name="Google Shape;376;g3f5c94b8770_1_222"/>
          <p:cNvSpPr txBox="1"/>
          <p:nvPr/>
        </p:nvSpPr>
        <p:spPr>
          <a:xfrm>
            <a:off x="6428232" y="224028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Diet = identity &amp; values</a:t>
            </a:r>
            <a:endParaRPr/>
          </a:p>
        </p:txBody>
      </p:sp>
      <p:sp>
        <p:nvSpPr>
          <p:cNvPr id="377" name="Google Shape;377;g3f5c94b8770_1_222"/>
          <p:cNvSpPr txBox="1"/>
          <p:nvPr/>
        </p:nvSpPr>
        <p:spPr>
          <a:xfrm>
            <a:off x="6172200" y="253288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78" name="Google Shape;378;g3f5c94b8770_1_222"/>
          <p:cNvSpPr txBox="1"/>
          <p:nvPr/>
        </p:nvSpPr>
        <p:spPr>
          <a:xfrm>
            <a:off x="6428232" y="255117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"Am I actually healthy?"</a:t>
            </a:r>
            <a:endParaRPr/>
          </a:p>
        </p:txBody>
      </p:sp>
      <p:sp>
        <p:nvSpPr>
          <p:cNvPr id="379" name="Google Shape;379;g3f5c94b8770_1_222"/>
          <p:cNvSpPr txBox="1"/>
          <p:nvPr/>
        </p:nvSpPr>
        <p:spPr>
          <a:xfrm>
            <a:off x="6172200" y="284378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80" name="Google Shape;380;g3f5c94b8770_1_222"/>
          <p:cNvSpPr txBox="1"/>
          <p:nvPr/>
        </p:nvSpPr>
        <p:spPr>
          <a:xfrm>
            <a:off x="6428232" y="286207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Reacts badly to preachy apps</a:t>
            </a:r>
            <a:endParaRPr/>
          </a:p>
        </p:txBody>
      </p:sp>
      <p:sp>
        <p:nvSpPr>
          <p:cNvPr id="381" name="Google Shape;381;g3f5c94b8770_1_222"/>
          <p:cNvSpPr txBox="1"/>
          <p:nvPr/>
        </p:nvSpPr>
        <p:spPr>
          <a:xfrm>
            <a:off x="822960" y="356616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DECISION-MAKING</a:t>
            </a:r>
            <a:endParaRPr/>
          </a:p>
        </p:txBody>
      </p:sp>
      <p:sp>
        <p:nvSpPr>
          <p:cNvPr id="382" name="Google Shape;382;g3f5c94b8770_1_222"/>
          <p:cNvSpPr txBox="1"/>
          <p:nvPr/>
        </p:nvSpPr>
        <p:spPr>
          <a:xfrm>
            <a:off x="822960" y="386791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83" name="Google Shape;383;g3f5c94b8770_1_222"/>
          <p:cNvSpPr txBox="1"/>
          <p:nvPr/>
        </p:nvSpPr>
        <p:spPr>
          <a:xfrm>
            <a:off x="1078992" y="388620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Researches ethics + privacy policies</a:t>
            </a:r>
            <a:endParaRPr/>
          </a:p>
        </p:txBody>
      </p:sp>
      <p:sp>
        <p:nvSpPr>
          <p:cNvPr id="384" name="Google Shape;384;g3f5c94b8770_1_222"/>
          <p:cNvSpPr txBox="1"/>
          <p:nvPr/>
        </p:nvSpPr>
        <p:spPr>
          <a:xfrm>
            <a:off x="822960" y="417880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85" name="Google Shape;385;g3f5c94b8770_1_222"/>
          <p:cNvSpPr txBox="1"/>
          <p:nvPr/>
        </p:nvSpPr>
        <p:spPr>
          <a:xfrm>
            <a:off x="1078992" y="419709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Active in vegan groups &amp; Reddit</a:t>
            </a:r>
            <a:endParaRPr/>
          </a:p>
        </p:txBody>
      </p:sp>
      <p:sp>
        <p:nvSpPr>
          <p:cNvPr id="386" name="Google Shape;386;g3f5c94b8770_1_222"/>
          <p:cNvSpPr txBox="1"/>
          <p:nvPr/>
        </p:nvSpPr>
        <p:spPr>
          <a:xfrm>
            <a:off x="822960" y="448970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87" name="Google Shape;387;g3f5c94b8770_1_222"/>
          <p:cNvSpPr txBox="1"/>
          <p:nvPr/>
        </p:nvSpPr>
        <p:spPr>
          <a:xfrm>
            <a:off x="1078992" y="450799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Rejects "vegan filter" apps</a:t>
            </a:r>
            <a:endParaRPr/>
          </a:p>
        </p:txBody>
      </p:sp>
      <p:sp>
        <p:nvSpPr>
          <p:cNvPr id="388" name="Google Shape;388;g3f5c94b8770_1_222"/>
          <p:cNvSpPr txBox="1"/>
          <p:nvPr/>
        </p:nvSpPr>
        <p:spPr>
          <a:xfrm>
            <a:off x="6172200" y="356616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BIGGEST FRUSTRATIONS</a:t>
            </a:r>
            <a:endParaRPr/>
          </a:p>
        </p:txBody>
      </p:sp>
      <p:sp>
        <p:nvSpPr>
          <p:cNvPr id="389" name="Google Shape;389;g3f5c94b8770_1_222"/>
          <p:cNvSpPr txBox="1"/>
          <p:nvPr/>
        </p:nvSpPr>
        <p:spPr>
          <a:xfrm>
            <a:off x="6172200" y="386791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90" name="Google Shape;390;g3f5c94b8770_1_222"/>
          <p:cNvSpPr txBox="1"/>
          <p:nvPr/>
        </p:nvSpPr>
        <p:spPr>
          <a:xfrm>
            <a:off x="6428232" y="388620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"Vegan = checkbox, not default"</a:t>
            </a:r>
            <a:endParaRPr/>
          </a:p>
        </p:txBody>
      </p:sp>
      <p:sp>
        <p:nvSpPr>
          <p:cNvPr id="391" name="Google Shape;391;g3f5c94b8770_1_222"/>
          <p:cNvSpPr txBox="1"/>
          <p:nvPr/>
        </p:nvSpPr>
        <p:spPr>
          <a:xfrm>
            <a:off x="6172200" y="417880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92" name="Google Shape;392;g3f5c94b8770_1_222"/>
          <p:cNvSpPr txBox="1"/>
          <p:nvPr/>
        </p:nvSpPr>
        <p:spPr>
          <a:xfrm>
            <a:off x="6428232" y="419709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Constant chicken protein recs</a:t>
            </a:r>
            <a:endParaRPr/>
          </a:p>
        </p:txBody>
      </p:sp>
      <p:sp>
        <p:nvSpPr>
          <p:cNvPr id="393" name="Google Shape;393;g3f5c94b8770_1_222"/>
          <p:cNvSpPr txBox="1"/>
          <p:nvPr/>
        </p:nvSpPr>
        <p:spPr>
          <a:xfrm>
            <a:off x="6172200" y="448970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94" name="Google Shape;394;g3f5c94b8770_1_222"/>
          <p:cNvSpPr txBox="1"/>
          <p:nvPr/>
        </p:nvSpPr>
        <p:spPr>
          <a:xfrm>
            <a:off x="6428232" y="450799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Iron/omega-3/zinc — contradictory answers</a:t>
            </a:r>
            <a:endParaRPr/>
          </a:p>
        </p:txBody>
      </p:sp>
      <p:sp>
        <p:nvSpPr>
          <p:cNvPr id="395" name="Google Shape;395;g3f5c94b8770_1_222"/>
          <p:cNvSpPr/>
          <p:nvPr/>
        </p:nvSpPr>
        <p:spPr>
          <a:xfrm>
            <a:off x="822960" y="5257800"/>
            <a:ext cx="10542900" cy="868800"/>
          </a:xfrm>
          <a:prstGeom prst="roundRect">
            <a:avLst>
              <a:gd fmla="val 6000" name="adj"/>
            </a:avLst>
          </a:prstGeom>
          <a:solidFill>
            <a:srgbClr val="F3E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f5c94b8770_1_222"/>
          <p:cNvSpPr txBox="1"/>
          <p:nvPr/>
        </p:nvSpPr>
        <p:spPr>
          <a:xfrm>
            <a:off x="1097280" y="5451026"/>
            <a:ext cx="1005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SECRET MOTIVATION</a:t>
            </a:r>
            <a:endParaRPr/>
          </a:p>
        </p:txBody>
      </p:sp>
      <p:sp>
        <p:nvSpPr>
          <p:cNvPr id="397" name="Google Shape;397;g3f5c94b8770_1_222"/>
          <p:cNvSpPr txBox="1"/>
          <p:nvPr/>
        </p:nvSpPr>
        <p:spPr>
          <a:xfrm>
            <a:off x="1097280" y="5697914"/>
            <a:ext cx="100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Shut down "but where do you get your protein?" — with data proving she's healthier than they are.</a:t>
            </a:r>
            <a:endParaRPr/>
          </a:p>
        </p:txBody>
      </p:sp>
      <p:sp>
        <p:nvSpPr>
          <p:cNvPr id="398" name="Google Shape;398;g3f5c94b8770_1_222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399" name="Google Shape;399;g3f5c94b8770_1_222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400" name="Google Shape;400;g3f5c94b8770_1_222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pic>
        <p:nvPicPr>
          <p:cNvPr id="401" name="Google Shape;401;g3f5c94b8770_1_222" title="downloaded-imag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400" y="912575"/>
            <a:ext cx="744900" cy="7446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5c94b8770_1_266"/>
          <p:cNvSpPr txBox="1"/>
          <p:nvPr/>
        </p:nvSpPr>
        <p:spPr>
          <a:xfrm>
            <a:off x="822960" y="45720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APPENDIX · PERSONA</a:t>
            </a:r>
            <a:endParaRPr/>
          </a:p>
        </p:txBody>
      </p:sp>
      <p:sp>
        <p:nvSpPr>
          <p:cNvPr id="408" name="Google Shape;408;g3f5c94b8770_1_266"/>
          <p:cNvSpPr/>
          <p:nvPr/>
        </p:nvSpPr>
        <p:spPr>
          <a:xfrm>
            <a:off x="822960" y="914400"/>
            <a:ext cx="685800" cy="685800"/>
          </a:xfrm>
          <a:prstGeom prst="ellipse">
            <a:avLst/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5c94b8770_1_266"/>
          <p:cNvSpPr txBox="1"/>
          <p:nvPr/>
        </p:nvSpPr>
        <p:spPr>
          <a:xfrm>
            <a:off x="1645920" y="932688"/>
            <a:ext cx="6858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Tobias Kramer, 38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Project Manager · Hamburg · Married, 2 kids, no time</a:t>
            </a:r>
            <a:endParaRPr/>
          </a:p>
        </p:txBody>
      </p:sp>
      <p:sp>
        <p:nvSpPr>
          <p:cNvPr id="410" name="Google Shape;410;g3f5c94b8770_1_266"/>
          <p:cNvSpPr/>
          <p:nvPr/>
        </p:nvSpPr>
        <p:spPr>
          <a:xfrm>
            <a:off x="9692640" y="1042415"/>
            <a:ext cx="1691700" cy="420600"/>
          </a:xfrm>
          <a:prstGeom prst="roundRect">
            <a:avLst>
              <a:gd fmla="val 5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f5c94b8770_1_266"/>
          <p:cNvSpPr txBox="1"/>
          <p:nvPr/>
        </p:nvSpPr>
        <p:spPr>
          <a:xfrm>
            <a:off x="9692640" y="1149252"/>
            <a:ext cx="1691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Busy Professional</a:t>
            </a:r>
            <a:endParaRPr/>
          </a:p>
        </p:txBody>
      </p:sp>
      <p:sp>
        <p:nvSpPr>
          <p:cNvPr id="412" name="Google Shape;412;g3f5c94b8770_1_266"/>
          <p:cNvSpPr txBox="1"/>
          <p:nvPr/>
        </p:nvSpPr>
        <p:spPr>
          <a:xfrm>
            <a:off x="822960" y="192024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DAILY WORKFLOW</a:t>
            </a:r>
            <a:endParaRPr/>
          </a:p>
        </p:txBody>
      </p:sp>
      <p:sp>
        <p:nvSpPr>
          <p:cNvPr id="413" name="Google Shape;413;g3f5c94b8770_1_266"/>
          <p:cNvSpPr txBox="1"/>
          <p:nvPr/>
        </p:nvSpPr>
        <p:spPr>
          <a:xfrm>
            <a:off x="822960" y="222199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14" name="Google Shape;414;g3f5c94b8770_1_266"/>
          <p:cNvSpPr txBox="1"/>
          <p:nvPr/>
        </p:nvSpPr>
        <p:spPr>
          <a:xfrm>
            <a:off x="1078992" y="224028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Out 7:30–19:00 · kids need dinner</a:t>
            </a:r>
            <a:endParaRPr/>
          </a:p>
        </p:txBody>
      </p:sp>
      <p:sp>
        <p:nvSpPr>
          <p:cNvPr id="415" name="Google Shape;415;g3f5c94b8770_1_266"/>
          <p:cNvSpPr txBox="1"/>
          <p:nvPr/>
        </p:nvSpPr>
        <p:spPr>
          <a:xfrm>
            <a:off x="822960" y="253288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16" name="Google Shape;416;g3f5c94b8770_1_266"/>
          <p:cNvSpPr txBox="1"/>
          <p:nvPr/>
        </p:nvSpPr>
        <p:spPr>
          <a:xfrm>
            <a:off x="1078992" y="255117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Leftovers or fast food; desk sandwich</a:t>
            </a:r>
            <a:endParaRPr/>
          </a:p>
        </p:txBody>
      </p:sp>
      <p:sp>
        <p:nvSpPr>
          <p:cNvPr id="417" name="Google Shape;417;g3f5c94b8770_1_266"/>
          <p:cNvSpPr txBox="1"/>
          <p:nvPr/>
        </p:nvSpPr>
        <p:spPr>
          <a:xfrm>
            <a:off x="822960" y="284378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18" name="Google Shape;418;g3f5c94b8770_1_266"/>
          <p:cNvSpPr txBox="1"/>
          <p:nvPr/>
        </p:nvSpPr>
        <p:spPr>
          <a:xfrm>
            <a:off x="1078992" y="286207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Cooks only weekends (2 of 14 meals)</a:t>
            </a:r>
            <a:endParaRPr/>
          </a:p>
        </p:txBody>
      </p:sp>
      <p:sp>
        <p:nvSpPr>
          <p:cNvPr id="419" name="Google Shape;419;g3f5c94b8770_1_266"/>
          <p:cNvSpPr txBox="1"/>
          <p:nvPr/>
        </p:nvSpPr>
        <p:spPr>
          <a:xfrm>
            <a:off x="6172200" y="192024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PSYCHOLOGICAL DRIVERS</a:t>
            </a:r>
            <a:endParaRPr/>
          </a:p>
        </p:txBody>
      </p:sp>
      <p:sp>
        <p:nvSpPr>
          <p:cNvPr id="420" name="Google Shape;420;g3f5c94b8770_1_266"/>
          <p:cNvSpPr txBox="1"/>
          <p:nvPr/>
        </p:nvSpPr>
        <p:spPr>
          <a:xfrm>
            <a:off x="6172200" y="222199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21" name="Google Shape;421;g3f5c94b8770_1_266"/>
          <p:cNvSpPr txBox="1"/>
          <p:nvPr/>
        </p:nvSpPr>
        <p:spPr>
          <a:xfrm>
            <a:off x="6428232" y="224028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Good role model, no life overhaul</a:t>
            </a:r>
            <a:endParaRPr/>
          </a:p>
        </p:txBody>
      </p:sp>
      <p:sp>
        <p:nvSpPr>
          <p:cNvPr id="422" name="Google Shape;422;g3f5c94b8770_1_266"/>
          <p:cNvSpPr txBox="1"/>
          <p:nvPr/>
        </p:nvSpPr>
        <p:spPr>
          <a:xfrm>
            <a:off x="6172200" y="253288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23" name="Google Shape;423;g3f5c94b8770_1_266"/>
          <p:cNvSpPr txBox="1"/>
          <p:nvPr/>
        </p:nvSpPr>
        <p:spPr>
          <a:xfrm>
            <a:off x="6428232" y="255117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Runs work life in Notion — likes systems</a:t>
            </a:r>
            <a:endParaRPr/>
          </a:p>
        </p:txBody>
      </p:sp>
      <p:sp>
        <p:nvSpPr>
          <p:cNvPr id="424" name="Google Shape;424;g3f5c94b8770_1_266"/>
          <p:cNvSpPr txBox="1"/>
          <p:nvPr/>
        </p:nvSpPr>
        <p:spPr>
          <a:xfrm>
            <a:off x="6172200" y="284378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25" name="Google Shape;425;g3f5c94b8770_1_266"/>
          <p:cNvSpPr txBox="1"/>
          <p:nvPr/>
        </p:nvSpPr>
        <p:spPr>
          <a:xfrm>
            <a:off x="6428232" y="286207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Would engage if friction is low</a:t>
            </a:r>
            <a:endParaRPr/>
          </a:p>
        </p:txBody>
      </p:sp>
      <p:sp>
        <p:nvSpPr>
          <p:cNvPr id="426" name="Google Shape;426;g3f5c94b8770_1_266"/>
          <p:cNvSpPr txBox="1"/>
          <p:nvPr/>
        </p:nvSpPr>
        <p:spPr>
          <a:xfrm>
            <a:off x="822960" y="356616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DECISION-MAKING</a:t>
            </a:r>
            <a:endParaRPr/>
          </a:p>
        </p:txBody>
      </p:sp>
      <p:sp>
        <p:nvSpPr>
          <p:cNvPr id="427" name="Google Shape;427;g3f5c94b8770_1_266"/>
          <p:cNvSpPr txBox="1"/>
          <p:nvPr/>
        </p:nvSpPr>
        <p:spPr>
          <a:xfrm>
            <a:off x="822960" y="386791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28" name="Google Shape;428;g3f5c94b8770_1_266"/>
          <p:cNvSpPr txBox="1"/>
          <p:nvPr/>
        </p:nvSpPr>
        <p:spPr>
          <a:xfrm>
            <a:off x="1078992" y="388620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Buys on trusted recommendation</a:t>
            </a:r>
            <a:endParaRPr/>
          </a:p>
        </p:txBody>
      </p:sp>
      <p:sp>
        <p:nvSpPr>
          <p:cNvPr id="429" name="Google Shape;429;g3f5c94b8770_1_266"/>
          <p:cNvSpPr txBox="1"/>
          <p:nvPr/>
        </p:nvSpPr>
        <p:spPr>
          <a:xfrm>
            <a:off x="822960" y="417880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30" name="Google Shape;430;g3f5c94b8770_1_266"/>
          <p:cNvSpPr txBox="1"/>
          <p:nvPr/>
        </p:nvSpPr>
        <p:spPr>
          <a:xfrm>
            <a:off x="1078992" y="419709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Too busy to research</a:t>
            </a:r>
            <a:endParaRPr/>
          </a:p>
        </p:txBody>
      </p:sp>
      <p:sp>
        <p:nvSpPr>
          <p:cNvPr id="431" name="Google Shape;431;g3f5c94b8770_1_266"/>
          <p:cNvSpPr txBox="1"/>
          <p:nvPr/>
        </p:nvSpPr>
        <p:spPr>
          <a:xfrm>
            <a:off x="822960" y="448970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32" name="Google Shape;432;g3f5c94b8770_1_266"/>
          <p:cNvSpPr txBox="1"/>
          <p:nvPr/>
        </p:nvSpPr>
        <p:spPr>
          <a:xfrm>
            <a:off x="1078992" y="450799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Pays for time — complexity is the barrier</a:t>
            </a:r>
            <a:endParaRPr/>
          </a:p>
        </p:txBody>
      </p:sp>
      <p:sp>
        <p:nvSpPr>
          <p:cNvPr id="433" name="Google Shape;433;g3f5c94b8770_1_266"/>
          <p:cNvSpPr txBox="1"/>
          <p:nvPr/>
        </p:nvSpPr>
        <p:spPr>
          <a:xfrm>
            <a:off x="6172200" y="356616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BIGGEST FRUSTRATIONS</a:t>
            </a:r>
            <a:endParaRPr/>
          </a:p>
        </p:txBody>
      </p:sp>
      <p:sp>
        <p:nvSpPr>
          <p:cNvPr id="434" name="Google Shape;434;g3f5c94b8770_1_266"/>
          <p:cNvSpPr txBox="1"/>
          <p:nvPr/>
        </p:nvSpPr>
        <p:spPr>
          <a:xfrm>
            <a:off x="6172200" y="386791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35" name="Google Shape;435;g3f5c94b8770_1_266"/>
          <p:cNvSpPr txBox="1"/>
          <p:nvPr/>
        </p:nvSpPr>
        <p:spPr>
          <a:xfrm>
            <a:off x="6428232" y="388620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"No 2 hours to figure out eating well"</a:t>
            </a:r>
            <a:endParaRPr/>
          </a:p>
        </p:txBody>
      </p:sp>
      <p:sp>
        <p:nvSpPr>
          <p:cNvPr id="436" name="Google Shape;436;g3f5c94b8770_1_266"/>
          <p:cNvSpPr txBox="1"/>
          <p:nvPr/>
        </p:nvSpPr>
        <p:spPr>
          <a:xfrm>
            <a:off x="6172200" y="417880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37" name="Google Shape;437;g3f5c94b8770_1_266"/>
          <p:cNvSpPr txBox="1"/>
          <p:nvPr/>
        </p:nvSpPr>
        <p:spPr>
          <a:xfrm>
            <a:off x="6428232" y="419709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Quit MyFitnessPal after 4 days</a:t>
            </a:r>
            <a:endParaRPr/>
          </a:p>
        </p:txBody>
      </p:sp>
      <p:sp>
        <p:nvSpPr>
          <p:cNvPr id="438" name="Google Shape;438;g3f5c94b8770_1_266"/>
          <p:cNvSpPr txBox="1"/>
          <p:nvPr/>
        </p:nvSpPr>
        <p:spPr>
          <a:xfrm>
            <a:off x="6172200" y="448970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39" name="Google Shape;439;g3f5c94b8770_1_266"/>
          <p:cNvSpPr txBox="1"/>
          <p:nvPr/>
        </p:nvSpPr>
        <p:spPr>
          <a:xfrm>
            <a:off x="6428232" y="450799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Hates apps needing daily input</a:t>
            </a:r>
            <a:endParaRPr/>
          </a:p>
        </p:txBody>
      </p:sp>
      <p:sp>
        <p:nvSpPr>
          <p:cNvPr id="440" name="Google Shape;440;g3f5c94b8770_1_266"/>
          <p:cNvSpPr/>
          <p:nvPr/>
        </p:nvSpPr>
        <p:spPr>
          <a:xfrm>
            <a:off x="822960" y="5257800"/>
            <a:ext cx="10542900" cy="868800"/>
          </a:xfrm>
          <a:prstGeom prst="roundRect">
            <a:avLst>
              <a:gd fmla="val 6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f5c94b8770_1_266"/>
          <p:cNvSpPr txBox="1"/>
          <p:nvPr/>
        </p:nvSpPr>
        <p:spPr>
          <a:xfrm>
            <a:off x="1097280" y="5451026"/>
            <a:ext cx="1005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SECRET MOTIVATION</a:t>
            </a:r>
            <a:endParaRPr/>
          </a:p>
        </p:txBody>
      </p:sp>
      <p:sp>
        <p:nvSpPr>
          <p:cNvPr id="442" name="Google Shape;442;g3f5c94b8770_1_266"/>
          <p:cNvSpPr txBox="1"/>
          <p:nvPr/>
        </p:nvSpPr>
        <p:spPr>
          <a:xfrm>
            <a:off x="1097280" y="5697914"/>
            <a:ext cx="100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Scared of getting sick — dad's heart attack at 55. The cholesterol comment landed hard. Wants to hear he'll be fine.</a:t>
            </a:r>
            <a:endParaRPr/>
          </a:p>
        </p:txBody>
      </p:sp>
      <p:sp>
        <p:nvSpPr>
          <p:cNvPr id="443" name="Google Shape;443;g3f5c94b8770_1_266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444" name="Google Shape;444;g3f5c94b8770_1_266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445" name="Google Shape;445;g3f5c94b8770_1_266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pic>
        <p:nvPicPr>
          <p:cNvPr id="446" name="Google Shape;446;g3f5c94b8770_1_266" title="downloaded-image (1)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492" y="914521"/>
            <a:ext cx="740700" cy="7407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5c94b8770_1_310"/>
          <p:cNvSpPr txBox="1"/>
          <p:nvPr/>
        </p:nvSpPr>
        <p:spPr>
          <a:xfrm>
            <a:off x="822960" y="45720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APPENDIX · PERSONA</a:t>
            </a:r>
            <a:endParaRPr/>
          </a:p>
        </p:txBody>
      </p:sp>
      <p:sp>
        <p:nvSpPr>
          <p:cNvPr id="453" name="Google Shape;453;g3f5c94b8770_1_310"/>
          <p:cNvSpPr/>
          <p:nvPr/>
        </p:nvSpPr>
        <p:spPr>
          <a:xfrm>
            <a:off x="822960" y="914400"/>
            <a:ext cx="685800" cy="685800"/>
          </a:xfrm>
          <a:prstGeom prst="ellipse">
            <a:avLst/>
          </a:prstGeom>
          <a:solidFill>
            <a:srgbClr val="ECEA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f5c94b8770_1_310"/>
          <p:cNvSpPr txBox="1"/>
          <p:nvPr/>
        </p:nvSpPr>
        <p:spPr>
          <a:xfrm>
            <a:off x="1645920" y="932688"/>
            <a:ext cx="6858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Lena Müller, 29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UX Designer · Berlin · Lives alone, gym 3×/week</a:t>
            </a:r>
            <a:endParaRPr/>
          </a:p>
        </p:txBody>
      </p:sp>
      <p:sp>
        <p:nvSpPr>
          <p:cNvPr id="455" name="Google Shape;455;g3f5c94b8770_1_310"/>
          <p:cNvSpPr/>
          <p:nvPr/>
        </p:nvSpPr>
        <p:spPr>
          <a:xfrm>
            <a:off x="9692640" y="1042415"/>
            <a:ext cx="1691700" cy="420600"/>
          </a:xfrm>
          <a:prstGeom prst="roundRect">
            <a:avLst>
              <a:gd fmla="val 50000" name="adj"/>
            </a:avLst>
          </a:prstGeom>
          <a:solidFill>
            <a:srgbClr val="ECEA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f5c94b8770_1_310"/>
          <p:cNvSpPr txBox="1"/>
          <p:nvPr/>
        </p:nvSpPr>
        <p:spPr>
          <a:xfrm>
            <a:off x="9692640" y="1149252"/>
            <a:ext cx="1691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Early Adopter</a:t>
            </a:r>
            <a:endParaRPr/>
          </a:p>
        </p:txBody>
      </p:sp>
      <p:sp>
        <p:nvSpPr>
          <p:cNvPr id="457" name="Google Shape;457;g3f5c94b8770_1_310"/>
          <p:cNvSpPr txBox="1"/>
          <p:nvPr/>
        </p:nvSpPr>
        <p:spPr>
          <a:xfrm>
            <a:off x="822960" y="192024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DAILY WORKFLOW</a:t>
            </a:r>
            <a:endParaRPr/>
          </a:p>
        </p:txBody>
      </p:sp>
      <p:sp>
        <p:nvSpPr>
          <p:cNvPr id="458" name="Google Shape;458;g3f5c94b8770_1_310"/>
          <p:cNvSpPr txBox="1"/>
          <p:nvPr/>
        </p:nvSpPr>
        <p:spPr>
          <a:xfrm>
            <a:off x="822960" y="222199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59" name="Google Shape;459;g3f5c94b8770_1_310"/>
          <p:cNvSpPr txBox="1"/>
          <p:nvPr/>
        </p:nvSpPr>
        <p:spPr>
          <a:xfrm>
            <a:off x="1078992" y="224028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Skips breakfast · lunch near office</a:t>
            </a:r>
            <a:endParaRPr/>
          </a:p>
        </p:txBody>
      </p:sp>
      <p:sp>
        <p:nvSpPr>
          <p:cNvPr id="460" name="Google Shape;460;g3f5c94b8770_1_310"/>
          <p:cNvSpPr txBox="1"/>
          <p:nvPr/>
        </p:nvSpPr>
        <p:spPr>
          <a:xfrm>
            <a:off x="822960" y="253288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61" name="Google Shape;461;g3f5c94b8770_1_310"/>
          <p:cNvSpPr txBox="1"/>
          <p:nvPr/>
        </p:nvSpPr>
        <p:spPr>
          <a:xfrm>
            <a:off x="1078992" y="255117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Tracks workouts in Strava, never a macro</a:t>
            </a:r>
            <a:endParaRPr/>
          </a:p>
        </p:txBody>
      </p:sp>
      <p:sp>
        <p:nvSpPr>
          <p:cNvPr id="462" name="Google Shape;462;g3f5c94b8770_1_310"/>
          <p:cNvSpPr txBox="1"/>
          <p:nvPr/>
        </p:nvSpPr>
        <p:spPr>
          <a:xfrm>
            <a:off x="822960" y="284378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63" name="Google Shape;463;g3f5c94b8770_1_310"/>
          <p:cNvSpPr txBox="1"/>
          <p:nvPr/>
        </p:nvSpPr>
        <p:spPr>
          <a:xfrm>
            <a:off x="1078992" y="286207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Meal-preps ~monthly · saves unused recipes</a:t>
            </a:r>
            <a:endParaRPr/>
          </a:p>
        </p:txBody>
      </p:sp>
      <p:sp>
        <p:nvSpPr>
          <p:cNvPr id="464" name="Google Shape;464;g3f5c94b8770_1_310"/>
          <p:cNvSpPr txBox="1"/>
          <p:nvPr/>
        </p:nvSpPr>
        <p:spPr>
          <a:xfrm>
            <a:off x="6172200" y="192024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PSYCHOLOGICAL DRIVERS</a:t>
            </a:r>
            <a:endParaRPr/>
          </a:p>
        </p:txBody>
      </p:sp>
      <p:sp>
        <p:nvSpPr>
          <p:cNvPr id="465" name="Google Shape;465;g3f5c94b8770_1_310"/>
          <p:cNvSpPr txBox="1"/>
          <p:nvPr/>
        </p:nvSpPr>
        <p:spPr>
          <a:xfrm>
            <a:off x="6172200" y="222199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66" name="Google Shape;466;g3f5c94b8770_1_310"/>
          <p:cNvSpPr txBox="1"/>
          <p:nvPr/>
        </p:nvSpPr>
        <p:spPr>
          <a:xfrm>
            <a:off x="6428232" y="224028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Control without a second job</a:t>
            </a:r>
            <a:endParaRPr/>
          </a:p>
        </p:txBody>
      </p:sp>
      <p:sp>
        <p:nvSpPr>
          <p:cNvPr id="467" name="Google Shape;467;g3f5c94b8770_1_310"/>
          <p:cNvSpPr txBox="1"/>
          <p:nvPr/>
        </p:nvSpPr>
        <p:spPr>
          <a:xfrm>
            <a:off x="6172200" y="253288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68" name="Google Shape;468;g3f5c94b8770_1_310"/>
          <p:cNvSpPr txBox="1"/>
          <p:nvPr/>
        </p:nvSpPr>
        <p:spPr>
          <a:xfrm>
            <a:off x="6428232" y="255117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"Someone who works out" = identity</a:t>
            </a:r>
            <a:endParaRPr/>
          </a:p>
        </p:txBody>
      </p:sp>
      <p:sp>
        <p:nvSpPr>
          <p:cNvPr id="469" name="Google Shape;469;g3f5c94b8770_1_310"/>
          <p:cNvSpPr txBox="1"/>
          <p:nvPr/>
        </p:nvSpPr>
        <p:spPr>
          <a:xfrm>
            <a:off x="6172200" y="284378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70" name="Google Shape;470;g3f5c94b8770_1_310"/>
          <p:cNvSpPr txBox="1"/>
          <p:nvPr/>
        </p:nvSpPr>
        <p:spPr>
          <a:xfrm>
            <a:off x="6428232" y="286207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Nutrition feels overwhelming, shameful</a:t>
            </a:r>
            <a:endParaRPr/>
          </a:p>
        </p:txBody>
      </p:sp>
      <p:sp>
        <p:nvSpPr>
          <p:cNvPr id="471" name="Google Shape;471;g3f5c94b8770_1_310"/>
          <p:cNvSpPr txBox="1"/>
          <p:nvPr/>
        </p:nvSpPr>
        <p:spPr>
          <a:xfrm>
            <a:off x="822960" y="356616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DECISION-MAKING</a:t>
            </a:r>
            <a:endParaRPr/>
          </a:p>
        </p:txBody>
      </p:sp>
      <p:sp>
        <p:nvSpPr>
          <p:cNvPr id="472" name="Google Shape;472;g3f5c94b8770_1_310"/>
          <p:cNvSpPr txBox="1"/>
          <p:nvPr/>
        </p:nvSpPr>
        <p:spPr>
          <a:xfrm>
            <a:off x="822960" y="386791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73" name="Google Shape;473;g3f5c94b8770_1_310"/>
          <p:cNvSpPr txBox="1"/>
          <p:nvPr/>
        </p:nvSpPr>
        <p:spPr>
          <a:xfrm>
            <a:off x="1078992" y="388620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Tries 3 apps free before committing</a:t>
            </a:r>
            <a:endParaRPr/>
          </a:p>
        </p:txBody>
      </p:sp>
      <p:sp>
        <p:nvSpPr>
          <p:cNvPr id="474" name="Google Shape;474;g3f5c94b8770_1_310"/>
          <p:cNvSpPr txBox="1"/>
          <p:nvPr/>
        </p:nvSpPr>
        <p:spPr>
          <a:xfrm>
            <a:off x="822960" y="417880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75" name="Google Shape;475;g3f5c94b8770_1_310"/>
          <p:cNvSpPr txBox="1"/>
          <p:nvPr/>
        </p:nvSpPr>
        <p:spPr>
          <a:xfrm>
            <a:off x="1078992" y="419709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Reads reviews obsessively</a:t>
            </a:r>
            <a:endParaRPr/>
          </a:p>
        </p:txBody>
      </p:sp>
      <p:sp>
        <p:nvSpPr>
          <p:cNvPr id="476" name="Google Shape;476;g3f5c94b8770_1_310"/>
          <p:cNvSpPr txBox="1"/>
          <p:nvPr/>
        </p:nvSpPr>
        <p:spPr>
          <a:xfrm>
            <a:off x="822960" y="448970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77" name="Google Shape;477;g3f5c94b8770_1_310"/>
          <p:cNvSpPr txBox="1"/>
          <p:nvPr/>
        </p:nvSpPr>
        <p:spPr>
          <a:xfrm>
            <a:off x="1078992" y="450799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Ugly app = instant no</a:t>
            </a:r>
            <a:endParaRPr/>
          </a:p>
        </p:txBody>
      </p:sp>
      <p:sp>
        <p:nvSpPr>
          <p:cNvPr id="478" name="Google Shape;478;g3f5c94b8770_1_310"/>
          <p:cNvSpPr txBox="1"/>
          <p:nvPr/>
        </p:nvSpPr>
        <p:spPr>
          <a:xfrm>
            <a:off x="6172200" y="356616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BIGGEST FRUSTRATIONS</a:t>
            </a:r>
            <a:endParaRPr/>
          </a:p>
        </p:txBody>
      </p:sp>
      <p:sp>
        <p:nvSpPr>
          <p:cNvPr id="479" name="Google Shape;479;g3f5c94b8770_1_310"/>
          <p:cNvSpPr txBox="1"/>
          <p:nvPr/>
        </p:nvSpPr>
        <p:spPr>
          <a:xfrm>
            <a:off x="6172200" y="386791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80" name="Google Shape;480;g3f5c94b8770_1_310"/>
          <p:cNvSpPr txBox="1"/>
          <p:nvPr/>
        </p:nvSpPr>
        <p:spPr>
          <a:xfrm>
            <a:off x="6428232" y="388620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"Eat healthy but always tired"</a:t>
            </a:r>
            <a:endParaRPr/>
          </a:p>
        </p:txBody>
      </p:sp>
      <p:sp>
        <p:nvSpPr>
          <p:cNvPr id="481" name="Google Shape;481;g3f5c94b8770_1_310"/>
          <p:cNvSpPr txBox="1"/>
          <p:nvPr/>
        </p:nvSpPr>
        <p:spPr>
          <a:xfrm>
            <a:off x="6172200" y="417880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82" name="Google Shape;482;g3f5c94b8770_1_310"/>
          <p:cNvSpPr txBox="1"/>
          <p:nvPr/>
        </p:nvSpPr>
        <p:spPr>
          <a:xfrm>
            <a:off x="6428232" y="419709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Hates calorie counting</a:t>
            </a:r>
            <a:endParaRPr/>
          </a:p>
        </p:txBody>
      </p:sp>
      <p:sp>
        <p:nvSpPr>
          <p:cNvPr id="483" name="Google Shape;483;g3f5c94b8770_1_310"/>
          <p:cNvSpPr txBox="1"/>
          <p:nvPr/>
        </p:nvSpPr>
        <p:spPr>
          <a:xfrm>
            <a:off x="6172200" y="448970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84" name="Google Shape;484;g3f5c94b8770_1_310"/>
          <p:cNvSpPr txBox="1"/>
          <p:nvPr/>
        </p:nvSpPr>
        <p:spPr>
          <a:xfrm>
            <a:off x="6428232" y="450799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Apps feel built for bodybuilders / ED</a:t>
            </a:r>
            <a:endParaRPr/>
          </a:p>
        </p:txBody>
      </p:sp>
      <p:sp>
        <p:nvSpPr>
          <p:cNvPr id="485" name="Google Shape;485;g3f5c94b8770_1_310"/>
          <p:cNvSpPr/>
          <p:nvPr/>
        </p:nvSpPr>
        <p:spPr>
          <a:xfrm>
            <a:off x="822960" y="5257800"/>
            <a:ext cx="10542900" cy="868800"/>
          </a:xfrm>
          <a:prstGeom prst="roundRect">
            <a:avLst>
              <a:gd fmla="val 6000" name="adj"/>
            </a:avLst>
          </a:prstGeom>
          <a:solidFill>
            <a:srgbClr val="ECEA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f5c94b8770_1_310"/>
          <p:cNvSpPr txBox="1"/>
          <p:nvPr/>
        </p:nvSpPr>
        <p:spPr>
          <a:xfrm>
            <a:off x="1097280" y="5462335"/>
            <a:ext cx="1005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SECRET MOTIVATION</a:t>
            </a:r>
            <a:endParaRPr/>
          </a:p>
        </p:txBody>
      </p:sp>
      <p:sp>
        <p:nvSpPr>
          <p:cNvPr id="487" name="Google Shape;487;g3f5c94b8770_1_310"/>
          <p:cNvSpPr txBox="1"/>
          <p:nvPr/>
        </p:nvSpPr>
        <p:spPr>
          <a:xfrm>
            <a:off x="1097280" y="5709223"/>
            <a:ext cx="100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Stop feeling guilty about food and still look good. An app that makes her feel she's doing enough is the win.</a:t>
            </a:r>
            <a:endParaRPr/>
          </a:p>
        </p:txBody>
      </p:sp>
      <p:sp>
        <p:nvSpPr>
          <p:cNvPr id="488" name="Google Shape;488;g3f5c94b8770_1_310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489" name="Google Shape;489;g3f5c94b8770_1_310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490" name="Google Shape;490;g3f5c94b8770_1_310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pic>
        <p:nvPicPr>
          <p:cNvPr id="491" name="Google Shape;491;g3f5c94b8770_1_310" title="downloaded-image (2)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494" y="914527"/>
            <a:ext cx="740700" cy="7407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5c94b8770_1_354"/>
          <p:cNvSpPr txBox="1"/>
          <p:nvPr/>
        </p:nvSpPr>
        <p:spPr>
          <a:xfrm>
            <a:off x="822960" y="50292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APPENDIX · TECH STACK</a:t>
            </a:r>
            <a:endParaRPr/>
          </a:p>
        </p:txBody>
      </p:sp>
      <p:sp>
        <p:nvSpPr>
          <p:cNvPr id="498" name="Google Shape;498;g3f5c94b8770_1_354"/>
          <p:cNvSpPr txBox="1"/>
          <p:nvPr/>
        </p:nvSpPr>
        <p:spPr>
          <a:xfrm>
            <a:off x="822960" y="822960"/>
            <a:ext cx="1005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What it's built with</a:t>
            </a:r>
            <a:endParaRPr/>
          </a:p>
        </p:txBody>
      </p:sp>
      <p:sp>
        <p:nvSpPr>
          <p:cNvPr id="499" name="Google Shape;499;g3f5c94b8770_1_354"/>
          <p:cNvSpPr/>
          <p:nvPr/>
        </p:nvSpPr>
        <p:spPr>
          <a:xfrm>
            <a:off x="841248" y="1481328"/>
            <a:ext cx="1417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f5c94b8770_1_354"/>
          <p:cNvSpPr txBox="1"/>
          <p:nvPr/>
        </p:nvSpPr>
        <p:spPr>
          <a:xfrm>
            <a:off x="822960" y="1640840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501" name="Google Shape;501;g3f5c94b8770_1_354"/>
          <p:cNvSpPr/>
          <p:nvPr/>
        </p:nvSpPr>
        <p:spPr>
          <a:xfrm>
            <a:off x="3566160" y="1695704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5c94b8770_1_354"/>
          <p:cNvSpPr txBox="1"/>
          <p:nvPr/>
        </p:nvSpPr>
        <p:spPr>
          <a:xfrm>
            <a:off x="3794760" y="1695704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React 19 · React Router 7 · TypeScript · Vite 8</a:t>
            </a:r>
            <a:endParaRPr/>
          </a:p>
        </p:txBody>
      </p:sp>
      <p:sp>
        <p:nvSpPr>
          <p:cNvPr id="503" name="Google Shape;503;g3f5c94b8770_1_354"/>
          <p:cNvSpPr/>
          <p:nvPr/>
        </p:nvSpPr>
        <p:spPr>
          <a:xfrm>
            <a:off x="822960" y="2207768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f5c94b8770_1_354"/>
          <p:cNvSpPr txBox="1"/>
          <p:nvPr/>
        </p:nvSpPr>
        <p:spPr>
          <a:xfrm>
            <a:off x="822960" y="2244344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505" name="Google Shape;505;g3f5c94b8770_1_354"/>
          <p:cNvSpPr/>
          <p:nvPr/>
        </p:nvSpPr>
        <p:spPr>
          <a:xfrm>
            <a:off x="3566160" y="2299208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f5c94b8770_1_354"/>
          <p:cNvSpPr txBox="1"/>
          <p:nvPr/>
        </p:nvSpPr>
        <p:spPr>
          <a:xfrm>
            <a:off x="3794760" y="2299208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FastAPI · Uvicorn · Pydantic v2 · Python 3.11</a:t>
            </a:r>
            <a:endParaRPr/>
          </a:p>
        </p:txBody>
      </p:sp>
      <p:sp>
        <p:nvSpPr>
          <p:cNvPr id="507" name="Google Shape;507;g3f5c94b8770_1_354"/>
          <p:cNvSpPr/>
          <p:nvPr/>
        </p:nvSpPr>
        <p:spPr>
          <a:xfrm>
            <a:off x="822960" y="2811272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f5c94b8770_1_354"/>
          <p:cNvSpPr txBox="1"/>
          <p:nvPr/>
        </p:nvSpPr>
        <p:spPr>
          <a:xfrm>
            <a:off x="822960" y="2847848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OCR</a:t>
            </a:r>
            <a:endParaRPr/>
          </a:p>
        </p:txBody>
      </p:sp>
      <p:sp>
        <p:nvSpPr>
          <p:cNvPr id="509" name="Google Shape;509;g3f5c94b8770_1_354"/>
          <p:cNvSpPr/>
          <p:nvPr/>
        </p:nvSpPr>
        <p:spPr>
          <a:xfrm>
            <a:off x="3566160" y="2902712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f5c94b8770_1_354"/>
          <p:cNvSpPr txBox="1"/>
          <p:nvPr/>
        </p:nvSpPr>
        <p:spPr>
          <a:xfrm>
            <a:off x="3794760" y="2902712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Tesseract · PyMuPDF · OpenCV · o</a:t>
            </a:r>
            <a:r>
              <a:rPr b="1" lang="en-US" sz="1250">
                <a:solidFill>
                  <a:srgbClr val="5F7B4F"/>
                </a:solidFill>
              </a:rPr>
              <a:t>ffline on our server</a:t>
            </a:r>
            <a:endParaRPr/>
          </a:p>
        </p:txBody>
      </p:sp>
      <p:sp>
        <p:nvSpPr>
          <p:cNvPr id="511" name="Google Shape;511;g3f5c94b8770_1_354"/>
          <p:cNvSpPr/>
          <p:nvPr/>
        </p:nvSpPr>
        <p:spPr>
          <a:xfrm>
            <a:off x="822960" y="3414776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f5c94b8770_1_354"/>
          <p:cNvSpPr txBox="1"/>
          <p:nvPr/>
        </p:nvSpPr>
        <p:spPr>
          <a:xfrm>
            <a:off x="822960" y="3451352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Matching / data</a:t>
            </a:r>
            <a:endParaRPr/>
          </a:p>
        </p:txBody>
      </p:sp>
      <p:sp>
        <p:nvSpPr>
          <p:cNvPr id="513" name="Google Shape;513;g3f5c94b8770_1_354"/>
          <p:cNvSpPr/>
          <p:nvPr/>
        </p:nvSpPr>
        <p:spPr>
          <a:xfrm>
            <a:off x="3566160" y="3506215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f5c94b8770_1_354"/>
          <p:cNvSpPr txBox="1"/>
          <p:nvPr/>
        </p:nvSpPr>
        <p:spPr>
          <a:xfrm>
            <a:off x="3794760" y="3506215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BLS 4.0 · OpenFoodFacts · tiered resolver</a:t>
            </a:r>
            <a:endParaRPr/>
          </a:p>
        </p:txBody>
      </p:sp>
      <p:sp>
        <p:nvSpPr>
          <p:cNvPr id="515" name="Google Shape;515;g3f5c94b8770_1_354"/>
          <p:cNvSpPr/>
          <p:nvPr/>
        </p:nvSpPr>
        <p:spPr>
          <a:xfrm>
            <a:off x="822960" y="4018280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f5c94b8770_1_354"/>
          <p:cNvSpPr txBox="1"/>
          <p:nvPr/>
        </p:nvSpPr>
        <p:spPr>
          <a:xfrm>
            <a:off x="822960" y="4054856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/>
          </a:p>
        </p:txBody>
      </p:sp>
      <p:sp>
        <p:nvSpPr>
          <p:cNvPr id="517" name="Google Shape;517;g3f5c94b8770_1_354"/>
          <p:cNvSpPr/>
          <p:nvPr/>
        </p:nvSpPr>
        <p:spPr>
          <a:xfrm>
            <a:off x="3566160" y="4109720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f5c94b8770_1_354"/>
          <p:cNvSpPr txBox="1"/>
          <p:nvPr/>
        </p:nvSpPr>
        <p:spPr>
          <a:xfrm>
            <a:off x="3794760" y="4109720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Supabase · PostgreSQL · </a:t>
            </a:r>
            <a:r>
              <a:rPr b="1" lang="en-US" sz="1250">
                <a:solidFill>
                  <a:srgbClr val="5F7B4F"/>
                </a:solidFill>
              </a:rPr>
              <a:t>per-user isolation</a:t>
            </a:r>
            <a:endParaRPr/>
          </a:p>
        </p:txBody>
      </p:sp>
      <p:sp>
        <p:nvSpPr>
          <p:cNvPr id="519" name="Google Shape;519;g3f5c94b8770_1_354"/>
          <p:cNvSpPr/>
          <p:nvPr/>
        </p:nvSpPr>
        <p:spPr>
          <a:xfrm>
            <a:off x="822960" y="4621784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f5c94b8770_1_354"/>
          <p:cNvSpPr txBox="1"/>
          <p:nvPr/>
        </p:nvSpPr>
        <p:spPr>
          <a:xfrm>
            <a:off x="822960" y="4658360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AI (optional)</a:t>
            </a:r>
            <a:endParaRPr/>
          </a:p>
        </p:txBody>
      </p:sp>
      <p:sp>
        <p:nvSpPr>
          <p:cNvPr id="521" name="Google Shape;521;g3f5c94b8770_1_354"/>
          <p:cNvSpPr/>
          <p:nvPr/>
        </p:nvSpPr>
        <p:spPr>
          <a:xfrm>
            <a:off x="3566160" y="4713224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f5c94b8770_1_354"/>
          <p:cNvSpPr txBox="1"/>
          <p:nvPr/>
        </p:nvSpPr>
        <p:spPr>
          <a:xfrm>
            <a:off x="3794760" y="4713224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Gemini 2.5 Flash · recipes only</a:t>
            </a:r>
            <a:endParaRPr/>
          </a:p>
        </p:txBody>
      </p:sp>
      <p:sp>
        <p:nvSpPr>
          <p:cNvPr id="523" name="Google Shape;523;g3f5c94b8770_1_354"/>
          <p:cNvSpPr/>
          <p:nvPr/>
        </p:nvSpPr>
        <p:spPr>
          <a:xfrm>
            <a:off x="822960" y="5225288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5c94b8770_1_354"/>
          <p:cNvSpPr txBox="1"/>
          <p:nvPr/>
        </p:nvSpPr>
        <p:spPr>
          <a:xfrm>
            <a:off x="822960" y="5261864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D1D21"/>
                </a:solidFill>
              </a:rPr>
              <a:t>Deploy / Infra</a:t>
            </a:r>
            <a:endParaRPr/>
          </a:p>
        </p:txBody>
      </p:sp>
      <p:sp>
        <p:nvSpPr>
          <p:cNvPr id="525" name="Google Shape;525;g3f5c94b8770_1_354"/>
          <p:cNvSpPr/>
          <p:nvPr/>
        </p:nvSpPr>
        <p:spPr>
          <a:xfrm>
            <a:off x="3566160" y="5316728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f5c94b8770_1_354"/>
          <p:cNvSpPr txBox="1"/>
          <p:nvPr/>
        </p:nvSpPr>
        <p:spPr>
          <a:xfrm>
            <a:off x="3794760" y="5316728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5F7B4F"/>
                </a:solidFill>
              </a:rPr>
              <a:t>Docker</a:t>
            </a: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b="1" lang="en-US" sz="1250">
                <a:solidFill>
                  <a:srgbClr val="5F7B4F"/>
                </a:solidFill>
              </a:rPr>
              <a:t>Render</a:t>
            </a: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b="1" lang="en-US" sz="1250">
                <a:solidFill>
                  <a:srgbClr val="5F7B4F"/>
                </a:solidFill>
              </a:rPr>
              <a:t>GitHub Actions CI</a:t>
            </a:r>
            <a:endParaRPr/>
          </a:p>
        </p:txBody>
      </p:sp>
      <p:sp>
        <p:nvSpPr>
          <p:cNvPr id="527" name="Google Shape;527;g3f5c94b8770_1_354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528" name="Google Shape;528;g3f5c94b8770_1_354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529" name="Google Shape;529;g3f5c94b8770_1_354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sp>
        <p:nvSpPr>
          <p:cNvPr id="530" name="Google Shape;530;g3f5c94b8770_1_354"/>
          <p:cNvSpPr/>
          <p:nvPr/>
        </p:nvSpPr>
        <p:spPr>
          <a:xfrm>
            <a:off x="822960" y="5818634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f5c94b8770_1_354"/>
          <p:cNvSpPr txBox="1"/>
          <p:nvPr/>
        </p:nvSpPr>
        <p:spPr>
          <a:xfrm>
            <a:off x="822960" y="5855210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>
                <a:solidFill>
                  <a:srgbClr val="1D1D21"/>
                </a:solidFill>
              </a:rPr>
              <a:t>Tooling / CI</a:t>
            </a:r>
            <a:endParaRPr/>
          </a:p>
        </p:txBody>
      </p:sp>
      <p:sp>
        <p:nvSpPr>
          <p:cNvPr id="532" name="Google Shape;532;g3f5c94b8770_1_354"/>
          <p:cNvSpPr/>
          <p:nvPr/>
        </p:nvSpPr>
        <p:spPr>
          <a:xfrm>
            <a:off x="3566160" y="5910074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f5c94b8770_1_354"/>
          <p:cNvSpPr txBox="1"/>
          <p:nvPr/>
        </p:nvSpPr>
        <p:spPr>
          <a:xfrm>
            <a:off x="3794760" y="5910074"/>
            <a:ext cx="740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50">
                <a:solidFill>
                  <a:srgbClr val="5F7B4F"/>
                </a:solidFill>
              </a:rPr>
              <a:t>pytest · ruff · ESLint · Prettier · pre-commit · GitHub Actions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rgbClr val="5F7B4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5c94b8770_1_1097"/>
          <p:cNvSpPr txBox="1"/>
          <p:nvPr/>
        </p:nvSpPr>
        <p:spPr>
          <a:xfrm>
            <a:off x="822960" y="548640"/>
            <a:ext cx="9144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5F7B4F"/>
                </a:solidFill>
              </a:rPr>
              <a:t>Data flow</a:t>
            </a:r>
            <a:endParaRPr/>
          </a:p>
        </p:txBody>
      </p:sp>
      <p:sp>
        <p:nvSpPr>
          <p:cNvPr id="540" name="Google Shape;540;g3f5c94b8770_1_1097"/>
          <p:cNvSpPr txBox="1"/>
          <p:nvPr/>
        </p:nvSpPr>
        <p:spPr>
          <a:xfrm>
            <a:off x="822955" y="841250"/>
            <a:ext cx="508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D1D21"/>
                </a:solidFill>
              </a:rPr>
              <a:t>Collected Data &amp; Processing</a:t>
            </a:r>
            <a:endParaRPr/>
          </a:p>
        </p:txBody>
      </p:sp>
      <p:sp>
        <p:nvSpPr>
          <p:cNvPr id="541" name="Google Shape;541;g3f5c94b8770_1_1097"/>
          <p:cNvSpPr/>
          <p:nvPr/>
        </p:nvSpPr>
        <p:spPr>
          <a:xfrm>
            <a:off x="841248" y="1536192"/>
            <a:ext cx="1371600" cy="411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f5c94b8770_1_1097"/>
          <p:cNvSpPr/>
          <p:nvPr/>
        </p:nvSpPr>
        <p:spPr>
          <a:xfrm>
            <a:off x="841250" y="1938375"/>
            <a:ext cx="1975500" cy="648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Onboarding Chat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Biometrics &amp; household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once</a:t>
            </a:r>
            <a:endParaRPr sz="1200"/>
          </a:p>
        </p:txBody>
      </p:sp>
      <p:sp>
        <p:nvSpPr>
          <p:cNvPr id="543" name="Google Shape;543;g3f5c94b8770_1_1097"/>
          <p:cNvSpPr/>
          <p:nvPr/>
        </p:nvSpPr>
        <p:spPr>
          <a:xfrm>
            <a:off x="5457275" y="1938375"/>
            <a:ext cx="2563800" cy="648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Receipts + Manual Pantry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every shopping trip</a:t>
            </a:r>
            <a:endParaRPr sz="1200"/>
          </a:p>
        </p:txBody>
      </p:sp>
      <p:sp>
        <p:nvSpPr>
          <p:cNvPr id="544" name="Google Shape;544;g3f5c94b8770_1_1097"/>
          <p:cNvSpPr/>
          <p:nvPr/>
        </p:nvSpPr>
        <p:spPr>
          <a:xfrm>
            <a:off x="1649275" y="3104838"/>
            <a:ext cx="2563800" cy="6483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Ideal Targets</a:t>
            </a:r>
            <a:br>
              <a:rPr lang="en-US" sz="1200"/>
            </a:br>
            <a:r>
              <a:rPr lang="en-US" sz="1200"/>
              <a:t>BMR to TDEE to macros</a:t>
            </a:r>
            <a:endParaRPr sz="1200"/>
          </a:p>
        </p:txBody>
      </p:sp>
      <p:sp>
        <p:nvSpPr>
          <p:cNvPr id="545" name="Google Shape;545;g3f5c94b8770_1_1097"/>
          <p:cNvSpPr/>
          <p:nvPr/>
        </p:nvSpPr>
        <p:spPr>
          <a:xfrm>
            <a:off x="5457275" y="2936150"/>
            <a:ext cx="2563800" cy="6483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Item extraction &amp; matching</a:t>
            </a:r>
            <a:endParaRPr sz="1200"/>
          </a:p>
        </p:txBody>
      </p:sp>
      <p:sp>
        <p:nvSpPr>
          <p:cNvPr id="546" name="Google Shape;546;g3f5c94b8770_1_1097"/>
          <p:cNvSpPr/>
          <p:nvPr/>
        </p:nvSpPr>
        <p:spPr>
          <a:xfrm>
            <a:off x="1649275" y="4271313"/>
            <a:ext cx="2563800" cy="648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Health score</a:t>
            </a:r>
            <a:br>
              <a:rPr lang="en-US" sz="1200"/>
            </a:br>
            <a:r>
              <a:rPr lang="en-US" sz="1200"/>
              <a:t>Purchase vs Targets</a:t>
            </a:r>
            <a:br>
              <a:rPr lang="en-US" sz="1200"/>
            </a:br>
            <a:r>
              <a:rPr lang="en-US" sz="1200"/>
              <a:t>Plant Diversity</a:t>
            </a:r>
            <a:endParaRPr sz="1200"/>
          </a:p>
        </p:txBody>
      </p:sp>
      <p:sp>
        <p:nvSpPr>
          <p:cNvPr id="547" name="Google Shape;547;g3f5c94b8770_1_1097"/>
          <p:cNvSpPr/>
          <p:nvPr/>
        </p:nvSpPr>
        <p:spPr>
          <a:xfrm>
            <a:off x="8484050" y="3486075"/>
            <a:ext cx="2563800" cy="6483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Purchase analysis, Diversity, Gaps</a:t>
            </a:r>
            <a:endParaRPr sz="1200"/>
          </a:p>
        </p:txBody>
      </p:sp>
      <p:sp>
        <p:nvSpPr>
          <p:cNvPr id="548" name="Google Shape;548;g3f5c94b8770_1_1097"/>
          <p:cNvSpPr/>
          <p:nvPr/>
        </p:nvSpPr>
        <p:spPr>
          <a:xfrm>
            <a:off x="6815425" y="4635375"/>
            <a:ext cx="2563800" cy="648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Recipe chat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Dietary style &amp; feedback</a:t>
            </a:r>
            <a:endParaRPr sz="1200"/>
          </a:p>
        </p:txBody>
      </p:sp>
      <p:sp>
        <p:nvSpPr>
          <p:cNvPr id="549" name="Google Shape;549;g3f5c94b8770_1_1097"/>
          <p:cNvSpPr/>
          <p:nvPr/>
        </p:nvSpPr>
        <p:spPr>
          <a:xfrm>
            <a:off x="3796375" y="5918525"/>
            <a:ext cx="2563800" cy="648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Recipe Generation</a:t>
            </a:r>
            <a:endParaRPr sz="1200"/>
          </a:p>
        </p:txBody>
      </p:sp>
      <p:cxnSp>
        <p:nvCxnSpPr>
          <p:cNvPr id="550" name="Google Shape;550;g3f5c94b8770_1_1097"/>
          <p:cNvCxnSpPr>
            <a:stCxn id="542" idx="2"/>
            <a:endCxn id="544" idx="0"/>
          </p:cNvCxnSpPr>
          <p:nvPr/>
        </p:nvCxnSpPr>
        <p:spPr>
          <a:xfrm>
            <a:off x="1829000" y="2586675"/>
            <a:ext cx="1102200" cy="51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1" name="Google Shape;551;g3f5c94b8770_1_1097"/>
          <p:cNvSpPr/>
          <p:nvPr/>
        </p:nvSpPr>
        <p:spPr>
          <a:xfrm>
            <a:off x="2999875" y="1959925"/>
            <a:ext cx="1975500" cy="648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Profile edits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anytime</a:t>
            </a:r>
            <a:endParaRPr sz="1200"/>
          </a:p>
        </p:txBody>
      </p:sp>
      <p:cxnSp>
        <p:nvCxnSpPr>
          <p:cNvPr id="552" name="Google Shape;552;g3f5c94b8770_1_1097"/>
          <p:cNvCxnSpPr>
            <a:stCxn id="551" idx="2"/>
            <a:endCxn id="544" idx="0"/>
          </p:cNvCxnSpPr>
          <p:nvPr/>
        </p:nvCxnSpPr>
        <p:spPr>
          <a:xfrm flipH="1">
            <a:off x="2931325" y="2608225"/>
            <a:ext cx="1056300" cy="49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g3f5c94b8770_1_1097"/>
          <p:cNvCxnSpPr>
            <a:stCxn id="543" idx="2"/>
            <a:endCxn id="545" idx="0"/>
          </p:cNvCxnSpPr>
          <p:nvPr/>
        </p:nvCxnSpPr>
        <p:spPr>
          <a:xfrm>
            <a:off x="6739175" y="2586675"/>
            <a:ext cx="0" cy="3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4" name="Google Shape;554;g3f5c94b8770_1_1097"/>
          <p:cNvSpPr/>
          <p:nvPr/>
        </p:nvSpPr>
        <p:spPr>
          <a:xfrm>
            <a:off x="8778200" y="1959925"/>
            <a:ext cx="1975500" cy="648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Pantry removal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anytime</a:t>
            </a:r>
            <a:endParaRPr sz="1200"/>
          </a:p>
        </p:txBody>
      </p:sp>
      <p:cxnSp>
        <p:nvCxnSpPr>
          <p:cNvPr id="555" name="Google Shape;555;g3f5c94b8770_1_1097"/>
          <p:cNvCxnSpPr>
            <a:stCxn id="545" idx="3"/>
            <a:endCxn id="547" idx="1"/>
          </p:cNvCxnSpPr>
          <p:nvPr/>
        </p:nvCxnSpPr>
        <p:spPr>
          <a:xfrm>
            <a:off x="8021075" y="3260300"/>
            <a:ext cx="462900" cy="5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6" name="Google Shape;556;g3f5c94b8770_1_1097"/>
          <p:cNvCxnSpPr>
            <a:stCxn id="554" idx="2"/>
            <a:endCxn id="547" idx="0"/>
          </p:cNvCxnSpPr>
          <p:nvPr/>
        </p:nvCxnSpPr>
        <p:spPr>
          <a:xfrm>
            <a:off x="9765950" y="2608225"/>
            <a:ext cx="0" cy="87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7" name="Google Shape;557;g3f5c94b8770_1_1097"/>
          <p:cNvCxnSpPr>
            <a:stCxn id="544" idx="2"/>
            <a:endCxn id="547" idx="1"/>
          </p:cNvCxnSpPr>
          <p:nvPr/>
        </p:nvCxnSpPr>
        <p:spPr>
          <a:xfrm>
            <a:off x="2931175" y="3753138"/>
            <a:ext cx="5553000" cy="5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8" name="Google Shape;558;g3f5c94b8770_1_1097"/>
          <p:cNvCxnSpPr>
            <a:stCxn id="544" idx="2"/>
            <a:endCxn id="546" idx="0"/>
          </p:cNvCxnSpPr>
          <p:nvPr/>
        </p:nvCxnSpPr>
        <p:spPr>
          <a:xfrm>
            <a:off x="2931175" y="3753138"/>
            <a:ext cx="0" cy="51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g3f5c94b8770_1_1097"/>
          <p:cNvCxnSpPr>
            <a:stCxn id="544" idx="3"/>
            <a:endCxn id="549" idx="0"/>
          </p:cNvCxnSpPr>
          <p:nvPr/>
        </p:nvCxnSpPr>
        <p:spPr>
          <a:xfrm>
            <a:off x="4213075" y="3428988"/>
            <a:ext cx="865200" cy="248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0" name="Google Shape;560;g3f5c94b8770_1_1097"/>
          <p:cNvCxnSpPr>
            <a:stCxn id="548" idx="2"/>
            <a:endCxn id="549" idx="0"/>
          </p:cNvCxnSpPr>
          <p:nvPr/>
        </p:nvCxnSpPr>
        <p:spPr>
          <a:xfrm flipH="1">
            <a:off x="5078425" y="5283675"/>
            <a:ext cx="3018900" cy="63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1" name="Google Shape;561;g3f5c94b8770_1_1097"/>
          <p:cNvCxnSpPr>
            <a:stCxn id="547" idx="2"/>
            <a:endCxn id="546" idx="3"/>
          </p:cNvCxnSpPr>
          <p:nvPr/>
        </p:nvCxnSpPr>
        <p:spPr>
          <a:xfrm flipH="1">
            <a:off x="4212950" y="4134375"/>
            <a:ext cx="5553000" cy="4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2" name="Google Shape;562;g3f5c94b8770_1_1097"/>
          <p:cNvCxnSpPr>
            <a:stCxn id="547" idx="2"/>
            <a:endCxn id="548" idx="0"/>
          </p:cNvCxnSpPr>
          <p:nvPr/>
        </p:nvCxnSpPr>
        <p:spPr>
          <a:xfrm flipH="1">
            <a:off x="8097350" y="4134375"/>
            <a:ext cx="1668600" cy="50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3" name="Google Shape;563;g3f5c94b8770_1_1097"/>
          <p:cNvSpPr/>
          <p:nvPr/>
        </p:nvSpPr>
        <p:spPr>
          <a:xfrm>
            <a:off x="10041725" y="4635375"/>
            <a:ext cx="1975500" cy="648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Recipe input (time, servings, cuisine)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on demand</a:t>
            </a:r>
            <a:endParaRPr sz="1200"/>
          </a:p>
        </p:txBody>
      </p:sp>
      <p:cxnSp>
        <p:nvCxnSpPr>
          <p:cNvPr id="564" name="Google Shape;564;g3f5c94b8770_1_1097"/>
          <p:cNvCxnSpPr>
            <a:stCxn id="563" idx="2"/>
            <a:endCxn id="549" idx="0"/>
          </p:cNvCxnSpPr>
          <p:nvPr/>
        </p:nvCxnSpPr>
        <p:spPr>
          <a:xfrm flipH="1">
            <a:off x="5078375" y="5283675"/>
            <a:ext cx="5951100" cy="63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5" name="Google Shape;565;g3f5c94b8770_1_1097"/>
          <p:cNvSpPr/>
          <p:nvPr/>
        </p:nvSpPr>
        <p:spPr>
          <a:xfrm>
            <a:off x="8864750" y="862850"/>
            <a:ext cx="1102200" cy="5181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INTERNAL PROCESSES</a:t>
            </a:r>
            <a:endParaRPr b="1" sz="1100"/>
          </a:p>
        </p:txBody>
      </p:sp>
      <p:sp>
        <p:nvSpPr>
          <p:cNvPr id="566" name="Google Shape;566;g3f5c94b8770_1_1097"/>
          <p:cNvSpPr/>
          <p:nvPr/>
        </p:nvSpPr>
        <p:spPr>
          <a:xfrm>
            <a:off x="7550550" y="862850"/>
            <a:ext cx="1227600" cy="5181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USER INTERACTION</a:t>
            </a:r>
            <a:endParaRPr b="1" sz="1100"/>
          </a:p>
        </p:txBody>
      </p:sp>
      <p:sp>
        <p:nvSpPr>
          <p:cNvPr id="567" name="Google Shape;567;g3f5c94b8770_1_1097"/>
          <p:cNvSpPr/>
          <p:nvPr/>
        </p:nvSpPr>
        <p:spPr>
          <a:xfrm>
            <a:off x="10053550" y="873650"/>
            <a:ext cx="1056300" cy="4965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OUTPUTS</a:t>
            </a:r>
            <a:endParaRPr b="1" sz="1100"/>
          </a:p>
        </p:txBody>
      </p:sp>
      <p:sp>
        <p:nvSpPr>
          <p:cNvPr id="568" name="Google Shape;568;g3f5c94b8770_1_1097"/>
          <p:cNvSpPr/>
          <p:nvPr/>
        </p:nvSpPr>
        <p:spPr>
          <a:xfrm>
            <a:off x="5043525" y="2761875"/>
            <a:ext cx="865188" cy="1032264"/>
          </a:xfrm>
          <a:prstGeom prst="lightningBol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5c94b8770_1_1097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570" name="Google Shape;570;g3f5c94b8770_1_1097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571" name="Google Shape;571;g3f5c94b8770_1_1097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5c94b8770_1_392"/>
          <p:cNvSpPr txBox="1"/>
          <p:nvPr/>
        </p:nvSpPr>
        <p:spPr>
          <a:xfrm>
            <a:off x="822960" y="45720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APPENDIX · BUSINESS MODEL</a:t>
            </a:r>
            <a:endParaRPr/>
          </a:p>
        </p:txBody>
      </p:sp>
      <p:sp>
        <p:nvSpPr>
          <p:cNvPr id="578" name="Google Shape;578;g3f5c94b8770_1_392"/>
          <p:cNvSpPr txBox="1"/>
          <p:nvPr/>
        </p:nvSpPr>
        <p:spPr>
          <a:xfrm>
            <a:off x="822960" y="777240"/>
            <a:ext cx="10058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Business Model Canvas</a:t>
            </a:r>
            <a:endParaRPr/>
          </a:p>
        </p:txBody>
      </p:sp>
      <p:sp>
        <p:nvSpPr>
          <p:cNvPr id="579" name="Google Shape;579;g3f5c94b8770_1_392"/>
          <p:cNvSpPr/>
          <p:nvPr/>
        </p:nvSpPr>
        <p:spPr>
          <a:xfrm>
            <a:off x="841248" y="1371600"/>
            <a:ext cx="1417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f5c94b8770_1_392"/>
          <p:cNvSpPr/>
          <p:nvPr/>
        </p:nvSpPr>
        <p:spPr>
          <a:xfrm>
            <a:off x="502920" y="1600200"/>
            <a:ext cx="2176200" cy="3200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f5c94b8770_1_392"/>
          <p:cNvSpPr txBox="1"/>
          <p:nvPr/>
        </p:nvSpPr>
        <p:spPr>
          <a:xfrm>
            <a:off x="612648" y="167335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KEY PARTNERS</a:t>
            </a:r>
            <a:endParaRPr/>
          </a:p>
        </p:txBody>
      </p:sp>
      <p:sp>
        <p:nvSpPr>
          <p:cNvPr id="582" name="Google Shape;582;g3f5c94b8770_1_392"/>
          <p:cNvSpPr txBox="1"/>
          <p:nvPr/>
        </p:nvSpPr>
        <p:spPr>
          <a:xfrm>
            <a:off x="612648" y="192938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BLS 4.0 (food table)</a:t>
            </a:r>
            <a:endParaRPr/>
          </a:p>
        </p:txBody>
      </p:sp>
      <p:sp>
        <p:nvSpPr>
          <p:cNvPr id="583" name="Google Shape;583;g3f5c94b8770_1_392"/>
          <p:cNvSpPr txBox="1"/>
          <p:nvPr/>
        </p:nvSpPr>
        <p:spPr>
          <a:xfrm>
            <a:off x="612648" y="214426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Open Food Facts</a:t>
            </a:r>
            <a:endParaRPr/>
          </a:p>
        </p:txBody>
      </p:sp>
      <p:sp>
        <p:nvSpPr>
          <p:cNvPr id="584" name="Google Shape;584;g3f5c94b8770_1_392"/>
          <p:cNvSpPr txBox="1"/>
          <p:nvPr/>
        </p:nvSpPr>
        <p:spPr>
          <a:xfrm>
            <a:off x="612648" y="235915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Hosting (Supabase)</a:t>
            </a:r>
            <a:endParaRPr/>
          </a:p>
        </p:txBody>
      </p:sp>
      <p:sp>
        <p:nvSpPr>
          <p:cNvPr id="585" name="Google Shape;585;g3f5c94b8770_1_392"/>
          <p:cNvSpPr txBox="1"/>
          <p:nvPr/>
        </p:nvSpPr>
        <p:spPr>
          <a:xfrm>
            <a:off x="612648" y="257403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LLM (Google Gemini)</a:t>
            </a:r>
            <a:endParaRPr/>
          </a:p>
        </p:txBody>
      </p:sp>
      <p:sp>
        <p:nvSpPr>
          <p:cNvPr id="586" name="Google Shape;586;g3f5c94b8770_1_392"/>
          <p:cNvSpPr txBox="1"/>
          <p:nvPr/>
        </p:nvSpPr>
        <p:spPr>
          <a:xfrm>
            <a:off x="612648" y="2788920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Health insurers (future)</a:t>
            </a:r>
            <a:endParaRPr/>
          </a:p>
        </p:txBody>
      </p:sp>
      <p:sp>
        <p:nvSpPr>
          <p:cNvPr id="587" name="Google Shape;587;g3f5c94b8770_1_392"/>
          <p:cNvSpPr/>
          <p:nvPr/>
        </p:nvSpPr>
        <p:spPr>
          <a:xfrm>
            <a:off x="2770632" y="1600200"/>
            <a:ext cx="2176200" cy="1554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f5c94b8770_1_392"/>
          <p:cNvSpPr txBox="1"/>
          <p:nvPr/>
        </p:nvSpPr>
        <p:spPr>
          <a:xfrm>
            <a:off x="2880360" y="167335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KEY ACTIVITIES</a:t>
            </a:r>
            <a:endParaRPr/>
          </a:p>
        </p:txBody>
      </p:sp>
      <p:sp>
        <p:nvSpPr>
          <p:cNvPr id="589" name="Google Shape;589;g3f5c94b8770_1_392"/>
          <p:cNvSpPr txBox="1"/>
          <p:nvPr/>
        </p:nvSpPr>
        <p:spPr>
          <a:xfrm>
            <a:off x="2880360" y="192938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Nutrient-gap analysis</a:t>
            </a:r>
            <a:endParaRPr/>
          </a:p>
        </p:txBody>
      </p:sp>
      <p:sp>
        <p:nvSpPr>
          <p:cNvPr id="590" name="Google Shape;590;g3f5c94b8770_1_392"/>
          <p:cNvSpPr txBox="1"/>
          <p:nvPr/>
        </p:nvSpPr>
        <p:spPr>
          <a:xfrm>
            <a:off x="2880360" y="214426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Coaching &amp; recipes</a:t>
            </a:r>
            <a:endParaRPr/>
          </a:p>
        </p:txBody>
      </p:sp>
      <p:sp>
        <p:nvSpPr>
          <p:cNvPr id="591" name="Google Shape;591;g3f5c94b8770_1_392"/>
          <p:cNvSpPr txBox="1"/>
          <p:nvPr/>
        </p:nvSpPr>
        <p:spPr>
          <a:xfrm>
            <a:off x="2880360" y="235915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Personalization loop</a:t>
            </a:r>
            <a:endParaRPr/>
          </a:p>
        </p:txBody>
      </p:sp>
      <p:sp>
        <p:nvSpPr>
          <p:cNvPr id="592" name="Google Shape;592;g3f5c94b8770_1_392"/>
          <p:cNvSpPr txBox="1"/>
          <p:nvPr/>
        </p:nvSpPr>
        <p:spPr>
          <a:xfrm>
            <a:off x="2880360" y="257403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GDPR data handling</a:t>
            </a:r>
            <a:endParaRPr/>
          </a:p>
        </p:txBody>
      </p:sp>
      <p:sp>
        <p:nvSpPr>
          <p:cNvPr id="593" name="Google Shape;593;g3f5c94b8770_1_392"/>
          <p:cNvSpPr/>
          <p:nvPr/>
        </p:nvSpPr>
        <p:spPr>
          <a:xfrm>
            <a:off x="2770632" y="3246120"/>
            <a:ext cx="2176200" cy="1554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f5c94b8770_1_392"/>
          <p:cNvSpPr txBox="1"/>
          <p:nvPr/>
        </p:nvSpPr>
        <p:spPr>
          <a:xfrm>
            <a:off x="2880360" y="331927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KEY RESOURCES</a:t>
            </a:r>
            <a:endParaRPr/>
          </a:p>
        </p:txBody>
      </p:sp>
      <p:sp>
        <p:nvSpPr>
          <p:cNvPr id="595" name="Google Shape;595;g3f5c94b8770_1_392"/>
          <p:cNvSpPr txBox="1"/>
          <p:nvPr/>
        </p:nvSpPr>
        <p:spPr>
          <a:xfrm>
            <a:off x="2880360" y="357530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BLS 4.0 + OFF data</a:t>
            </a:r>
            <a:endParaRPr/>
          </a:p>
        </p:txBody>
      </p:sp>
      <p:sp>
        <p:nvSpPr>
          <p:cNvPr id="596" name="Google Shape;596;g3f5c94b8770_1_392"/>
          <p:cNvSpPr txBox="1"/>
          <p:nvPr/>
        </p:nvSpPr>
        <p:spPr>
          <a:xfrm>
            <a:off x="2880360" y="379018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Tiered matching resolver</a:t>
            </a:r>
            <a:endParaRPr/>
          </a:p>
        </p:txBody>
      </p:sp>
      <p:sp>
        <p:nvSpPr>
          <p:cNvPr id="597" name="Google Shape;597;g3f5c94b8770_1_392"/>
          <p:cNvSpPr txBox="1"/>
          <p:nvPr/>
        </p:nvSpPr>
        <p:spPr>
          <a:xfrm>
            <a:off x="2880360" y="400507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Nutrition/gap engine</a:t>
            </a:r>
            <a:endParaRPr/>
          </a:p>
        </p:txBody>
      </p:sp>
      <p:sp>
        <p:nvSpPr>
          <p:cNvPr id="598" name="Google Shape;598;g3f5c94b8770_1_392"/>
          <p:cNvSpPr txBox="1"/>
          <p:nvPr/>
        </p:nvSpPr>
        <p:spPr>
          <a:xfrm>
            <a:off x="2880360" y="421995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2-person team</a:t>
            </a:r>
            <a:endParaRPr/>
          </a:p>
        </p:txBody>
      </p:sp>
      <p:sp>
        <p:nvSpPr>
          <p:cNvPr id="599" name="Google Shape;599;g3f5c94b8770_1_392"/>
          <p:cNvSpPr/>
          <p:nvPr/>
        </p:nvSpPr>
        <p:spPr>
          <a:xfrm>
            <a:off x="5038344" y="1600200"/>
            <a:ext cx="2176200" cy="3200400"/>
          </a:xfrm>
          <a:prstGeom prst="roundRect">
            <a:avLst>
              <a:gd fmla="val 5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f5c94b8770_1_392"/>
          <p:cNvSpPr txBox="1"/>
          <p:nvPr/>
        </p:nvSpPr>
        <p:spPr>
          <a:xfrm>
            <a:off x="5148072" y="167335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VALUE PROPOSITIONS</a:t>
            </a:r>
            <a:endParaRPr/>
          </a:p>
        </p:txBody>
      </p:sp>
      <p:sp>
        <p:nvSpPr>
          <p:cNvPr id="601" name="Google Shape;601;g3f5c94b8770_1_392"/>
          <p:cNvSpPr txBox="1"/>
          <p:nvPr/>
        </p:nvSpPr>
        <p:spPr>
          <a:xfrm>
            <a:off x="5148072" y="192938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Personalized, not one-size</a:t>
            </a:r>
            <a:endParaRPr/>
          </a:p>
        </p:txBody>
      </p:sp>
      <p:sp>
        <p:nvSpPr>
          <p:cNvPr id="602" name="Google Shape;602;g3f5c94b8770_1_392"/>
          <p:cNvSpPr txBox="1"/>
          <p:nvPr/>
        </p:nvSpPr>
        <p:spPr>
          <a:xfrm>
            <a:off x="5148072" y="214426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Instant nutrient-gap analysis</a:t>
            </a:r>
            <a:endParaRPr/>
          </a:p>
        </p:txBody>
      </p:sp>
      <p:sp>
        <p:nvSpPr>
          <p:cNvPr id="603" name="Google Shape;603;g3f5c94b8770_1_392"/>
          <p:cNvSpPr txBox="1"/>
          <p:nvPr/>
        </p:nvSpPr>
        <p:spPr>
          <a:xfrm>
            <a:off x="5148072" y="235915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Auto shopping list to goals</a:t>
            </a:r>
            <a:endParaRPr/>
          </a:p>
        </p:txBody>
      </p:sp>
      <p:sp>
        <p:nvSpPr>
          <p:cNvPr id="604" name="Google Shape;604;g3f5c94b8770_1_392"/>
          <p:cNvSpPr txBox="1"/>
          <p:nvPr/>
        </p:nvSpPr>
        <p:spPr>
          <a:xfrm>
            <a:off x="5148072" y="257403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Respects allergies &amp; diets</a:t>
            </a:r>
            <a:endParaRPr/>
          </a:p>
        </p:txBody>
      </p:sp>
      <p:sp>
        <p:nvSpPr>
          <p:cNvPr id="605" name="Google Shape;605;g3f5c94b8770_1_392"/>
          <p:cNvSpPr txBox="1"/>
          <p:nvPr/>
        </p:nvSpPr>
        <p:spPr>
          <a:xfrm>
            <a:off x="5148072" y="2788920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Privacy-first, fully GDPR</a:t>
            </a:r>
            <a:endParaRPr/>
          </a:p>
        </p:txBody>
      </p:sp>
      <p:sp>
        <p:nvSpPr>
          <p:cNvPr id="606" name="Google Shape;606;g3f5c94b8770_1_392"/>
          <p:cNvSpPr/>
          <p:nvPr/>
        </p:nvSpPr>
        <p:spPr>
          <a:xfrm>
            <a:off x="7306055" y="1600200"/>
            <a:ext cx="2176200" cy="1554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f5c94b8770_1_392"/>
          <p:cNvSpPr txBox="1"/>
          <p:nvPr/>
        </p:nvSpPr>
        <p:spPr>
          <a:xfrm>
            <a:off x="7415783" y="167335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CUSTOMER RELATIONSHIPS</a:t>
            </a:r>
            <a:endParaRPr/>
          </a:p>
        </p:txBody>
      </p:sp>
      <p:sp>
        <p:nvSpPr>
          <p:cNvPr id="608" name="Google Shape;608;g3f5c94b8770_1_392"/>
          <p:cNvSpPr txBox="1"/>
          <p:nvPr/>
        </p:nvSpPr>
        <p:spPr>
          <a:xfrm>
            <a:off x="7415783" y="192938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AI coach (chat)</a:t>
            </a:r>
            <a:endParaRPr/>
          </a:p>
        </p:txBody>
      </p:sp>
      <p:sp>
        <p:nvSpPr>
          <p:cNvPr id="609" name="Google Shape;609;g3f5c94b8770_1_392"/>
          <p:cNvSpPr txBox="1"/>
          <p:nvPr/>
        </p:nvSpPr>
        <p:spPr>
          <a:xfrm>
            <a:off x="7415783" y="214426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lang="en-US" sz="850">
                <a:solidFill>
                  <a:srgbClr val="1D1D21"/>
                </a:solidFill>
              </a:rPr>
              <a:t>C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heck-ins &amp; nudges</a:t>
            </a:r>
            <a:endParaRPr/>
          </a:p>
        </p:txBody>
      </p:sp>
      <p:sp>
        <p:nvSpPr>
          <p:cNvPr id="610" name="Google Shape;610;g3f5c94b8770_1_392"/>
          <p:cNvSpPr txBox="1"/>
          <p:nvPr/>
        </p:nvSpPr>
        <p:spPr>
          <a:xfrm>
            <a:off x="7415783" y="235915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Gamification: streaks/goals</a:t>
            </a:r>
            <a:endParaRPr/>
          </a:p>
        </p:txBody>
      </p:sp>
      <p:sp>
        <p:nvSpPr>
          <p:cNvPr id="611" name="Google Shape;611;g3f5c94b8770_1_392"/>
          <p:cNvSpPr txBox="1"/>
          <p:nvPr/>
        </p:nvSpPr>
        <p:spPr>
          <a:xfrm>
            <a:off x="7415783" y="257403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Self-service onboarding</a:t>
            </a:r>
            <a:endParaRPr/>
          </a:p>
        </p:txBody>
      </p:sp>
      <p:sp>
        <p:nvSpPr>
          <p:cNvPr id="612" name="Google Shape;612;g3f5c94b8770_1_392"/>
          <p:cNvSpPr/>
          <p:nvPr/>
        </p:nvSpPr>
        <p:spPr>
          <a:xfrm>
            <a:off x="7306055" y="3246120"/>
            <a:ext cx="2176200" cy="1554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g3f5c94b8770_1_392"/>
          <p:cNvSpPr txBox="1"/>
          <p:nvPr/>
        </p:nvSpPr>
        <p:spPr>
          <a:xfrm>
            <a:off x="7415783" y="331927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/>
          </a:p>
        </p:txBody>
      </p:sp>
      <p:sp>
        <p:nvSpPr>
          <p:cNvPr id="614" name="Google Shape;614;g3f5c94b8770_1_392"/>
          <p:cNvSpPr txBox="1"/>
          <p:nvPr/>
        </p:nvSpPr>
        <p:spPr>
          <a:xfrm>
            <a:off x="7415783" y="357530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Web app (React)</a:t>
            </a:r>
            <a:endParaRPr/>
          </a:p>
        </p:txBody>
      </p:sp>
      <p:sp>
        <p:nvSpPr>
          <p:cNvPr id="615" name="Google Shape;615;g3f5c94b8770_1_392"/>
          <p:cNvSpPr txBox="1"/>
          <p:nvPr/>
        </p:nvSpPr>
        <p:spPr>
          <a:xfrm>
            <a:off x="7415783" y="379018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Health/fitness social</a:t>
            </a:r>
            <a:endParaRPr/>
          </a:p>
        </p:txBody>
      </p:sp>
      <p:sp>
        <p:nvSpPr>
          <p:cNvPr id="616" name="Google Shape;616;g3f5c94b8770_1_392"/>
          <p:cNvSpPr txBox="1"/>
          <p:nvPr/>
        </p:nvSpPr>
        <p:spPr>
          <a:xfrm>
            <a:off x="7415783" y="400507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Word-of-mouth</a:t>
            </a:r>
            <a:endParaRPr/>
          </a:p>
        </p:txBody>
      </p:sp>
      <p:sp>
        <p:nvSpPr>
          <p:cNvPr id="617" name="Google Shape;617;g3f5c94b8770_1_392"/>
          <p:cNvSpPr txBox="1"/>
          <p:nvPr/>
        </p:nvSpPr>
        <p:spPr>
          <a:xfrm>
            <a:off x="7415783" y="421995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Later: app store</a:t>
            </a:r>
            <a:endParaRPr/>
          </a:p>
        </p:txBody>
      </p:sp>
      <p:sp>
        <p:nvSpPr>
          <p:cNvPr id="618" name="Google Shape;618;g3f5c94b8770_1_392"/>
          <p:cNvSpPr/>
          <p:nvPr/>
        </p:nvSpPr>
        <p:spPr>
          <a:xfrm>
            <a:off x="9573768" y="1600200"/>
            <a:ext cx="2176200" cy="3200400"/>
          </a:xfrm>
          <a:prstGeom prst="roundRect">
            <a:avLst>
              <a:gd fmla="val 5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f5c94b8770_1_392"/>
          <p:cNvSpPr txBox="1"/>
          <p:nvPr/>
        </p:nvSpPr>
        <p:spPr>
          <a:xfrm>
            <a:off x="9683496" y="167335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CUSTOMER SEGMENTS</a:t>
            </a:r>
            <a:endParaRPr/>
          </a:p>
        </p:txBody>
      </p:sp>
      <p:sp>
        <p:nvSpPr>
          <p:cNvPr id="620" name="Google Shape;620;g3f5c94b8770_1_392"/>
          <p:cNvSpPr txBox="1"/>
          <p:nvPr/>
        </p:nvSpPr>
        <p:spPr>
          <a:xfrm>
            <a:off x="9683496" y="192938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Health-minde</a:t>
            </a:r>
            <a:r>
              <a:rPr lang="en-US" sz="850">
                <a:solidFill>
                  <a:srgbClr val="1D1D21"/>
                </a:solidFill>
              </a:rPr>
              <a:t>d customer</a:t>
            </a:r>
            <a:endParaRPr/>
          </a:p>
        </p:txBody>
      </p:sp>
      <p:sp>
        <p:nvSpPr>
          <p:cNvPr id="621" name="Google Shape;621;g3f5c94b8770_1_392"/>
          <p:cNvSpPr txBox="1"/>
          <p:nvPr/>
        </p:nvSpPr>
        <p:spPr>
          <a:xfrm>
            <a:off x="9683496" y="214426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Nutrition goals</a:t>
            </a:r>
            <a:endParaRPr/>
          </a:p>
        </p:txBody>
      </p:sp>
      <p:sp>
        <p:nvSpPr>
          <p:cNvPr id="622" name="Google Shape;622;g3f5c94b8770_1_392"/>
          <p:cNvSpPr txBox="1"/>
          <p:nvPr/>
        </p:nvSpPr>
        <p:spPr>
          <a:xfrm>
            <a:off x="9683496" y="235915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Vegan/veggie/allergy</a:t>
            </a:r>
            <a:endParaRPr/>
          </a:p>
        </p:txBody>
      </p:sp>
      <p:sp>
        <p:nvSpPr>
          <p:cNvPr id="623" name="Google Shape;623;g3f5c94b8770_1_392"/>
          <p:cNvSpPr txBox="1"/>
          <p:nvPr/>
        </p:nvSpPr>
        <p:spPr>
          <a:xfrm>
            <a:off x="9683496" y="257403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Busy professionals</a:t>
            </a:r>
            <a:endParaRPr/>
          </a:p>
        </p:txBody>
      </p:sp>
      <p:sp>
        <p:nvSpPr>
          <p:cNvPr id="624" name="Google Shape;624;g3f5c94b8770_1_392"/>
          <p:cNvSpPr/>
          <p:nvPr/>
        </p:nvSpPr>
        <p:spPr>
          <a:xfrm>
            <a:off x="502920" y="4892040"/>
            <a:ext cx="6711600" cy="1051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f5c94b8770_1_392"/>
          <p:cNvSpPr txBox="1"/>
          <p:nvPr/>
        </p:nvSpPr>
        <p:spPr>
          <a:xfrm>
            <a:off x="612648" y="4965192"/>
            <a:ext cx="6528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COST STRUCTURE</a:t>
            </a:r>
            <a:endParaRPr/>
          </a:p>
        </p:txBody>
      </p:sp>
      <p:sp>
        <p:nvSpPr>
          <p:cNvPr id="626" name="Google Shape;626;g3f5c94b8770_1_392"/>
          <p:cNvSpPr txBox="1"/>
          <p:nvPr/>
        </p:nvSpPr>
        <p:spPr>
          <a:xfrm>
            <a:off x="612648" y="5221224"/>
            <a:ext cx="6510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Gemini API (token) · Hosting (Supabase) · Postgres · Dev (capstone 0€) · GDPR setup · Marketing (organic)</a:t>
            </a:r>
            <a:endParaRPr/>
          </a:p>
        </p:txBody>
      </p:sp>
      <p:sp>
        <p:nvSpPr>
          <p:cNvPr id="627" name="Google Shape;627;g3f5c94b8770_1_392"/>
          <p:cNvSpPr/>
          <p:nvPr/>
        </p:nvSpPr>
        <p:spPr>
          <a:xfrm>
            <a:off x="7306055" y="4892040"/>
            <a:ext cx="4443900" cy="1051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f5c94b8770_1_392"/>
          <p:cNvSpPr txBox="1"/>
          <p:nvPr/>
        </p:nvSpPr>
        <p:spPr>
          <a:xfrm>
            <a:off x="7415783" y="4965192"/>
            <a:ext cx="426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REVENUE STREAMS</a:t>
            </a:r>
            <a:endParaRPr/>
          </a:p>
        </p:txBody>
      </p:sp>
      <p:sp>
        <p:nvSpPr>
          <p:cNvPr id="629" name="Google Shape;629;g3f5c94b8770_1_392"/>
          <p:cNvSpPr txBox="1"/>
          <p:nvPr/>
        </p:nvSpPr>
        <p:spPr>
          <a:xfrm>
            <a:off x="7415783" y="5221224"/>
            <a:ext cx="4242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Freemium → Premium · B2B insurer licensing</a:t>
            </a:r>
            <a:endParaRPr/>
          </a:p>
        </p:txBody>
      </p:sp>
      <p:sp>
        <p:nvSpPr>
          <p:cNvPr id="630" name="Google Shape;630;g3f5c94b8770_1_392"/>
          <p:cNvSpPr txBox="1"/>
          <p:nvPr/>
        </p:nvSpPr>
        <p:spPr>
          <a:xfrm>
            <a:off x="7415783" y="5436108"/>
            <a:ext cx="4242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Affiliate grocery commissions · Corporate wellness</a:t>
            </a:r>
            <a:endParaRPr/>
          </a:p>
        </p:txBody>
      </p:sp>
      <p:sp>
        <p:nvSpPr>
          <p:cNvPr id="631" name="Google Shape;631;g3f5c94b8770_1_392"/>
          <p:cNvSpPr txBox="1"/>
          <p:nvPr/>
        </p:nvSpPr>
        <p:spPr>
          <a:xfrm>
            <a:off x="502920" y="5998464"/>
            <a:ext cx="10789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Reflects the built product stack — BLS 4.0 · Open Food Facts · Supabase · Gemini · React.</a:t>
            </a:r>
            <a:endParaRPr/>
          </a:p>
        </p:txBody>
      </p:sp>
      <p:sp>
        <p:nvSpPr>
          <p:cNvPr id="632" name="Google Shape;632;g3f5c94b8770_1_392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633" name="Google Shape;633;g3f5c94b8770_1_392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634" name="Google Shape;634;g3f5c94b8770_1_392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/>
      <p:sp>
        <p:nvSpPr>
          <p:cNvPr id="289" name="Google Shape;289;g3f5c94b8770_1_156"/>
          <p:cNvSpPr txBox="1"/>
          <p:nvPr/>
        </p:nvSpPr>
        <p:spPr>
          <a:xfrm>
            <a:off x="822960" y="50292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OUTLOOK</a:t>
            </a:r>
            <a:endParaRPr/>
          </a:p>
        </p:txBody>
      </p:sp>
      <p:sp>
        <p:nvSpPr>
          <p:cNvPr id="290" name="Google Shape;290;g3f5c94b8770_1_156"/>
          <p:cNvSpPr txBox="1"/>
          <p:nvPr/>
        </p:nvSpPr>
        <p:spPr>
          <a:xfrm>
            <a:off x="822960" y="822960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Where we're headed</a:t>
            </a:r>
            <a:endParaRPr/>
          </a:p>
        </p:txBody>
      </p:sp>
      <p:sp>
        <p:nvSpPr>
          <p:cNvPr id="291" name="Google Shape;291;g3f5c94b8770_1_156"/>
          <p:cNvSpPr/>
          <p:nvPr/>
        </p:nvSpPr>
        <p:spPr>
          <a:xfrm>
            <a:off x="841248" y="1481328"/>
            <a:ext cx="1417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f5c94b8770_1_156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E6F74"/>
                </a:solidFill>
              </a:rPr>
              <a:t>08</a:t>
            </a:r>
            <a:r>
              <a:rPr lang="en-US" sz="900">
                <a:solidFill>
                  <a:srgbClr val="6E6F74"/>
                </a:solidFill>
              </a:rPr>
              <a:t> </a:t>
            </a: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900">
                <a:solidFill>
                  <a:srgbClr val="6E6F74"/>
                </a:solidFill>
              </a:rPr>
              <a:t>09</a:t>
            </a:r>
            <a:endParaRPr/>
          </a:p>
        </p:txBody>
      </p:sp>
      <p:sp>
        <p:nvSpPr>
          <p:cNvPr id="328" name="Google Shape;328;g3f5c94b8770_1_156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329" name="Google Shape;329;g3f5c94b8770_1_156" title="logo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sp>
        <p:nvSpPr>
          <p:cNvPr id="330" name="Rectangle 329"/>
          <p:cNvSpPr/>
          <p:nvPr/>
        </p:nvSpPr>
        <p:spPr>
          <a:xfrm>
            <a:off x="960120" y="2788920"/>
            <a:ext cx="219456" cy="21945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960120" y="2862072"/>
            <a:ext cx="4709160" cy="45720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960120" y="1965960"/>
            <a:ext cx="4709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7C9A6A"/>
                </a:solidFill>
                <a:latin typeface="Arial"/>
              </a:rPr>
              <a:t>NEXT · PRODUCT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960120" y="225856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21"/>
                </a:solidFill>
                <a:latin typeface="Arial"/>
              </a:rPr>
              <a:t>Broaden &amp; sharpen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960120" y="3227832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216152" y="32461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Nutritional AI coach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960120" y="36850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1216152" y="370331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Native iOS &amp; Android apps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960120" y="41422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1216152" y="416051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Shopping list from store offers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960120" y="45994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1216152" y="461771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Smarter matching: verified-first + more categories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6355080" y="2788920"/>
            <a:ext cx="219456" cy="219456"/>
          </a:xfrm>
          <a:prstGeom prst="rect">
            <a:avLst/>
          </a:prstGeom>
          <a:solidFill>
            <a:srgbClr val="6E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6355080" y="2862072"/>
            <a:ext cx="4709160" cy="45720"/>
          </a:xfrm>
          <a:prstGeom prst="rect">
            <a:avLst/>
          </a:prstGeom>
          <a:solidFill>
            <a:srgbClr val="6E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6355080" y="1965960"/>
            <a:ext cx="47091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6E6F74"/>
                </a:solidFill>
                <a:latin typeface="Arial"/>
              </a:rPr>
              <a:t>NEXT · GROWTH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6355080" y="225856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21"/>
                </a:solidFill>
                <a:latin typeface="Arial"/>
              </a:rPr>
              <a:t>Partnerships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6355080" y="3227832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6E6F74"/>
                </a:solidFill>
                <a:latin typeface="Arial"/>
              </a:rPr>
              <a:t>›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6611112" y="32461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Statutory-insurer bonus programs (prevention, GDPR-fit)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6355080" y="36850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6E6F74"/>
                </a:solidFill>
                <a:latin typeface="Arial"/>
              </a:rPr>
              <a:t>›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6611112" y="370331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Corporate health / BGMs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6355080" y="41422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6E6F74"/>
                </a:solidFill>
                <a:latin typeface="Arial"/>
              </a:rPr>
              <a:t>›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6611112" y="416051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Retail: user offers (affiliate, privacy-safe)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6355080" y="4599431"/>
            <a:ext cx="228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6E6F74"/>
                </a:solidFill>
                <a:latin typeface="Arial"/>
              </a:rPr>
              <a:t>›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6611112" y="461771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D1D21"/>
                </a:solidFill>
                <a:latin typeface="Arial"/>
              </a:rPr>
              <a:t>Dietician sign-off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822960" y="5440680"/>
            <a:ext cx="10543032" cy="777240"/>
          </a:xfrm>
          <a:prstGeom prst="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1097280" y="57332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5F7B4F"/>
                </a:solidFill>
                <a:latin typeface="Arial"/>
              </a:rPr>
              <a:t>The bet:  </a:t>
            </a:r>
            <a:r>
              <a:rPr b="0" sz="1300">
                <a:solidFill>
                  <a:srgbClr val="1D1D21"/>
                </a:solidFill>
                <a:latin typeface="Arial"/>
              </a:rPr>
              <a:t>Do people </a:t>
            </a:r>
            <a:r>
              <a:rPr b="1" sz="1300">
                <a:solidFill>
                  <a:srgbClr val="1D1D21"/>
                </a:solidFill>
                <a:latin typeface="Arial"/>
              </a:rPr>
              <a:t>trust</a:t>
            </a:r>
            <a:r>
              <a:rPr b="0" sz="1300">
                <a:solidFill>
                  <a:srgbClr val="1D1D21"/>
                </a:solidFill>
                <a:latin typeface="Arial"/>
              </a:rPr>
              <a:t> a </a:t>
            </a:r>
            <a:r>
              <a:rPr b="1" sz="1300">
                <a:solidFill>
                  <a:srgbClr val="1D1D21"/>
                </a:solidFill>
                <a:latin typeface="Arial"/>
              </a:rPr>
              <a:t>receipt-based tip </a:t>
            </a:r>
            <a:r>
              <a:rPr b="0" sz="1300">
                <a:solidFill>
                  <a:srgbClr val="1D1D21"/>
                </a:solidFill>
                <a:latin typeface="Arial"/>
              </a:rPr>
              <a:t>enough to </a:t>
            </a:r>
            <a:r>
              <a:rPr b="1" sz="1300">
                <a:solidFill>
                  <a:srgbClr val="1D1D21"/>
                </a:solidFill>
                <a:latin typeface="Arial"/>
              </a:rPr>
              <a:t>change what they buy next</a:t>
            </a:r>
            <a:r>
              <a:rPr b="0" sz="1300">
                <a:solidFill>
                  <a:srgbClr val="1D1D21"/>
                </a:solidFill>
                <a:latin typeface="Arial"/>
              </a:rPr>
              <a:t>? Does the </a:t>
            </a:r>
            <a:r>
              <a:rPr b="1" sz="1300">
                <a:solidFill>
                  <a:srgbClr val="1D1D21"/>
                </a:solidFill>
                <a:latin typeface="Arial"/>
              </a:rPr>
              <a:t>check-off habit </a:t>
            </a:r>
            <a:r>
              <a:rPr b="0" sz="1300">
                <a:solidFill>
                  <a:srgbClr val="1D1D21"/>
                </a:solidFill>
                <a:latin typeface="Arial"/>
              </a:rPr>
              <a:t>stick?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