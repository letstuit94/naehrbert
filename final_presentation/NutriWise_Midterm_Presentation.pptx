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1675"/>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hVMZbK7+2G5Y1gjsGmwH2XBhGz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Hi everyone. We're </a:t>
            </a:r>
            <a:r>
              <a:rPr b="1" lang="en-US" sz="1000">
                <a:solidFill>
                  <a:srgbClr val="202020"/>
                </a:solidFill>
                <a:highlight>
                  <a:srgbClr val="EAEAEA"/>
                </a:highlight>
                <a:latin typeface="Roboto"/>
                <a:ea typeface="Roboto"/>
                <a:cs typeface="Roboto"/>
                <a:sym typeface="Roboto"/>
              </a:rPr>
              <a:t>NutriWise</a:t>
            </a:r>
            <a:r>
              <a:rPr lang="en-US" sz="1000">
                <a:solidFill>
                  <a:srgbClr val="202020"/>
                </a:solidFill>
                <a:highlight>
                  <a:srgbClr val="EAEAEA"/>
                </a:highlight>
                <a:latin typeface="Roboto"/>
                <a:ea typeface="Roboto"/>
                <a:cs typeface="Roboto"/>
                <a:sym typeface="Roboto"/>
              </a:rPr>
              <a:t> - a product of </a:t>
            </a:r>
            <a:r>
              <a:rPr b="1" lang="en-US" sz="1000">
                <a:solidFill>
                  <a:srgbClr val="202020"/>
                </a:solidFill>
                <a:highlight>
                  <a:srgbClr val="EAEAEA"/>
                </a:highlight>
                <a:latin typeface="Roboto"/>
                <a:ea typeface="Roboto"/>
                <a:cs typeface="Roboto"/>
                <a:sym typeface="Roboto"/>
              </a:rPr>
              <a:t>Stuart Kasemeier and myself, </a:t>
            </a:r>
            <a:r>
              <a:rPr b="1" lang="en-US" sz="1000">
                <a:solidFill>
                  <a:srgbClr val="202020"/>
                </a:solidFill>
                <a:highlight>
                  <a:srgbClr val="EAEAEA"/>
                </a:highlight>
                <a:latin typeface="Roboto"/>
                <a:ea typeface="Roboto"/>
                <a:cs typeface="Roboto"/>
                <a:sym typeface="Roboto"/>
              </a:rPr>
              <a:t>Jennifer Rake</a:t>
            </a:r>
            <a:r>
              <a:rPr lang="en-US" sz="1000">
                <a:solidFill>
                  <a:srgbClr val="202020"/>
                </a:solidFill>
                <a:highlight>
                  <a:srgbClr val="EAEAEA"/>
                </a:highlight>
                <a:latin typeface="Roboto"/>
                <a:ea typeface="Roboto"/>
                <a:cs typeface="Roboto"/>
                <a:sym typeface="Roboto"/>
              </a:rPr>
              <a:t> </a:t>
            </a:r>
            <a:r>
              <a:rPr lang="en-US" sz="1000">
                <a:solidFill>
                  <a:srgbClr val="202020"/>
                </a:solidFill>
                <a:highlight>
                  <a:srgbClr val="EAEAEA"/>
                </a:highlight>
                <a:latin typeface="Roboto"/>
                <a:ea typeface="Roboto"/>
                <a:cs typeface="Roboto"/>
                <a:sym typeface="Roboto"/>
              </a:rPr>
              <a: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Our idea in one sentence: you upload a grocery receipt, and we optimize your consumption.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It's a receipt-first nutrition assistant — the whole point is that your pantry works for you: you </a:t>
            </a:r>
            <a:r>
              <a:rPr i="1" lang="en-US" sz="1000">
                <a:solidFill>
                  <a:srgbClr val="202020"/>
                </a:solidFill>
                <a:highlight>
                  <a:srgbClr val="EAEAEA"/>
                </a:highlight>
                <a:latin typeface="Roboto"/>
                <a:ea typeface="Roboto"/>
                <a:cs typeface="Roboto"/>
                <a:sym typeface="Roboto"/>
              </a:rPr>
              <a:t>tap</a:t>
            </a:r>
            <a:r>
              <a:rPr lang="en-US" sz="1000">
                <a:solidFill>
                  <a:srgbClr val="202020"/>
                </a:solidFill>
                <a:highlight>
                  <a:srgbClr val="EAEAEA"/>
                </a:highlight>
                <a:latin typeface="Roboto"/>
                <a:ea typeface="Roboto"/>
                <a:cs typeface="Roboto"/>
                <a:sym typeface="Roboto"/>
              </a:rPr>
              <a:t> what you eat, you don't </a:t>
            </a:r>
            <a:r>
              <a:rPr i="1" lang="en-US" sz="1000">
                <a:solidFill>
                  <a:srgbClr val="202020"/>
                </a:solidFill>
                <a:highlight>
                  <a:srgbClr val="EAEAEA"/>
                </a:highlight>
                <a:latin typeface="Roboto"/>
                <a:ea typeface="Roboto"/>
                <a:cs typeface="Roboto"/>
                <a:sym typeface="Roboto"/>
              </a:rPr>
              <a:t>type</a:t>
            </a:r>
            <a:r>
              <a:rPr lang="en-US" sz="1000">
                <a:solidFill>
                  <a:srgbClr val="202020"/>
                </a:solidFill>
                <a:highlight>
                  <a:srgbClr val="EAEAEA"/>
                </a:highlight>
                <a:latin typeface="Roboto"/>
                <a:ea typeface="Roboto"/>
                <a:cs typeface="Roboto"/>
                <a:sym typeface="Roboto"/>
              </a:rPr>
              <a:t> it.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Over the next few minutes I'll walk you through the problem we're solving,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our solution,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how we measure whether it actually works,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the data behind it,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and our results —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and then we'll finish with a short live demo."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"Let's start with the problem.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Almost every nutrition app asks you to log every single meal by hand.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It's hard, so that habit dies within a few weeks — and people either give up or just guess.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In fact, manual tipping is the number-one reason these apps get abandoned.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But what your body </a:t>
            </a:r>
            <a:r>
              <a:rPr lang="en-US" sz="1000">
                <a:solidFill>
                  <a:srgbClr val="1D1D21"/>
                </a:solidFill>
              </a:rPr>
              <a:t>eats is important because of getting a healthier lifestyle, training, the weather or blood donation.</a:t>
            </a:r>
            <a:endParaRPr sz="1000">
              <a:solidFill>
                <a:srgbClr val="1D1D21"/>
              </a:solidFill>
            </a:endParaRPr>
          </a:p>
          <a:p>
            <a:pPr indent="0" lvl="0" marL="0" rtl="0" algn="l">
              <a:spcBef>
                <a:spcPts val="0"/>
              </a:spcBef>
              <a:spcAft>
                <a:spcPts val="0"/>
              </a:spcAft>
              <a:buNone/>
            </a:pPr>
            <a:r>
              <a:t/>
            </a:r>
            <a:endParaRPr sz="1000">
              <a:solidFill>
                <a:srgbClr val="1D1D21"/>
              </a:solidFill>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So our approach is passive: the receipt is already an honest record of what you bought — and we turn it into concrete picks, telling you what to eat from what you already have, plus smart things to buy next."</a:t>
            </a:r>
            <a:endParaRPr/>
          </a:p>
        </p:txBody>
      </p:sp>
      <p:sp>
        <p:nvSpPr>
          <p:cNvPr id="107" name="Google Shape;10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"Our solution is one simple loop.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First, a short chat so we learn your goal — eat healthier, more protein, whatever it is.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Then a photo of your receipt fills your pantry — the food actually in your house, sorted by what expires first, so nothing goes to waste.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Every day, you tap what you ate — one tap per portion, no typing at all.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At last Insights turns those taps into something useful: your nutrient gaps, plus around two clear picks — one thing to use from your pantry, and one smart thing to buy next time.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But we're careful with the framing: everything is an estimate from your groceries and your taps — not medical advice."</a:t>
            </a:r>
            <a:endParaRPr/>
          </a:p>
        </p:txBody>
      </p:sp>
      <p:sp>
        <p:nvSpPr>
          <p:cNvPr id="129" name="Google Shape;12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Stuart:</a:t>
            </a:r>
            <a:br>
              <a:rPr lang="en-US"/>
            </a:br>
            <a:endParaRPr/>
          </a:p>
          <a:p>
            <a:pPr indent="0" lvl="0" marL="0" rtl="0" algn="l">
              <a:spcBef>
                <a:spcPts val="0"/>
              </a:spcBef>
              <a:spcAft>
                <a:spcPts val="0"/>
              </a:spcAft>
              <a:buNone/>
            </a:pPr>
            <a:r>
              <a:rPr lang="en-US"/>
              <a:t>Think of a new friend who cooks for you. On day one they only know your goal, so they just say what to aim for. After your first shop they can say what's in your kitchen — but that's shopping, not what you actually ate, so we call it 'your basket,' not 'your diet.' Once you start tapping meals they get a feel for it, and after a week they can honestly say 'you're a little low on fibre.' After a month or two they can show if you're getting better. The rule: if you've only tracked 2 days, we say 'still learning' instead of guessing a wrong number. That honesty is on purpose.</a:t>
            </a:r>
            <a:endParaRPr/>
          </a:p>
        </p:txBody>
      </p:sp>
      <p:sp>
        <p:nvSpPr>
          <p:cNvPr id="204" name="Google Shape;20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Stuart</a:t>
            </a:r>
            <a:endParaRPr/>
          </a:p>
          <a:p>
            <a:pPr indent="0" lvl="0" marL="0" rtl="0" algn="l">
              <a:spcBef>
                <a:spcPts val="0"/>
              </a:spcBef>
              <a:spcAft>
                <a:spcPts val="0"/>
              </a:spcAft>
              <a:buNone/>
            </a:pPr>
            <a:r>
              <a:rPr lang="en-US"/>
              <a:t>The one number that makes or breaks us: do people keep tapping after week 1? If the daily tap dies, the whole thing dies — so we test that first. Our north star: at least 3 in 10 people change what they buy next time, without any manual food diary. Plus: more than 1 in 5 act on our tip, and they see something useful in under 2 minutes. A bigger 10-KPI scorecard sits behind these.</a:t>
            </a:r>
            <a:endParaRPr/>
          </a:p>
        </p:txBody>
      </p:sp>
      <p:sp>
        <p:nvSpPr>
          <p:cNvPr id="246" name="Google Shape;24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Stuart</a:t>
            </a:r>
            <a:endParaRPr/>
          </a:p>
          <a:p>
            <a:pPr indent="0" lvl="0" marL="0" rtl="0" algn="l">
              <a:spcBef>
                <a:spcPts val="0"/>
              </a:spcBef>
              <a:spcAft>
                <a:spcPts val="0"/>
              </a:spcAft>
              <a:buNone/>
            </a:pPr>
            <a:r>
              <a:rPr lang="en-US"/>
              <a:t>Two weeks of work. DONE: the whole loop already runs end to end. IN PROGRESS: smarter matching and more user tests. NEXT (after today): a smarter matching model to push accuracy past 70%, personalised portions, and the full success-scorecard. Rather than just tell you it works — let me show you the live app now.</a:t>
            </a:r>
            <a:endParaRPr/>
          </a:p>
        </p:txBody>
      </p:sp>
      <p:sp>
        <p:nvSpPr>
          <p:cNvPr id="271" name="Google Shape;27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"So how do we know the matching actually works?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It's really a chain, and the very first link is </a:t>
            </a:r>
            <a:r>
              <a:rPr b="1" lang="en-US" sz="1000">
                <a:solidFill>
                  <a:srgbClr val="202020"/>
                </a:solidFill>
                <a:highlight>
                  <a:srgbClr val="EAEAEA"/>
                </a:highlight>
                <a:latin typeface="Roboto"/>
                <a:ea typeface="Roboto"/>
                <a:cs typeface="Roboto"/>
                <a:sym typeface="Roboto"/>
              </a:rPr>
              <a:t>OCR</a:t>
            </a:r>
            <a:r>
              <a:rPr lang="en-US" sz="1000">
                <a:solidFill>
                  <a:srgbClr val="202020"/>
                </a:solidFill>
                <a:highlight>
                  <a:srgbClr val="EAEAEA"/>
                </a:highlight>
                <a:latin typeface="Roboto"/>
                <a:ea typeface="Roboto"/>
                <a:cs typeface="Roboto"/>
                <a:sym typeface="Roboto"/>
              </a:rPr>
              <a:t> — the phone has to read the photo into text.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If it misreads a word there, only manuell correction by the user can fix it.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Then, even read correctly, the text is cryptic — something like 'AB Bud 6x0,3l MW' — and it still has to become a real food with real nutrients. The hard part: there's no official answer key for that. So we built our own — a human-spot-checked gold set of 180 real receipt lines, each matched against all 7,140 foods.  in the spot-checked </a:t>
            </a:r>
            <a:r>
              <a:rPr lang="en-US" sz="1000">
                <a:solidFill>
                  <a:srgbClr val="202020"/>
                </a:solidFill>
                <a:highlight>
                  <a:srgbClr val="EAEAEA"/>
                </a:highlight>
                <a:latin typeface="Roboto"/>
                <a:ea typeface="Roboto"/>
                <a:cs typeface="Roboto"/>
                <a:sym typeface="Roboto"/>
              </a:rPr>
              <a:t>only 3% were wrong</a:t>
            </a:r>
            <a:r>
              <a:rPr lang="en-US" sz="1000">
                <a:solidFill>
                  <a:srgbClr val="202020"/>
                </a:solidFill>
                <a:highlight>
                  <a:srgbClr val="EAEAEA"/>
                </a:highlight>
                <a:latin typeface="Roboto"/>
                <a:ea typeface="Roboto"/>
                <a:cs typeface="Roboto"/>
                <a:sym typeface="Roboto"/>
              </a:rPr>
              <a: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Our metric is </a:t>
            </a:r>
            <a:r>
              <a:rPr b="1" lang="en-US" sz="1000">
                <a:solidFill>
                  <a:srgbClr val="202020"/>
                </a:solidFill>
                <a:highlight>
                  <a:srgbClr val="EAEAEA"/>
                </a:highlight>
                <a:latin typeface="Roboto"/>
                <a:ea typeface="Roboto"/>
                <a:cs typeface="Roboto"/>
                <a:sym typeface="Roboto"/>
              </a:rPr>
              <a:t>Recall@5</a:t>
            </a:r>
            <a:r>
              <a:rPr lang="en-US" sz="1000">
                <a:solidFill>
                  <a:srgbClr val="202020"/>
                </a:solidFill>
                <a:highlight>
                  <a:srgbClr val="EAEAEA"/>
                </a:highlight>
                <a:latin typeface="Roboto"/>
                <a:ea typeface="Roboto"/>
                <a:cs typeface="Roboto"/>
                <a:sym typeface="Roboto"/>
              </a:rPr>
              <a:t>: when the app shows its five best guesses, is the correct food in there?"</a:t>
            </a:r>
            <a:endParaRPr sz="1000">
              <a:solidFill>
                <a:srgbClr val="202020"/>
              </a:solidFill>
              <a:highlight>
                <a:srgbClr val="EAEAEA"/>
              </a:highlight>
              <a:latin typeface="Roboto"/>
              <a:ea typeface="Roboto"/>
              <a:cs typeface="Roboto"/>
              <a:sym typeface="Roboto"/>
            </a:endParaRPr>
          </a:p>
        </p:txBody>
      </p:sp>
      <p:sp>
        <p:nvSpPr>
          <p:cNvPr id="322" name="Google Shape;32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f54b91471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Here you can see the </a:t>
            </a:r>
            <a:r>
              <a:rPr lang="en-US"/>
              <a:t>OCR process to turn our receipts from image to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won’t go into any more detail here because of time, but if you’re interested, feel free to ask any questions later.</a:t>
            </a:r>
            <a:endParaRPr/>
          </a:p>
        </p:txBody>
      </p:sp>
      <p:sp>
        <p:nvSpPr>
          <p:cNvPr id="340" name="Google Shape;340;g3f54b91471f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54b91471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"When we looked at the data, we found two worlds that just don't line up.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On one side, the receipts: short, cryptic, brand-heavy text — 180 lines from 27 receipts across seven German chains, mostly vegetables, dairy and fruit.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On the other, the official food table: 7,140 long, finely-graded names, full of near-duplicates — the same food listed raw, boiled, and fried.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And the gap between them is the whole story: only </a:t>
            </a:r>
            <a:r>
              <a:rPr i="1" lang="en-US" sz="1000">
                <a:solidFill>
                  <a:srgbClr val="202020"/>
                </a:solidFill>
                <a:highlight>
                  <a:srgbClr val="EAEAEA"/>
                </a:highlight>
                <a:latin typeface="Roboto"/>
                <a:ea typeface="Roboto"/>
                <a:cs typeface="Roboto"/>
                <a:sym typeface="Roboto"/>
              </a:rPr>
              <a:t>one</a:t>
            </a:r>
            <a:r>
              <a:rPr lang="en-US" sz="1000">
                <a:solidFill>
                  <a:srgbClr val="202020"/>
                </a:solidFill>
                <a:highlight>
                  <a:srgbClr val="EAEAEA"/>
                </a:highlight>
                <a:latin typeface="Roboto"/>
                <a:ea typeface="Roboto"/>
                <a:cs typeface="Roboto"/>
                <a:sym typeface="Roboto"/>
              </a:rPr>
              <a:t> of our 180 receipt lines appears word-for-word in the table, and 79% need cleanup before they'll match.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That's why a simple exact lookup is dead on arrival — we need fuzzy matching plus semantic search. </a:t>
            </a:r>
            <a:endParaRPr/>
          </a:p>
        </p:txBody>
      </p:sp>
      <p:sp>
        <p:nvSpPr>
          <p:cNvPr id="373" name="Google Shape;373;g3f54b91471f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Behind that sit three data sources, stitched together.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First, real German receipts, read on the phone itself with on-device OCR — private, nothing ever leaves the device. </a:t>
            </a:r>
            <a:endParaRPr sz="1000">
              <a:solidFill>
                <a:srgbClr val="202020"/>
              </a:solidFill>
              <a:highlight>
                <a:srgbClr val="EAEAEA"/>
              </a:highlight>
              <a:latin typeface="Roboto"/>
              <a:ea typeface="Roboto"/>
              <a:cs typeface="Roboto"/>
              <a:sym typeface="Roboto"/>
            </a:endParaRPr>
          </a:p>
          <a:p>
            <a:pPr indent="0" lvl="0" marL="45720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Second, the German federal food database — around 7,140 foods — our primary, trusted source for reliable nutrients.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AutoNum type="arabicPeriod"/>
            </a:pPr>
            <a:r>
              <a:rPr lang="en-US" sz="1000">
                <a:solidFill>
                  <a:srgbClr val="202020"/>
                </a:solidFill>
                <a:highlight>
                  <a:srgbClr val="EAEAEA"/>
                </a:highlight>
                <a:latin typeface="Roboto"/>
                <a:ea typeface="Roboto"/>
                <a:cs typeface="Roboto"/>
                <a:sym typeface="Roboto"/>
              </a:rPr>
              <a:t>And third, Open Food Facts, a big crowd-sourced list of branded products, as a fallback for what the official table structurally doesn't cover. For testing, our gold set is 180 real lines, 152 of them unique, each labeled against the full table.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And to be honest about what didn't work: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we tested the US food database and rejected it — it's essentially blind to German foods like Schmand or Bergkäse."</a:t>
            </a:r>
            <a:endParaRPr/>
          </a:p>
        </p:txBody>
      </p:sp>
      <p:sp>
        <p:nvSpPr>
          <p:cNvPr id="426" name="Google Shape;42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"The matcher itself is a tiered ladder — cheapest and most certain first, - fallback only if needed.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We read the receipt, clean the text — stripping quantities, prices and brand noise — then match.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Tier 0 is any match a human already confirmed; we always trust those.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Tier 1 is the German food table, our primary source — it handled 174 of 180 lines on its own.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Tier 2 is Open Food Facts, for a few branded gaps. And two genuinely ambiguous lines, we left open instead of guessing.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Every result comes with its nutrients, a confidence label, and where it came from. It's rule-based on purpose, so a health app stays transparent — the AI only steps in to break ties."</a:t>
            </a:r>
            <a:endParaRPr/>
          </a:p>
        </p:txBody>
      </p:sp>
      <p:sp>
        <p:nvSpPr>
          <p:cNvPr id="457" name="Google Shape;45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So how does it actually perform — honestly?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First, coverage: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we resolved 99% of the lines — 174 from the German table, 4 from Open Food Facts, and 2 left open on purpose.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Second, accuracy: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the biggest lever turned out to be simply cleaning the receipt text — </a:t>
            </a:r>
            <a:endParaRPr sz="1000">
              <a:solidFill>
                <a:srgbClr val="202020"/>
              </a:solidFill>
              <a:highlight>
                <a:srgbClr val="EAEAEA"/>
              </a:highlight>
              <a:latin typeface="Roboto"/>
              <a:ea typeface="Roboto"/>
              <a:cs typeface="Roboto"/>
              <a:sym typeface="Roboto"/>
            </a:endParaRPr>
          </a:p>
          <a:p>
            <a:pPr indent="-292100" lvl="0" marL="457200" rtl="0" algn="l">
              <a:spcBef>
                <a:spcPts val="0"/>
              </a:spcBef>
              <a:spcAft>
                <a:spcPts val="0"/>
              </a:spcAft>
              <a:buClr>
                <a:srgbClr val="202020"/>
              </a:buClr>
              <a:buSzPts val="1000"/>
              <a:buFont typeface="Roboto"/>
              <a:buChar char="-"/>
            </a:pPr>
            <a:r>
              <a:rPr lang="en-US" sz="1000">
                <a:solidFill>
                  <a:srgbClr val="202020"/>
                </a:solidFill>
                <a:highlight>
                  <a:srgbClr val="EAEAEA"/>
                </a:highlight>
                <a:latin typeface="Roboto"/>
                <a:ea typeface="Roboto"/>
                <a:cs typeface="Roboto"/>
                <a:sym typeface="Roboto"/>
              </a:rPr>
              <a:t>after cleanup, the correct food is in the top five 47% of the time, up from 32% on raw text.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t/>
            </a:r>
            <a:endParaRPr sz="1000">
              <a:solidFill>
                <a:srgbClr val="202020"/>
              </a:solidFill>
              <a:highlight>
                <a:srgbClr val="EAEAEA"/>
              </a:highlight>
              <a:latin typeface="Roboto"/>
              <a:ea typeface="Roboto"/>
              <a:cs typeface="Roboto"/>
              <a:sym typeface="Roboto"/>
            </a:endParaRPr>
          </a:p>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Now the most important: So for now the AI just breaks ties, and every user correction we save closes the remaining gap.</a:t>
            </a:r>
            <a:endParaRPr/>
          </a:p>
        </p:txBody>
      </p:sp>
      <p:sp>
        <p:nvSpPr>
          <p:cNvPr id="506" name="Google Shape;50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rgbClr val="202020"/>
                </a:solidFill>
                <a:highlight>
                  <a:srgbClr val="EAEAEA"/>
                </a:highlight>
                <a:latin typeface="Roboto"/>
                <a:ea typeface="Roboto"/>
                <a:cs typeface="Roboto"/>
                <a:sym typeface="Roboto"/>
              </a:rPr>
              <a:t>Now let Stuart show it live!</a:t>
            </a:r>
            <a:endParaRPr/>
          </a:p>
        </p:txBody>
      </p:sp>
      <p:sp>
        <p:nvSpPr>
          <p:cNvPr id="527" name="Google Shape;52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a:t>
            </a:r>
            <a:endParaRPr/>
          </a:p>
          <a:p>
            <a:pPr indent="0" lvl="0" marL="0" rtl="0" algn="l">
              <a:spcBef>
                <a:spcPts val="0"/>
              </a:spcBef>
              <a:spcAft>
                <a:spcPts val="0"/>
              </a:spcAft>
              <a:buNone/>
            </a:pPr>
            <a:r>
              <a:rPr lang="en-US"/>
              <a:t>Close on the one-liner and invite questions. If pushed on accuracy: we measure honestly on real receipts (Recall@5 47% after cleanup, 99% of lines resolved), the clear next lever is the learned match store, and the deeper question — do people trust it and keep tapping — is what live user testing answers next.</a:t>
            </a:r>
            <a:endParaRPr/>
          </a:p>
        </p:txBody>
      </p:sp>
      <p:sp>
        <p:nvSpPr>
          <p:cNvPr id="561" name="Google Shape;56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2 — only if asked]</a:t>
            </a:r>
            <a:endParaRPr/>
          </a:p>
          <a:p>
            <a:pPr indent="0" lvl="0" marL="0" rtl="0" algn="l">
              <a:spcBef>
                <a:spcPts val="0"/>
              </a:spcBef>
              <a:spcAft>
                <a:spcPts val="0"/>
              </a:spcAft>
              <a:buNone/>
            </a:pPr>
            <a:r>
              <a:rPr lang="en-US"/>
              <a:t>Backup for questions. This was our earlier pilot on 76 items, judged by an LLM panel — a different method, so don't compare its 66% to the 47% Recall@5. What it told us: Open Food Facts wins on identity, the German table matched worse on its own — which is exactly why the table leads for nutrients only, and why we then built the stricter, human-checked Recall@5 test.</a:t>
            </a:r>
            <a:endParaRPr/>
          </a:p>
        </p:txBody>
      </p:sp>
      <p:sp>
        <p:nvSpPr>
          <p:cNvPr id="574" name="Google Shape;57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f54b9147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3f54b91471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54b91471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f54b91471f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54b91471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g3f54b91471f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54b91471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3f54b91471f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f54b91471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g3f54b91471f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f54b91471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g3f54b91471f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28016"/>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8138160" y="128016"/>
            <a:ext cx="4053535" cy="6729984"/>
          </a:xfrm>
          <a:prstGeom prst="rect">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822960" y="777240"/>
            <a:ext cx="310896" cy="310896"/>
          </a:xfrm>
          <a:prstGeom prst="roundRect">
            <a:avLst>
              <a:gd fmla="val 30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1243584" y="749808"/>
            <a:ext cx="3657600"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1D1D21"/>
                </a:solidFill>
                <a:latin typeface="Arial"/>
                <a:ea typeface="Arial"/>
                <a:cs typeface="Arial"/>
                <a:sym typeface="Arial"/>
              </a:rPr>
              <a:t>NUTRIWISE</a:t>
            </a:r>
            <a:endParaRPr/>
          </a:p>
        </p:txBody>
      </p:sp>
      <p:sp>
        <p:nvSpPr>
          <p:cNvPr id="89" name="Google Shape;89;p1"/>
          <p:cNvSpPr txBox="1"/>
          <p:nvPr/>
        </p:nvSpPr>
        <p:spPr>
          <a:xfrm>
            <a:off x="822960" y="1965960"/>
            <a:ext cx="7315200" cy="2377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4200" u="none" cap="none" strike="noStrike">
                <a:solidFill>
                  <a:srgbClr val="1D1D21"/>
                </a:solidFill>
                <a:latin typeface="Arial"/>
                <a:ea typeface="Arial"/>
                <a:cs typeface="Arial"/>
                <a:sym typeface="Arial"/>
              </a:rPr>
              <a:t>Upload a grocery receipt.</a:t>
            </a:r>
            <a:endParaRPr/>
          </a:p>
          <a:p>
            <a:pPr indent="0" lvl="0" marL="0" marR="0" rtl="0" algn="l">
              <a:lnSpc>
                <a:spcPct val="105000"/>
              </a:lnSpc>
              <a:spcBef>
                <a:spcPts val="400"/>
              </a:spcBef>
              <a:spcAft>
                <a:spcPts val="0"/>
              </a:spcAft>
              <a:buNone/>
            </a:pPr>
            <a:r>
              <a:rPr b="1" i="0" lang="en-US" sz="4200" u="none" cap="none" strike="noStrike">
                <a:solidFill>
                  <a:srgbClr val="5F7B4F"/>
                </a:solidFill>
                <a:latin typeface="Arial"/>
                <a:ea typeface="Arial"/>
                <a:cs typeface="Arial"/>
                <a:sym typeface="Arial"/>
              </a:rPr>
              <a:t>Get one smarter thing</a:t>
            </a:r>
            <a:endParaRPr/>
          </a:p>
          <a:p>
            <a:pPr indent="0" lvl="0" marL="0" marR="0" rtl="0" algn="l">
              <a:lnSpc>
                <a:spcPct val="105000"/>
              </a:lnSpc>
              <a:spcBef>
                <a:spcPts val="400"/>
              </a:spcBef>
              <a:spcAft>
                <a:spcPts val="0"/>
              </a:spcAft>
              <a:buNone/>
            </a:pPr>
            <a:r>
              <a:rPr b="1" i="0" lang="en-US" sz="4200" u="none" cap="none" strike="noStrike">
                <a:solidFill>
                  <a:srgbClr val="5F7B4F"/>
                </a:solidFill>
                <a:latin typeface="Arial"/>
                <a:ea typeface="Arial"/>
                <a:cs typeface="Arial"/>
                <a:sym typeface="Arial"/>
              </a:rPr>
              <a:t>to buy next time.</a:t>
            </a:r>
            <a:endParaRPr/>
          </a:p>
        </p:txBody>
      </p:sp>
      <p:sp>
        <p:nvSpPr>
          <p:cNvPr id="90" name="Google Shape;90;p1"/>
          <p:cNvSpPr/>
          <p:nvPr/>
        </p:nvSpPr>
        <p:spPr>
          <a:xfrm>
            <a:off x="841248" y="4160520"/>
            <a:ext cx="310896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
          <p:cNvSpPr txBox="1"/>
          <p:nvPr/>
        </p:nvSpPr>
        <p:spPr>
          <a:xfrm>
            <a:off x="841248" y="4389120"/>
            <a:ext cx="69495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500" u="none" cap="none" strike="noStrike">
                <a:solidFill>
                  <a:srgbClr val="6E6F74"/>
                </a:solidFill>
                <a:latin typeface="Arial"/>
                <a:ea typeface="Arial"/>
                <a:cs typeface="Arial"/>
                <a:sym typeface="Arial"/>
              </a:rPr>
              <a:t>A receipt-first nutrition assistant — your </a:t>
            </a:r>
            <a:r>
              <a:rPr i="1" lang="en-US" sz="1500">
                <a:solidFill>
                  <a:srgbClr val="6E6F74"/>
                </a:solidFill>
              </a:rPr>
              <a:t>pantry</a:t>
            </a:r>
            <a:r>
              <a:rPr b="0" i="1" lang="en-US" sz="1500" u="none" cap="none" strike="noStrike">
                <a:solidFill>
                  <a:srgbClr val="6E6F74"/>
                </a:solidFill>
                <a:latin typeface="Arial"/>
                <a:ea typeface="Arial"/>
                <a:cs typeface="Arial"/>
                <a:sym typeface="Arial"/>
              </a:rPr>
              <a:t> works for you: tap what you eat, don't type it.</a:t>
            </a:r>
            <a:endParaRPr/>
          </a:p>
        </p:txBody>
      </p:sp>
      <p:sp>
        <p:nvSpPr>
          <p:cNvPr id="92" name="Google Shape;92;p1"/>
          <p:cNvSpPr txBox="1"/>
          <p:nvPr/>
        </p:nvSpPr>
        <p:spPr>
          <a:xfrm>
            <a:off x="822960" y="5257800"/>
            <a:ext cx="7132200" cy="5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Jennifer Rake</a:t>
            </a:r>
            <a:r>
              <a:rPr b="1" i="0" lang="en-US" sz="1300" u="none" cap="none" strike="noStrike">
                <a:solidFill>
                  <a:srgbClr val="5F7B4F"/>
                </a:solidFill>
                <a:latin typeface="Arial"/>
                <a:ea typeface="Arial"/>
                <a:cs typeface="Arial"/>
                <a:sym typeface="Arial"/>
              </a:rPr>
              <a:t>  ·     </a:t>
            </a:r>
            <a:r>
              <a:rPr b="1" i="0" lang="en-US" sz="1500" u="none" cap="none" strike="noStrike">
                <a:solidFill>
                  <a:srgbClr val="1D1D21"/>
                </a:solidFill>
                <a:latin typeface="Arial"/>
                <a:ea typeface="Arial"/>
                <a:cs typeface="Arial"/>
                <a:sym typeface="Arial"/>
              </a:rPr>
              <a:t>Stuart Kasemeier</a:t>
            </a:r>
            <a:r>
              <a:rPr b="1" i="0" lang="en-US" sz="1300" u="none" cap="none" strike="noStrike">
                <a:solidFill>
                  <a:srgbClr val="6E6F74"/>
                </a:solidFill>
                <a:latin typeface="Arial"/>
                <a:ea typeface="Arial"/>
                <a:cs typeface="Arial"/>
                <a:sym typeface="Arial"/>
              </a:rPr>
              <a:t>  · </a:t>
            </a:r>
            <a:endParaRPr/>
          </a:p>
          <a:p>
            <a:pPr indent="0" lvl="0" marL="0" marR="0" rtl="0" algn="l">
              <a:lnSpc>
                <a:spcPct val="100000"/>
              </a:lnSpc>
              <a:spcBef>
                <a:spcPts val="800"/>
              </a:spcBef>
              <a:spcAft>
                <a:spcPts val="0"/>
              </a:spcAft>
              <a:buNone/>
            </a:pPr>
            <a:r>
              <a:rPr b="0" i="0" lang="en-US" sz="1250" u="none" cap="none" strike="noStrike">
                <a:solidFill>
                  <a:srgbClr val="6E6F74"/>
                </a:solidFill>
                <a:latin typeface="Arial"/>
                <a:ea typeface="Arial"/>
                <a:cs typeface="Arial"/>
                <a:sym typeface="Arial"/>
              </a:rPr>
              <a:t>AI </a:t>
            </a:r>
            <a:r>
              <a:rPr lang="en-US" sz="1250">
                <a:solidFill>
                  <a:srgbClr val="6E6F74"/>
                </a:solidFill>
              </a:rPr>
              <a:t>Project</a:t>
            </a:r>
            <a:r>
              <a:rPr b="0" i="0" lang="en-US" sz="1250" u="none" cap="none" strike="noStrike">
                <a:solidFill>
                  <a:srgbClr val="6E6F74"/>
                </a:solidFill>
                <a:latin typeface="Arial"/>
                <a:ea typeface="Arial"/>
                <a:cs typeface="Arial"/>
                <a:sym typeface="Arial"/>
              </a:rPr>
              <a:t> Management Capstone  ·  Midterm Presentation  ·  Version </a:t>
            </a:r>
            <a:r>
              <a:rPr lang="en-US" sz="1250">
                <a:solidFill>
                  <a:srgbClr val="6E6F74"/>
                </a:solidFill>
              </a:rPr>
              <a:t>17.07.2025</a:t>
            </a:r>
            <a:endParaRPr/>
          </a:p>
        </p:txBody>
      </p:sp>
      <p:sp>
        <p:nvSpPr>
          <p:cNvPr id="93" name="Google Shape;93;p1"/>
          <p:cNvSpPr/>
          <p:nvPr/>
        </p:nvSpPr>
        <p:spPr>
          <a:xfrm>
            <a:off x="8686800" y="2148840"/>
            <a:ext cx="237744" cy="237744"/>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9098280" y="2093976"/>
            <a:ext cx="265176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D1D21"/>
                </a:solidFill>
                <a:latin typeface="Arial"/>
                <a:ea typeface="Arial"/>
                <a:cs typeface="Arial"/>
                <a:sym typeface="Arial"/>
              </a:rPr>
              <a:t>Onboard</a:t>
            </a:r>
            <a:endParaRPr/>
          </a:p>
        </p:txBody>
      </p:sp>
      <p:sp>
        <p:nvSpPr>
          <p:cNvPr id="95" name="Google Shape;95;p1"/>
          <p:cNvSpPr/>
          <p:nvPr/>
        </p:nvSpPr>
        <p:spPr>
          <a:xfrm>
            <a:off x="8796528" y="2423160"/>
            <a:ext cx="18288" cy="548640"/>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p:nvPr/>
        </p:nvSpPr>
        <p:spPr>
          <a:xfrm>
            <a:off x="8686800" y="2990088"/>
            <a:ext cx="237744" cy="237744"/>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
          <p:cNvSpPr txBox="1"/>
          <p:nvPr/>
        </p:nvSpPr>
        <p:spPr>
          <a:xfrm>
            <a:off x="9098280" y="2935224"/>
            <a:ext cx="265176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D1D21"/>
                </a:solidFill>
                <a:latin typeface="Arial"/>
                <a:ea typeface="Arial"/>
                <a:cs typeface="Arial"/>
                <a:sym typeface="Arial"/>
              </a:rPr>
              <a:t>Pantry</a:t>
            </a:r>
            <a:endParaRPr/>
          </a:p>
        </p:txBody>
      </p:sp>
      <p:sp>
        <p:nvSpPr>
          <p:cNvPr id="98" name="Google Shape;98;p1"/>
          <p:cNvSpPr/>
          <p:nvPr/>
        </p:nvSpPr>
        <p:spPr>
          <a:xfrm>
            <a:off x="8796528" y="3264408"/>
            <a:ext cx="18288" cy="548640"/>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
          <p:cNvSpPr/>
          <p:nvPr/>
        </p:nvSpPr>
        <p:spPr>
          <a:xfrm>
            <a:off x="8686800" y="3831336"/>
            <a:ext cx="237744" cy="237744"/>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txBox="1"/>
          <p:nvPr/>
        </p:nvSpPr>
        <p:spPr>
          <a:xfrm>
            <a:off x="9098280" y="3776472"/>
            <a:ext cx="265176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D1D21"/>
                </a:solidFill>
                <a:latin typeface="Arial"/>
                <a:ea typeface="Arial"/>
                <a:cs typeface="Arial"/>
                <a:sym typeface="Arial"/>
              </a:rPr>
              <a:t>Check off</a:t>
            </a:r>
            <a:endParaRPr/>
          </a:p>
        </p:txBody>
      </p:sp>
      <p:sp>
        <p:nvSpPr>
          <p:cNvPr id="101" name="Google Shape;101;p1"/>
          <p:cNvSpPr/>
          <p:nvPr/>
        </p:nvSpPr>
        <p:spPr>
          <a:xfrm>
            <a:off x="8796528" y="4105656"/>
            <a:ext cx="18288" cy="548640"/>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
          <p:cNvSpPr/>
          <p:nvPr/>
        </p:nvSpPr>
        <p:spPr>
          <a:xfrm>
            <a:off x="8686800" y="4672584"/>
            <a:ext cx="237744" cy="237744"/>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
          <p:cNvSpPr txBox="1"/>
          <p:nvPr/>
        </p:nvSpPr>
        <p:spPr>
          <a:xfrm>
            <a:off x="9098280" y="4617720"/>
            <a:ext cx="265176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1D1D21"/>
                </a:solidFill>
                <a:latin typeface="Arial"/>
                <a:ea typeface="Arial"/>
                <a:cs typeface="Arial"/>
                <a:sym typeface="Arial"/>
              </a:rPr>
              <a:t>Insights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8" name="Shape 108"/>
        <p:cNvGrpSpPr/>
        <p:nvPr/>
      </p:nvGrpSpPr>
      <p:grpSpPr>
        <a:xfrm>
          <a:off x="0" y="0"/>
          <a:ext cx="0" cy="0"/>
          <a:chOff x="0" y="0"/>
          <a:chExt cx="0" cy="0"/>
        </a:xfrm>
      </p:grpSpPr>
      <p:sp>
        <p:nvSpPr>
          <p:cNvPr id="109" name="Google Shape;109;p2"/>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THE PROBLEM</a:t>
            </a:r>
            <a:endParaRPr/>
          </a:p>
        </p:txBody>
      </p:sp>
      <p:sp>
        <p:nvSpPr>
          <p:cNvPr id="110" name="Google Shape;110;p2"/>
          <p:cNvSpPr txBox="1"/>
          <p:nvPr/>
        </p:nvSpPr>
        <p:spPr>
          <a:xfrm>
            <a:off x="822960" y="841248"/>
            <a:ext cx="100584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Eating well shouldn't require a spreadsheet</a:t>
            </a:r>
            <a:endParaRPr/>
          </a:p>
        </p:txBody>
      </p:sp>
      <p:sp>
        <p:nvSpPr>
          <p:cNvPr id="111" name="Google Shape;111;p2"/>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2"/>
          <p:cNvSpPr txBox="1"/>
          <p:nvPr/>
        </p:nvSpPr>
        <p:spPr>
          <a:xfrm>
            <a:off x="822960" y="1828800"/>
            <a:ext cx="5577900" cy="28362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1000"/>
              </a:spcBef>
              <a:spcAft>
                <a:spcPts val="0"/>
              </a:spcAft>
              <a:buClr>
                <a:srgbClr val="202020"/>
              </a:buClr>
              <a:buSzPts val="1000"/>
              <a:buFont typeface="Roboto"/>
              <a:buChar char="●"/>
            </a:pPr>
            <a:r>
              <a:rPr lang="en-US" sz="1550">
                <a:solidFill>
                  <a:srgbClr val="1D1D21"/>
                </a:solidFill>
              </a:rPr>
              <a:t>Every tool makes you </a:t>
            </a:r>
            <a:r>
              <a:rPr b="1" lang="en-US" sz="1550">
                <a:solidFill>
                  <a:srgbClr val="1D1D21"/>
                </a:solidFill>
              </a:rPr>
              <a:t>log every meal by hand </a:t>
            </a:r>
            <a:r>
              <a:rPr lang="en-US" sz="1550">
                <a:solidFill>
                  <a:srgbClr val="1D1D21"/>
                </a:solidFill>
              </a:rPr>
              <a:t>— that habit dies in weeks. So people guess.</a:t>
            </a:r>
            <a:br>
              <a:rPr lang="en-US" sz="1550">
                <a:solidFill>
                  <a:srgbClr val="1D1D21"/>
                </a:solidFill>
              </a:rPr>
            </a:br>
            <a:endParaRPr sz="1550">
              <a:solidFill>
                <a:srgbClr val="1D1D21"/>
              </a:solidFill>
            </a:endParaRPr>
          </a:p>
          <a:p>
            <a:pPr indent="-292100" lvl="0" marL="457200" rtl="0" algn="l">
              <a:lnSpc>
                <a:spcPct val="115000"/>
              </a:lnSpc>
              <a:spcBef>
                <a:spcPts val="0"/>
              </a:spcBef>
              <a:spcAft>
                <a:spcPts val="0"/>
              </a:spcAft>
              <a:buClr>
                <a:srgbClr val="202020"/>
              </a:buClr>
              <a:buSzPts val="1000"/>
              <a:buFont typeface="Roboto"/>
              <a:buChar char="●"/>
            </a:pPr>
            <a:r>
              <a:rPr b="1" lang="en-US" sz="1550">
                <a:solidFill>
                  <a:srgbClr val="1D1D21"/>
                </a:solidFill>
              </a:rPr>
              <a:t>Personal needs </a:t>
            </a:r>
            <a:r>
              <a:rPr lang="en-US" sz="1550">
                <a:solidFill>
                  <a:srgbClr val="1D1D21"/>
                </a:solidFill>
              </a:rPr>
              <a:t>differ: what your body eats is important for training, weather, blood donation or a woman's cycle.</a:t>
            </a:r>
            <a:br>
              <a:rPr lang="en-US" sz="1550">
                <a:solidFill>
                  <a:srgbClr val="1D1D21"/>
                </a:solidFill>
              </a:rPr>
            </a:br>
            <a:endParaRPr sz="1550">
              <a:solidFill>
                <a:srgbClr val="1D1D21"/>
              </a:solidFill>
            </a:endParaRPr>
          </a:p>
          <a:p>
            <a:pPr indent="-292100" lvl="0" marL="457200" rtl="0" algn="l">
              <a:lnSpc>
                <a:spcPct val="115000"/>
              </a:lnSpc>
              <a:spcBef>
                <a:spcPts val="0"/>
              </a:spcBef>
              <a:spcAft>
                <a:spcPts val="0"/>
              </a:spcAft>
              <a:buClr>
                <a:srgbClr val="202020"/>
              </a:buClr>
              <a:buSzPts val="1000"/>
              <a:buFont typeface="Roboto"/>
              <a:buChar char="●"/>
            </a:pPr>
            <a:r>
              <a:rPr lang="en-US" sz="1550">
                <a:solidFill>
                  <a:srgbClr val="1D1D21"/>
                </a:solidFill>
              </a:rPr>
              <a:t>The receipt already knows what you bought — we turn it into </a:t>
            </a:r>
            <a:r>
              <a:rPr b="1" lang="en-US" sz="1550">
                <a:solidFill>
                  <a:srgbClr val="1D1D21"/>
                </a:solidFill>
              </a:rPr>
              <a:t>concrete picks: use what's in your pantry + one smart buy.</a:t>
            </a:r>
            <a:endParaRPr b="1" sz="1550">
              <a:solidFill>
                <a:srgbClr val="1D1D21"/>
              </a:solidFill>
            </a:endParaRPr>
          </a:p>
          <a:p>
            <a:pPr indent="0" lvl="0" marL="0" marR="0" rtl="0" algn="l">
              <a:lnSpc>
                <a:spcPct val="114000"/>
              </a:lnSpc>
              <a:spcBef>
                <a:spcPts val="1000"/>
              </a:spcBef>
              <a:spcAft>
                <a:spcPts val="0"/>
              </a:spcAft>
              <a:buNone/>
            </a:pPr>
            <a:r>
              <a:t/>
            </a:r>
            <a:endParaRPr sz="1550">
              <a:solidFill>
                <a:srgbClr val="1D1D21"/>
              </a:solidFill>
            </a:endParaRPr>
          </a:p>
        </p:txBody>
      </p:sp>
      <p:sp>
        <p:nvSpPr>
          <p:cNvPr id="113" name="Google Shape;113;p2"/>
          <p:cNvSpPr/>
          <p:nvPr/>
        </p:nvSpPr>
        <p:spPr>
          <a:xfrm>
            <a:off x="6766560" y="1783080"/>
            <a:ext cx="4617720" cy="3520440"/>
          </a:xfrm>
          <a:prstGeom prst="roundRect">
            <a:avLst>
              <a:gd fmla="val 5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2"/>
          <p:cNvSpPr txBox="1"/>
          <p:nvPr/>
        </p:nvSpPr>
        <p:spPr>
          <a:xfrm>
            <a:off x="7086600" y="2011680"/>
            <a:ext cx="40233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F7B4F"/>
                </a:solidFill>
                <a:latin typeface="Arial"/>
                <a:ea typeface="Arial"/>
                <a:cs typeface="Arial"/>
                <a:sym typeface="Arial"/>
              </a:rPr>
              <a:t>WHY IT MATTERS</a:t>
            </a:r>
            <a:endParaRPr/>
          </a:p>
        </p:txBody>
      </p:sp>
      <p:sp>
        <p:nvSpPr>
          <p:cNvPr id="115" name="Google Shape;115;p2"/>
          <p:cNvSpPr/>
          <p:nvPr/>
        </p:nvSpPr>
        <p:spPr>
          <a:xfrm>
            <a:off x="7086600" y="2478024"/>
            <a:ext cx="310896" cy="310896"/>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7086600" y="2441448"/>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117" name="Google Shape;117;p2"/>
          <p:cNvSpPr txBox="1"/>
          <p:nvPr/>
        </p:nvSpPr>
        <p:spPr>
          <a:xfrm>
            <a:off x="7543800" y="2404872"/>
            <a:ext cx="3566100" cy="426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350" u="none" cap="none" strike="noStrike">
                <a:solidFill>
                  <a:srgbClr val="1D1D21"/>
                </a:solidFill>
                <a:latin typeface="Arial"/>
                <a:ea typeface="Arial"/>
                <a:cs typeface="Arial"/>
                <a:sym typeface="Arial"/>
              </a:rPr>
              <a:t>Manual logging </a:t>
            </a:r>
            <a:r>
              <a:rPr lang="en-US" sz="1350">
                <a:solidFill>
                  <a:srgbClr val="1D1D21"/>
                </a:solidFill>
              </a:rPr>
              <a:t>→ the</a:t>
            </a:r>
            <a:r>
              <a:rPr b="0" i="0" lang="en-US" sz="1350" u="none" cap="none" strike="noStrike">
                <a:solidFill>
                  <a:srgbClr val="1D1D21"/>
                </a:solidFill>
                <a:latin typeface="Arial"/>
                <a:ea typeface="Arial"/>
                <a:cs typeface="Arial"/>
                <a:sym typeface="Arial"/>
              </a:rPr>
              <a:t> #1 reason nutrition apps get abandoned</a:t>
            </a:r>
            <a:endParaRPr/>
          </a:p>
        </p:txBody>
      </p:sp>
      <p:sp>
        <p:nvSpPr>
          <p:cNvPr id="118" name="Google Shape;118;p2"/>
          <p:cNvSpPr/>
          <p:nvPr/>
        </p:nvSpPr>
        <p:spPr>
          <a:xfrm>
            <a:off x="7086600" y="3392424"/>
            <a:ext cx="310896" cy="310896"/>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txBox="1"/>
          <p:nvPr/>
        </p:nvSpPr>
        <p:spPr>
          <a:xfrm>
            <a:off x="7086600" y="3355848"/>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120" name="Google Shape;120;p2"/>
          <p:cNvSpPr txBox="1"/>
          <p:nvPr/>
        </p:nvSpPr>
        <p:spPr>
          <a:xfrm>
            <a:off x="7543800" y="3319272"/>
            <a:ext cx="3566100" cy="426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350">
                <a:solidFill>
                  <a:srgbClr val="1D1D21"/>
                </a:solidFill>
              </a:rPr>
              <a:t>Needs shift constantly - most people lose track of where they stand</a:t>
            </a:r>
            <a:endParaRPr sz="1350">
              <a:solidFill>
                <a:srgbClr val="1D1D21"/>
              </a:solidFill>
            </a:endParaRPr>
          </a:p>
        </p:txBody>
      </p:sp>
      <p:sp>
        <p:nvSpPr>
          <p:cNvPr id="121" name="Google Shape;121;p2"/>
          <p:cNvSpPr/>
          <p:nvPr/>
        </p:nvSpPr>
        <p:spPr>
          <a:xfrm>
            <a:off x="7086600" y="4306824"/>
            <a:ext cx="310896" cy="310896"/>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7086600" y="4270248"/>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123" name="Google Shape;123;p2"/>
          <p:cNvSpPr txBox="1"/>
          <p:nvPr/>
        </p:nvSpPr>
        <p:spPr>
          <a:xfrm>
            <a:off x="7543800" y="4233672"/>
            <a:ext cx="3566100" cy="426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350">
                <a:solidFill>
                  <a:srgbClr val="1D1D21"/>
                </a:solidFill>
              </a:rPr>
              <a:t>P</a:t>
            </a:r>
            <a:r>
              <a:rPr lang="en-US" sz="1350">
                <a:solidFill>
                  <a:srgbClr val="1D1D21"/>
                </a:solidFill>
              </a:rPr>
              <a:t>assive receipt → a concrete answer: eat this from your pantry, buy that next</a:t>
            </a:r>
            <a:endParaRPr sz="1350">
              <a:solidFill>
                <a:srgbClr val="1D1D21"/>
              </a:solidFill>
            </a:endParaRPr>
          </a:p>
        </p:txBody>
      </p:sp>
      <p:sp>
        <p:nvSpPr>
          <p:cNvPr id="124" name="Google Shape;124;p2"/>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125" name="Google Shape;125;p2"/>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02 / 13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30" name="Shape 130"/>
        <p:cNvGrpSpPr/>
        <p:nvPr/>
      </p:nvGrpSpPr>
      <p:grpSpPr>
        <a:xfrm>
          <a:off x="0" y="0"/>
          <a:ext cx="0" cy="0"/>
          <a:chOff x="0" y="0"/>
          <a:chExt cx="0" cy="0"/>
        </a:xfrm>
      </p:grpSpPr>
      <p:sp>
        <p:nvSpPr>
          <p:cNvPr id="131" name="Google Shape;131;p3"/>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THE SOLUTION</a:t>
            </a:r>
            <a:endParaRPr/>
          </a:p>
        </p:txBody>
      </p:sp>
      <p:sp>
        <p:nvSpPr>
          <p:cNvPr id="132" name="Google Shape;132;p3"/>
          <p:cNvSpPr txBox="1"/>
          <p:nvPr/>
        </p:nvSpPr>
        <p:spPr>
          <a:xfrm>
            <a:off x="822960" y="841248"/>
            <a:ext cx="1069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700">
                <a:solidFill>
                  <a:srgbClr val="1D1D21"/>
                </a:solidFill>
              </a:rPr>
              <a:t>R</a:t>
            </a:r>
            <a:r>
              <a:rPr b="1" i="0" lang="en-US" sz="2700" u="none" cap="none" strike="noStrike">
                <a:solidFill>
                  <a:srgbClr val="1D1D21"/>
                </a:solidFill>
                <a:latin typeface="Arial"/>
                <a:ea typeface="Arial"/>
                <a:cs typeface="Arial"/>
                <a:sym typeface="Arial"/>
              </a:rPr>
              <a:t>eceipts in → a pantry that works for you</a:t>
            </a:r>
            <a:endParaRPr/>
          </a:p>
        </p:txBody>
      </p:sp>
      <p:sp>
        <p:nvSpPr>
          <p:cNvPr id="133" name="Google Shape;133;p3"/>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3"/>
          <p:cNvSpPr txBox="1"/>
          <p:nvPr/>
        </p:nvSpPr>
        <p:spPr>
          <a:xfrm>
            <a:off x="822960" y="1629953"/>
            <a:ext cx="105156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Upload  ›  Your </a:t>
            </a:r>
            <a:r>
              <a:rPr b="1" lang="en-US" sz="1300">
                <a:solidFill>
                  <a:srgbClr val="5F7B4F"/>
                </a:solidFill>
              </a:rPr>
              <a:t>Pantry</a:t>
            </a:r>
            <a:r>
              <a:rPr b="1" i="0" lang="en-US" sz="1300" u="none" cap="none" strike="noStrike">
                <a:solidFill>
                  <a:srgbClr val="5F7B4F"/>
                </a:solidFill>
                <a:latin typeface="Arial"/>
                <a:ea typeface="Arial"/>
                <a:cs typeface="Arial"/>
                <a:sym typeface="Arial"/>
              </a:rPr>
              <a:t>  ›  Check off what you ate  ›  Weekly gaps + 2 picks</a:t>
            </a:r>
            <a:endParaRPr/>
          </a:p>
        </p:txBody>
      </p:sp>
      <p:sp>
        <p:nvSpPr>
          <p:cNvPr id="135" name="Google Shape;135;p3"/>
          <p:cNvSpPr txBox="1"/>
          <p:nvPr/>
        </p:nvSpPr>
        <p:spPr>
          <a:xfrm>
            <a:off x="3218688" y="3337560"/>
            <a:ext cx="36576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136" name="Google Shape;136;p3"/>
          <p:cNvSpPr txBox="1"/>
          <p:nvPr/>
        </p:nvSpPr>
        <p:spPr>
          <a:xfrm>
            <a:off x="5934455" y="3337560"/>
            <a:ext cx="36576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137" name="Google Shape;137;p3"/>
          <p:cNvSpPr txBox="1"/>
          <p:nvPr/>
        </p:nvSpPr>
        <p:spPr>
          <a:xfrm>
            <a:off x="8650224" y="3337560"/>
            <a:ext cx="36576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138" name="Google Shape;138;p3"/>
          <p:cNvSpPr txBox="1"/>
          <p:nvPr/>
        </p:nvSpPr>
        <p:spPr>
          <a:xfrm>
            <a:off x="868680" y="5276088"/>
            <a:ext cx="2331720" cy="5029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1D1D21"/>
                </a:solidFill>
                <a:latin typeface="Arial"/>
                <a:ea typeface="Arial"/>
                <a:cs typeface="Arial"/>
                <a:sym typeface="Arial"/>
              </a:rPr>
              <a:t>1 · Onboarding chat</a:t>
            </a:r>
            <a:endParaRPr/>
          </a:p>
          <a:p>
            <a:pPr indent="0" lvl="0" marL="0" marR="0" rtl="0" algn="ctr">
              <a:lnSpc>
                <a:spcPct val="100000"/>
              </a:lnSpc>
              <a:spcBef>
                <a:spcPts val="100"/>
              </a:spcBef>
              <a:spcAft>
                <a:spcPts val="0"/>
              </a:spcAft>
              <a:buNone/>
            </a:pPr>
            <a:r>
              <a:rPr b="0" i="0" lang="en-US" sz="1000" u="none" cap="none" strike="noStrike">
                <a:solidFill>
                  <a:srgbClr val="6E6F74"/>
                </a:solidFill>
                <a:latin typeface="Arial"/>
                <a:ea typeface="Arial"/>
                <a:cs typeface="Arial"/>
                <a:sym typeface="Arial"/>
              </a:rPr>
              <a:t>conversational profile</a:t>
            </a:r>
            <a:endParaRPr/>
          </a:p>
        </p:txBody>
      </p:sp>
      <p:sp>
        <p:nvSpPr>
          <p:cNvPr id="139" name="Google Shape;139;p3"/>
          <p:cNvSpPr txBox="1"/>
          <p:nvPr/>
        </p:nvSpPr>
        <p:spPr>
          <a:xfrm>
            <a:off x="3584448" y="5276088"/>
            <a:ext cx="2331720" cy="5029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1D1D21"/>
                </a:solidFill>
                <a:latin typeface="Arial"/>
                <a:ea typeface="Arial"/>
                <a:cs typeface="Arial"/>
                <a:sym typeface="Arial"/>
              </a:rPr>
              <a:t>2 · Your Pantry</a:t>
            </a:r>
            <a:endParaRPr/>
          </a:p>
          <a:p>
            <a:pPr indent="0" lvl="0" marL="0" marR="0" rtl="0" algn="ctr">
              <a:lnSpc>
                <a:spcPct val="100000"/>
              </a:lnSpc>
              <a:spcBef>
                <a:spcPts val="100"/>
              </a:spcBef>
              <a:spcAft>
                <a:spcPts val="0"/>
              </a:spcAft>
              <a:buNone/>
            </a:pPr>
            <a:r>
              <a:rPr b="0" i="0" lang="en-US" sz="1000" u="none" cap="none" strike="noStrike">
                <a:solidFill>
                  <a:srgbClr val="6E6F74"/>
                </a:solidFill>
                <a:latin typeface="Arial"/>
                <a:ea typeface="Arial"/>
                <a:cs typeface="Arial"/>
                <a:sym typeface="Arial"/>
              </a:rPr>
              <a:t>home · expiry-aware</a:t>
            </a:r>
            <a:endParaRPr/>
          </a:p>
        </p:txBody>
      </p:sp>
      <p:sp>
        <p:nvSpPr>
          <p:cNvPr id="140" name="Google Shape;140;p3"/>
          <p:cNvSpPr txBox="1"/>
          <p:nvPr/>
        </p:nvSpPr>
        <p:spPr>
          <a:xfrm>
            <a:off x="6300216" y="5276088"/>
            <a:ext cx="2331720" cy="5029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1D1D21"/>
                </a:solidFill>
                <a:latin typeface="Arial"/>
                <a:ea typeface="Arial"/>
                <a:cs typeface="Arial"/>
                <a:sym typeface="Arial"/>
              </a:rPr>
              <a:t>3 · Daily log</a:t>
            </a:r>
            <a:endParaRPr/>
          </a:p>
          <a:p>
            <a:pPr indent="0" lvl="0" marL="0" marR="0" rtl="0" algn="ctr">
              <a:lnSpc>
                <a:spcPct val="100000"/>
              </a:lnSpc>
              <a:spcBef>
                <a:spcPts val="100"/>
              </a:spcBef>
              <a:spcAft>
                <a:spcPts val="0"/>
              </a:spcAft>
              <a:buNone/>
            </a:pPr>
            <a:r>
              <a:rPr b="0" i="0" lang="en-US" sz="1000" u="none" cap="none" strike="noStrike">
                <a:solidFill>
                  <a:srgbClr val="6E6F74"/>
                </a:solidFill>
                <a:latin typeface="Arial"/>
                <a:ea typeface="Arial"/>
                <a:cs typeface="Arial"/>
                <a:sym typeface="Arial"/>
              </a:rPr>
              <a:t>1 tap = 1 portion</a:t>
            </a:r>
            <a:endParaRPr/>
          </a:p>
        </p:txBody>
      </p:sp>
      <p:sp>
        <p:nvSpPr>
          <p:cNvPr id="141" name="Google Shape;141;p3"/>
          <p:cNvSpPr txBox="1"/>
          <p:nvPr/>
        </p:nvSpPr>
        <p:spPr>
          <a:xfrm>
            <a:off x="9015984" y="5276088"/>
            <a:ext cx="2331600" cy="343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1D1D21"/>
                </a:solidFill>
                <a:latin typeface="Arial"/>
                <a:ea typeface="Arial"/>
                <a:cs typeface="Arial"/>
                <a:sym typeface="Arial"/>
              </a:rPr>
              <a:t>4 · Insights</a:t>
            </a:r>
            <a:endParaRPr/>
          </a:p>
          <a:p>
            <a:pPr indent="0" lvl="0" marL="0" marR="0" rtl="0" algn="ctr">
              <a:lnSpc>
                <a:spcPct val="100000"/>
              </a:lnSpc>
              <a:spcBef>
                <a:spcPts val="100"/>
              </a:spcBef>
              <a:spcAft>
                <a:spcPts val="0"/>
              </a:spcAft>
              <a:buNone/>
            </a:pPr>
            <a:r>
              <a:rPr lang="en-US" sz="1000">
                <a:solidFill>
                  <a:srgbClr val="6E6F74"/>
                </a:solidFill>
              </a:rPr>
              <a:t>G</a:t>
            </a:r>
            <a:r>
              <a:rPr b="0" i="0" lang="en-US" sz="1000" u="none" cap="none" strike="noStrike">
                <a:solidFill>
                  <a:srgbClr val="6E6F74"/>
                </a:solidFill>
                <a:latin typeface="Arial"/>
                <a:ea typeface="Arial"/>
                <a:cs typeface="Arial"/>
                <a:sym typeface="Arial"/>
              </a:rPr>
              <a:t>aps + picks</a:t>
            </a:r>
            <a:endParaRPr/>
          </a:p>
        </p:txBody>
      </p:sp>
      <p:sp>
        <p:nvSpPr>
          <p:cNvPr id="142" name="Google Shape;142;p3"/>
          <p:cNvSpPr/>
          <p:nvPr/>
        </p:nvSpPr>
        <p:spPr>
          <a:xfrm>
            <a:off x="868680" y="2057400"/>
            <a:ext cx="2331720" cy="3108960"/>
          </a:xfrm>
          <a:prstGeom prst="roundRect">
            <a:avLst>
              <a:gd fmla="val 7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p:nvPr/>
        </p:nvSpPr>
        <p:spPr>
          <a:xfrm>
            <a:off x="868680" y="2057400"/>
            <a:ext cx="2331720" cy="457200"/>
          </a:xfrm>
          <a:prstGeom prst="round2SameRect">
            <a:avLst>
              <a:gd fmla="val 12000" name="adj1"/>
              <a:gd fmla="val 0" name="adj2"/>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3"/>
          <p:cNvSpPr txBox="1"/>
          <p:nvPr/>
        </p:nvSpPr>
        <p:spPr>
          <a:xfrm>
            <a:off x="1051560" y="2103120"/>
            <a:ext cx="2057400"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NutriWise</a:t>
            </a:r>
            <a:endParaRPr/>
          </a:p>
        </p:txBody>
      </p:sp>
      <p:sp>
        <p:nvSpPr>
          <p:cNvPr id="145" name="Google Shape;145;p3"/>
          <p:cNvSpPr/>
          <p:nvPr/>
        </p:nvSpPr>
        <p:spPr>
          <a:xfrm>
            <a:off x="1051560" y="2715768"/>
            <a:ext cx="1417320" cy="365760"/>
          </a:xfrm>
          <a:prstGeom prst="roundRect">
            <a:avLst>
              <a:gd fmla="val 45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1170432" y="2734056"/>
            <a:ext cx="12801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800">
                <a:solidFill>
                  <a:srgbClr val="1D1D21"/>
                </a:solidFill>
              </a:rPr>
              <a:t>Your</a:t>
            </a:r>
            <a:r>
              <a:rPr b="0" i="0" lang="en-US" sz="800" u="none" cap="none" strike="noStrike">
                <a:solidFill>
                  <a:srgbClr val="1D1D21"/>
                </a:solidFill>
                <a:latin typeface="Arial"/>
                <a:ea typeface="Arial"/>
                <a:cs typeface="Arial"/>
                <a:sym typeface="Arial"/>
              </a:rPr>
              <a:t> </a:t>
            </a:r>
            <a:r>
              <a:rPr lang="en-US" sz="800">
                <a:solidFill>
                  <a:srgbClr val="1D1D21"/>
                </a:solidFill>
              </a:rPr>
              <a:t>Goal</a:t>
            </a:r>
            <a:r>
              <a:rPr b="0" i="0" lang="en-US" sz="800" u="none" cap="none" strike="noStrike">
                <a:solidFill>
                  <a:srgbClr val="1D1D21"/>
                </a:solidFill>
                <a:latin typeface="Arial"/>
                <a:ea typeface="Arial"/>
                <a:cs typeface="Arial"/>
                <a:sym typeface="Arial"/>
              </a:rPr>
              <a:t>?</a:t>
            </a:r>
            <a:endParaRPr/>
          </a:p>
        </p:txBody>
      </p:sp>
      <p:sp>
        <p:nvSpPr>
          <p:cNvPr id="147" name="Google Shape;147;p3"/>
          <p:cNvSpPr/>
          <p:nvPr/>
        </p:nvSpPr>
        <p:spPr>
          <a:xfrm>
            <a:off x="1600200" y="3191256"/>
            <a:ext cx="1417320" cy="365760"/>
          </a:xfrm>
          <a:prstGeom prst="roundRect">
            <a:avLst>
              <a:gd fmla="val 45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3"/>
          <p:cNvSpPr txBox="1"/>
          <p:nvPr/>
        </p:nvSpPr>
        <p:spPr>
          <a:xfrm>
            <a:off x="1719072" y="3313724"/>
            <a:ext cx="1280100" cy="1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750">
                <a:solidFill>
                  <a:srgbClr val="FFFFFF"/>
                </a:solidFill>
              </a:rPr>
              <a:t>Eat healthier</a:t>
            </a:r>
            <a:endParaRPr/>
          </a:p>
        </p:txBody>
      </p:sp>
      <p:sp>
        <p:nvSpPr>
          <p:cNvPr id="149" name="Google Shape;149;p3"/>
          <p:cNvSpPr/>
          <p:nvPr/>
        </p:nvSpPr>
        <p:spPr>
          <a:xfrm>
            <a:off x="1051560" y="3813048"/>
            <a:ext cx="603504" cy="310896"/>
          </a:xfrm>
          <a:prstGeom prst="roundRect">
            <a:avLst>
              <a:gd fmla="val 50000" name="adj"/>
            </a:avLst>
          </a:prstGeom>
          <a:solidFill>
            <a:srgbClr val="FFFFFF"/>
          </a:solidFill>
          <a:ln cap="flat" cmpd="sng" w="9525">
            <a:solidFill>
              <a:srgbClr val="7C9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3"/>
          <p:cNvSpPr txBox="1"/>
          <p:nvPr/>
        </p:nvSpPr>
        <p:spPr>
          <a:xfrm>
            <a:off x="1051560" y="3920632"/>
            <a:ext cx="6036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lang="en-US" sz="700">
                <a:solidFill>
                  <a:srgbClr val="5F7B4F"/>
                </a:solidFill>
              </a:rPr>
              <a:t>low</a:t>
            </a:r>
            <a:endParaRPr/>
          </a:p>
        </p:txBody>
      </p:sp>
      <p:sp>
        <p:nvSpPr>
          <p:cNvPr id="151" name="Google Shape;151;p3"/>
          <p:cNvSpPr/>
          <p:nvPr/>
        </p:nvSpPr>
        <p:spPr>
          <a:xfrm>
            <a:off x="1709928" y="3813048"/>
            <a:ext cx="603504" cy="310896"/>
          </a:xfrm>
          <a:prstGeom prst="roundRect">
            <a:avLst>
              <a:gd fmla="val 50000" name="adj"/>
            </a:avLst>
          </a:prstGeom>
          <a:solidFill>
            <a:srgbClr val="FFFFFF"/>
          </a:solidFill>
          <a:ln cap="flat" cmpd="sng" w="9525">
            <a:solidFill>
              <a:srgbClr val="7C9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3"/>
          <p:cNvSpPr txBox="1"/>
          <p:nvPr/>
        </p:nvSpPr>
        <p:spPr>
          <a:xfrm>
            <a:off x="1709928" y="3905749"/>
            <a:ext cx="6036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lang="en-US" sz="700">
                <a:solidFill>
                  <a:srgbClr val="5F7B4F"/>
                </a:solidFill>
              </a:rPr>
              <a:t>medium</a:t>
            </a:r>
            <a:endParaRPr/>
          </a:p>
        </p:txBody>
      </p:sp>
      <p:sp>
        <p:nvSpPr>
          <p:cNvPr id="153" name="Google Shape;153;p3"/>
          <p:cNvSpPr/>
          <p:nvPr/>
        </p:nvSpPr>
        <p:spPr>
          <a:xfrm>
            <a:off x="2368296" y="3813048"/>
            <a:ext cx="603504" cy="310896"/>
          </a:xfrm>
          <a:prstGeom prst="roundRect">
            <a:avLst>
              <a:gd fmla="val 50000" name="adj"/>
            </a:avLst>
          </a:prstGeom>
          <a:solidFill>
            <a:srgbClr val="FFFFFF"/>
          </a:solidFill>
          <a:ln cap="flat" cmpd="sng" w="9525">
            <a:solidFill>
              <a:srgbClr val="7C9A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txBox="1"/>
          <p:nvPr/>
        </p:nvSpPr>
        <p:spPr>
          <a:xfrm>
            <a:off x="2368296" y="3905749"/>
            <a:ext cx="6036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lang="en-US" sz="700">
                <a:solidFill>
                  <a:srgbClr val="5F7B4F"/>
                </a:solidFill>
              </a:rPr>
              <a:t>high</a:t>
            </a:r>
            <a:endParaRPr/>
          </a:p>
        </p:txBody>
      </p:sp>
      <p:sp>
        <p:nvSpPr>
          <p:cNvPr id="155" name="Google Shape;155;p3"/>
          <p:cNvSpPr/>
          <p:nvPr/>
        </p:nvSpPr>
        <p:spPr>
          <a:xfrm>
            <a:off x="1051560" y="4434840"/>
            <a:ext cx="128016" cy="4572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p:nvPr/>
        </p:nvSpPr>
        <p:spPr>
          <a:xfrm>
            <a:off x="1234439" y="4434840"/>
            <a:ext cx="128016" cy="45720"/>
          </a:xfrm>
          <a:prstGeom prst="rect">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3"/>
          <p:cNvSpPr/>
          <p:nvPr/>
        </p:nvSpPr>
        <p:spPr>
          <a:xfrm>
            <a:off x="1417319" y="4434840"/>
            <a:ext cx="128016" cy="45720"/>
          </a:xfrm>
          <a:prstGeom prst="rect">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p:nvPr/>
        </p:nvSpPr>
        <p:spPr>
          <a:xfrm>
            <a:off x="1600200" y="4434840"/>
            <a:ext cx="128016" cy="45720"/>
          </a:xfrm>
          <a:prstGeom prst="rect">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3"/>
          <p:cNvSpPr/>
          <p:nvPr/>
        </p:nvSpPr>
        <p:spPr>
          <a:xfrm>
            <a:off x="3584448" y="2057400"/>
            <a:ext cx="2331720" cy="3108960"/>
          </a:xfrm>
          <a:prstGeom prst="roundRect">
            <a:avLst>
              <a:gd fmla="val 7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3"/>
          <p:cNvSpPr/>
          <p:nvPr/>
        </p:nvSpPr>
        <p:spPr>
          <a:xfrm>
            <a:off x="3584448" y="2057400"/>
            <a:ext cx="2331720" cy="457200"/>
          </a:xfrm>
          <a:prstGeom prst="round2SameRect">
            <a:avLst>
              <a:gd fmla="val 12000" name="adj1"/>
              <a:gd fmla="val 0" name="adj2"/>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3"/>
          <p:cNvSpPr txBox="1"/>
          <p:nvPr/>
        </p:nvSpPr>
        <p:spPr>
          <a:xfrm>
            <a:off x="3767328" y="2103120"/>
            <a:ext cx="20574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sz="1000">
                <a:solidFill>
                  <a:srgbClr val="FFFFFF"/>
                </a:solidFill>
              </a:rPr>
              <a:t>your pantry</a:t>
            </a:r>
            <a:endParaRPr/>
          </a:p>
        </p:txBody>
      </p:sp>
      <p:sp>
        <p:nvSpPr>
          <p:cNvPr id="162" name="Google Shape;162;p3"/>
          <p:cNvSpPr/>
          <p:nvPr/>
        </p:nvSpPr>
        <p:spPr>
          <a:xfrm>
            <a:off x="3767328" y="2679192"/>
            <a:ext cx="1965960" cy="502920"/>
          </a:xfrm>
          <a:prstGeom prst="roundRect">
            <a:avLst>
              <a:gd fmla="val 20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3"/>
          <p:cNvSpPr txBox="1"/>
          <p:nvPr/>
        </p:nvSpPr>
        <p:spPr>
          <a:xfrm>
            <a:off x="3886200" y="2715768"/>
            <a:ext cx="1783200" cy="25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00" u="none" cap="none" strike="noStrike">
                <a:solidFill>
                  <a:srgbClr val="5F7B4F"/>
                </a:solidFill>
                <a:latin typeface="Arial"/>
                <a:ea typeface="Arial"/>
                <a:cs typeface="Arial"/>
                <a:sym typeface="Arial"/>
              </a:rPr>
              <a:t>EMPFOHLEN</a:t>
            </a:r>
            <a:endParaRPr/>
          </a:p>
          <a:p>
            <a:pPr indent="0" lvl="0" marL="0" marR="0" rtl="0" algn="l">
              <a:lnSpc>
                <a:spcPct val="100000"/>
              </a:lnSpc>
              <a:spcBef>
                <a:spcPts val="100"/>
              </a:spcBef>
              <a:spcAft>
                <a:spcPts val="0"/>
              </a:spcAft>
              <a:buNone/>
            </a:pPr>
            <a:r>
              <a:rPr b="1" i="0" lang="en-US" sz="850" u="none" cap="none" strike="noStrike">
                <a:solidFill>
                  <a:srgbClr val="1D1D21"/>
                </a:solidFill>
                <a:latin typeface="Arial"/>
                <a:ea typeface="Arial"/>
                <a:cs typeface="Arial"/>
                <a:sym typeface="Arial"/>
              </a:rPr>
              <a:t>🥛 </a:t>
            </a:r>
            <a:r>
              <a:rPr b="1" lang="en-US" sz="850">
                <a:solidFill>
                  <a:srgbClr val="1D1D21"/>
                </a:solidFill>
              </a:rPr>
              <a:t>Drink</a:t>
            </a:r>
            <a:r>
              <a:rPr b="1" i="0" lang="en-US" sz="850" u="none" cap="none" strike="noStrike">
                <a:solidFill>
                  <a:srgbClr val="1D1D21"/>
                </a:solidFill>
                <a:latin typeface="Arial"/>
                <a:ea typeface="Arial"/>
                <a:cs typeface="Arial"/>
                <a:sym typeface="Arial"/>
              </a:rPr>
              <a:t> d</a:t>
            </a:r>
            <a:r>
              <a:rPr b="1" lang="en-US" sz="850">
                <a:solidFill>
                  <a:srgbClr val="1D1D21"/>
                </a:solidFill>
              </a:rPr>
              <a:t>your milk</a:t>
            </a:r>
            <a:endParaRPr/>
          </a:p>
        </p:txBody>
      </p:sp>
      <p:sp>
        <p:nvSpPr>
          <p:cNvPr id="164" name="Google Shape;164;p3"/>
          <p:cNvSpPr/>
          <p:nvPr/>
        </p:nvSpPr>
        <p:spPr>
          <a:xfrm>
            <a:off x="3767328" y="3355848"/>
            <a:ext cx="1965960"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3"/>
          <p:cNvSpPr txBox="1"/>
          <p:nvPr/>
        </p:nvSpPr>
        <p:spPr>
          <a:xfrm>
            <a:off x="3886200" y="3355848"/>
            <a:ext cx="13716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1D1D21"/>
                </a:solidFill>
                <a:latin typeface="Arial"/>
                <a:ea typeface="Arial"/>
                <a:cs typeface="Arial"/>
                <a:sym typeface="Arial"/>
              </a:rPr>
              <a:t>🍗 </a:t>
            </a:r>
            <a:r>
              <a:rPr lang="en-US" sz="800">
                <a:solidFill>
                  <a:srgbClr val="1D1D21"/>
                </a:solidFill>
              </a:rPr>
              <a:t>Chicken Breast</a:t>
            </a:r>
            <a:endParaRPr/>
          </a:p>
        </p:txBody>
      </p:sp>
      <p:sp>
        <p:nvSpPr>
          <p:cNvPr id="166" name="Google Shape;166;p3"/>
          <p:cNvSpPr txBox="1"/>
          <p:nvPr/>
        </p:nvSpPr>
        <p:spPr>
          <a:xfrm>
            <a:off x="5138928" y="3355848"/>
            <a:ext cx="548640"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700" u="none" cap="none" strike="noStrike">
                <a:solidFill>
                  <a:srgbClr val="B36A4A"/>
                </a:solidFill>
                <a:latin typeface="Arial"/>
                <a:ea typeface="Arial"/>
                <a:cs typeface="Arial"/>
                <a:sym typeface="Arial"/>
              </a:rPr>
              <a:t>1 Tag</a:t>
            </a:r>
            <a:endParaRPr/>
          </a:p>
        </p:txBody>
      </p:sp>
      <p:sp>
        <p:nvSpPr>
          <p:cNvPr id="167" name="Google Shape;167;p3"/>
          <p:cNvSpPr/>
          <p:nvPr/>
        </p:nvSpPr>
        <p:spPr>
          <a:xfrm>
            <a:off x="3767328" y="3904487"/>
            <a:ext cx="1965960"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3"/>
          <p:cNvSpPr txBox="1"/>
          <p:nvPr/>
        </p:nvSpPr>
        <p:spPr>
          <a:xfrm>
            <a:off x="3886200" y="3904487"/>
            <a:ext cx="13716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1D1D21"/>
                </a:solidFill>
                <a:latin typeface="Arial"/>
                <a:ea typeface="Arial"/>
                <a:cs typeface="Arial"/>
                <a:sym typeface="Arial"/>
              </a:rPr>
              <a:t>🥛 </a:t>
            </a:r>
            <a:r>
              <a:rPr lang="en-US" sz="800">
                <a:solidFill>
                  <a:srgbClr val="1D1D21"/>
                </a:solidFill>
              </a:rPr>
              <a:t>Milk</a:t>
            </a:r>
            <a:endParaRPr/>
          </a:p>
        </p:txBody>
      </p:sp>
      <p:sp>
        <p:nvSpPr>
          <p:cNvPr id="169" name="Google Shape;169;p3"/>
          <p:cNvSpPr txBox="1"/>
          <p:nvPr/>
        </p:nvSpPr>
        <p:spPr>
          <a:xfrm>
            <a:off x="5138928" y="3904487"/>
            <a:ext cx="548640"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700" u="none" cap="none" strike="noStrike">
                <a:solidFill>
                  <a:srgbClr val="B36A4A"/>
                </a:solidFill>
                <a:latin typeface="Arial"/>
                <a:ea typeface="Arial"/>
                <a:cs typeface="Arial"/>
                <a:sym typeface="Arial"/>
              </a:rPr>
              <a:t>2 Tage</a:t>
            </a:r>
            <a:endParaRPr/>
          </a:p>
        </p:txBody>
      </p:sp>
      <p:sp>
        <p:nvSpPr>
          <p:cNvPr id="170" name="Google Shape;170;p3"/>
          <p:cNvSpPr/>
          <p:nvPr/>
        </p:nvSpPr>
        <p:spPr>
          <a:xfrm>
            <a:off x="3767328" y="4453128"/>
            <a:ext cx="1965960"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3"/>
          <p:cNvSpPr txBox="1"/>
          <p:nvPr/>
        </p:nvSpPr>
        <p:spPr>
          <a:xfrm>
            <a:off x="3886200" y="4453128"/>
            <a:ext cx="13716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1D1D21"/>
                </a:solidFill>
                <a:latin typeface="Arial"/>
                <a:ea typeface="Arial"/>
                <a:cs typeface="Arial"/>
                <a:sym typeface="Arial"/>
              </a:rPr>
              <a:t>🥦 Bro</a:t>
            </a:r>
            <a:r>
              <a:rPr lang="en-US" sz="800">
                <a:solidFill>
                  <a:srgbClr val="1D1D21"/>
                </a:solidFill>
              </a:rPr>
              <a:t>cc</a:t>
            </a:r>
            <a:r>
              <a:rPr b="0" i="0" lang="en-US" sz="800" u="none" cap="none" strike="noStrike">
                <a:solidFill>
                  <a:srgbClr val="1D1D21"/>
                </a:solidFill>
                <a:latin typeface="Arial"/>
                <a:ea typeface="Arial"/>
                <a:cs typeface="Arial"/>
                <a:sym typeface="Arial"/>
              </a:rPr>
              <a:t>oli</a:t>
            </a:r>
            <a:endParaRPr/>
          </a:p>
        </p:txBody>
      </p:sp>
      <p:sp>
        <p:nvSpPr>
          <p:cNvPr id="172" name="Google Shape;172;p3"/>
          <p:cNvSpPr txBox="1"/>
          <p:nvPr/>
        </p:nvSpPr>
        <p:spPr>
          <a:xfrm>
            <a:off x="5138928" y="4453128"/>
            <a:ext cx="548640"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700" u="none" cap="none" strike="noStrike">
                <a:solidFill>
                  <a:srgbClr val="5F7B4F"/>
                </a:solidFill>
                <a:latin typeface="Arial"/>
                <a:ea typeface="Arial"/>
                <a:cs typeface="Arial"/>
                <a:sym typeface="Arial"/>
              </a:rPr>
              <a:t>frisch</a:t>
            </a:r>
            <a:endParaRPr/>
          </a:p>
        </p:txBody>
      </p:sp>
      <p:sp>
        <p:nvSpPr>
          <p:cNvPr id="173" name="Google Shape;173;p3"/>
          <p:cNvSpPr/>
          <p:nvPr/>
        </p:nvSpPr>
        <p:spPr>
          <a:xfrm>
            <a:off x="6300216" y="2057400"/>
            <a:ext cx="2331720" cy="3108960"/>
          </a:xfrm>
          <a:prstGeom prst="roundRect">
            <a:avLst>
              <a:gd fmla="val 7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3"/>
          <p:cNvSpPr/>
          <p:nvPr/>
        </p:nvSpPr>
        <p:spPr>
          <a:xfrm>
            <a:off x="6300216" y="2057400"/>
            <a:ext cx="2331720" cy="457200"/>
          </a:xfrm>
          <a:prstGeom prst="round2SameRect">
            <a:avLst>
              <a:gd fmla="val 12000" name="adj1"/>
              <a:gd fmla="val 0" name="adj2"/>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3"/>
          <p:cNvSpPr txBox="1"/>
          <p:nvPr/>
        </p:nvSpPr>
        <p:spPr>
          <a:xfrm>
            <a:off x="6483096" y="2103120"/>
            <a:ext cx="20574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sz="1000">
                <a:solidFill>
                  <a:srgbClr val="FFFFFF"/>
                </a:solidFill>
              </a:rPr>
              <a:t>Daily</a:t>
            </a:r>
            <a:r>
              <a:rPr b="1" i="0" lang="en-US" sz="1000" u="none" cap="none" strike="noStrike">
                <a:solidFill>
                  <a:srgbClr val="FFFFFF"/>
                </a:solidFill>
                <a:latin typeface="Arial"/>
                <a:ea typeface="Arial"/>
                <a:cs typeface="Arial"/>
                <a:sym typeface="Arial"/>
              </a:rPr>
              <a:t>-Log</a:t>
            </a:r>
            <a:endParaRPr/>
          </a:p>
        </p:txBody>
      </p:sp>
      <p:sp>
        <p:nvSpPr>
          <p:cNvPr id="176" name="Google Shape;176;p3"/>
          <p:cNvSpPr txBox="1"/>
          <p:nvPr/>
        </p:nvSpPr>
        <p:spPr>
          <a:xfrm>
            <a:off x="6483096" y="2807208"/>
            <a:ext cx="196596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750" u="none" cap="none" strike="noStrike">
                <a:solidFill>
                  <a:srgbClr val="1D1D21"/>
                </a:solidFill>
                <a:latin typeface="Arial"/>
                <a:ea typeface="Arial"/>
                <a:cs typeface="Arial"/>
                <a:sym typeface="Arial"/>
              </a:rPr>
              <a:t>Protein</a:t>
            </a:r>
            <a:r>
              <a:rPr b="0" i="0" lang="en-US" sz="700" u="none" cap="none" strike="noStrike">
                <a:solidFill>
                  <a:srgbClr val="6E6F74"/>
                </a:solidFill>
                <a:latin typeface="Arial"/>
                <a:ea typeface="Arial"/>
                <a:cs typeface="Arial"/>
                <a:sym typeface="Arial"/>
              </a:rPr>
              <a:t>   62 / 120 g</a:t>
            </a:r>
            <a:endParaRPr/>
          </a:p>
        </p:txBody>
      </p:sp>
      <p:sp>
        <p:nvSpPr>
          <p:cNvPr id="177" name="Google Shape;177;p3"/>
          <p:cNvSpPr/>
          <p:nvPr/>
        </p:nvSpPr>
        <p:spPr>
          <a:xfrm>
            <a:off x="6483096" y="3081527"/>
            <a:ext cx="1965960" cy="128016"/>
          </a:xfrm>
          <a:prstGeom prst="roundRect">
            <a:avLst>
              <a:gd fmla="val 50000" name="adj"/>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3"/>
          <p:cNvSpPr/>
          <p:nvPr/>
        </p:nvSpPr>
        <p:spPr>
          <a:xfrm>
            <a:off x="6483096" y="3081527"/>
            <a:ext cx="1022299" cy="128016"/>
          </a:xfrm>
          <a:prstGeom prst="roundRect">
            <a:avLst>
              <a:gd fmla="val 50000" name="adj"/>
            </a:avLst>
          </a:prstGeom>
          <a:solidFill>
            <a:srgbClr val="B36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3"/>
          <p:cNvSpPr txBox="1"/>
          <p:nvPr/>
        </p:nvSpPr>
        <p:spPr>
          <a:xfrm>
            <a:off x="6483096" y="3465576"/>
            <a:ext cx="19659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750">
                <a:solidFill>
                  <a:srgbClr val="1D1D21"/>
                </a:solidFill>
              </a:rPr>
              <a:t>Fibre</a:t>
            </a:r>
            <a:r>
              <a:rPr b="0" i="0" lang="en-US" sz="700" u="none" cap="none" strike="noStrike">
                <a:solidFill>
                  <a:srgbClr val="6E6F74"/>
                </a:solidFill>
                <a:latin typeface="Arial"/>
                <a:ea typeface="Arial"/>
                <a:cs typeface="Arial"/>
                <a:sym typeface="Arial"/>
              </a:rPr>
              <a:t>   11 / 30 g</a:t>
            </a:r>
            <a:endParaRPr/>
          </a:p>
        </p:txBody>
      </p:sp>
      <p:sp>
        <p:nvSpPr>
          <p:cNvPr id="180" name="Google Shape;180;p3"/>
          <p:cNvSpPr/>
          <p:nvPr/>
        </p:nvSpPr>
        <p:spPr>
          <a:xfrm>
            <a:off x="6483096" y="3739896"/>
            <a:ext cx="1965960" cy="128016"/>
          </a:xfrm>
          <a:prstGeom prst="roundRect">
            <a:avLst>
              <a:gd fmla="val 50000" name="adj"/>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3"/>
          <p:cNvSpPr/>
          <p:nvPr/>
        </p:nvSpPr>
        <p:spPr>
          <a:xfrm>
            <a:off x="6483096" y="3739896"/>
            <a:ext cx="727405" cy="128016"/>
          </a:xfrm>
          <a:prstGeom prst="roundRect">
            <a:avLst>
              <a:gd fmla="val 50000" name="adj"/>
            </a:avLst>
          </a:prstGeom>
          <a:solidFill>
            <a:srgbClr val="B36A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3"/>
          <p:cNvSpPr txBox="1"/>
          <p:nvPr/>
        </p:nvSpPr>
        <p:spPr>
          <a:xfrm>
            <a:off x="6483096" y="4123944"/>
            <a:ext cx="19659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750">
                <a:solidFill>
                  <a:srgbClr val="1D1D21"/>
                </a:solidFill>
              </a:rPr>
              <a:t>Calories</a:t>
            </a:r>
            <a:r>
              <a:rPr b="0" i="0" lang="en-US" sz="700" u="none" cap="none" strike="noStrike">
                <a:solidFill>
                  <a:srgbClr val="6E6F74"/>
                </a:solidFill>
                <a:latin typeface="Arial"/>
                <a:ea typeface="Arial"/>
                <a:cs typeface="Arial"/>
                <a:sym typeface="Arial"/>
              </a:rPr>
              <a:t>   1.340 / 2.100</a:t>
            </a:r>
            <a:endParaRPr/>
          </a:p>
        </p:txBody>
      </p:sp>
      <p:sp>
        <p:nvSpPr>
          <p:cNvPr id="183" name="Google Shape;183;p3"/>
          <p:cNvSpPr/>
          <p:nvPr/>
        </p:nvSpPr>
        <p:spPr>
          <a:xfrm>
            <a:off x="6483096" y="4398264"/>
            <a:ext cx="1965960" cy="128016"/>
          </a:xfrm>
          <a:prstGeom prst="roundRect">
            <a:avLst>
              <a:gd fmla="val 50000" name="adj"/>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3"/>
          <p:cNvSpPr/>
          <p:nvPr/>
        </p:nvSpPr>
        <p:spPr>
          <a:xfrm>
            <a:off x="6483096" y="4398264"/>
            <a:ext cx="1258214" cy="128016"/>
          </a:xfrm>
          <a:prstGeom prst="roundRect">
            <a:avLst>
              <a:gd fmla="val 50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3"/>
          <p:cNvSpPr/>
          <p:nvPr/>
        </p:nvSpPr>
        <p:spPr>
          <a:xfrm>
            <a:off x="9015984" y="2057400"/>
            <a:ext cx="2331720" cy="3108960"/>
          </a:xfrm>
          <a:prstGeom prst="roundRect">
            <a:avLst>
              <a:gd fmla="val 7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3"/>
          <p:cNvSpPr/>
          <p:nvPr/>
        </p:nvSpPr>
        <p:spPr>
          <a:xfrm>
            <a:off x="9015984" y="2057400"/>
            <a:ext cx="2331720" cy="457200"/>
          </a:xfrm>
          <a:prstGeom prst="round2SameRect">
            <a:avLst>
              <a:gd fmla="val 12000" name="adj1"/>
              <a:gd fmla="val 0" name="adj2"/>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3"/>
          <p:cNvSpPr txBox="1"/>
          <p:nvPr/>
        </p:nvSpPr>
        <p:spPr>
          <a:xfrm>
            <a:off x="9198863" y="2103120"/>
            <a:ext cx="2057400"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Insights</a:t>
            </a:r>
            <a:endParaRPr/>
          </a:p>
        </p:txBody>
      </p:sp>
      <p:sp>
        <p:nvSpPr>
          <p:cNvPr id="188" name="Google Shape;188;p3"/>
          <p:cNvSpPr txBox="1"/>
          <p:nvPr/>
        </p:nvSpPr>
        <p:spPr>
          <a:xfrm>
            <a:off x="9198863" y="2624328"/>
            <a:ext cx="1965960" cy="60350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000" u="none" cap="none" strike="noStrike">
                <a:solidFill>
                  <a:srgbClr val="5F7B4F"/>
                </a:solidFill>
                <a:latin typeface="Arial"/>
                <a:ea typeface="Arial"/>
                <a:cs typeface="Arial"/>
                <a:sym typeface="Arial"/>
              </a:rPr>
              <a:t>72</a:t>
            </a:r>
            <a:endParaRPr/>
          </a:p>
        </p:txBody>
      </p:sp>
      <p:sp>
        <p:nvSpPr>
          <p:cNvPr id="189" name="Google Shape;189;p3"/>
          <p:cNvSpPr txBox="1"/>
          <p:nvPr/>
        </p:nvSpPr>
        <p:spPr>
          <a:xfrm>
            <a:off x="9198863" y="3227832"/>
            <a:ext cx="19659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800">
                <a:solidFill>
                  <a:srgbClr val="6E6F74"/>
                </a:solidFill>
              </a:rPr>
              <a:t>Week</a:t>
            </a:r>
            <a:r>
              <a:rPr b="0" i="0" lang="en-US" sz="800" u="none" cap="none" strike="noStrike">
                <a:solidFill>
                  <a:srgbClr val="6E6F74"/>
                </a:solidFill>
                <a:latin typeface="Arial"/>
                <a:ea typeface="Arial"/>
                <a:cs typeface="Arial"/>
                <a:sym typeface="Arial"/>
              </a:rPr>
              <a:t>-Score · </a:t>
            </a:r>
            <a:r>
              <a:rPr lang="en-US" sz="800">
                <a:solidFill>
                  <a:srgbClr val="6E6F74"/>
                </a:solidFill>
              </a:rPr>
              <a:t>Good</a:t>
            </a:r>
            <a:endParaRPr/>
          </a:p>
        </p:txBody>
      </p:sp>
      <p:sp>
        <p:nvSpPr>
          <p:cNvPr id="190" name="Google Shape;190;p3"/>
          <p:cNvSpPr/>
          <p:nvPr/>
        </p:nvSpPr>
        <p:spPr>
          <a:xfrm>
            <a:off x="9198863" y="3593591"/>
            <a:ext cx="932688"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3"/>
          <p:cNvSpPr txBox="1"/>
          <p:nvPr/>
        </p:nvSpPr>
        <p:spPr>
          <a:xfrm>
            <a:off x="9299447" y="3593591"/>
            <a:ext cx="7773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700" u="none" cap="none" strike="noStrike">
                <a:solidFill>
                  <a:srgbClr val="1D1D21"/>
                </a:solidFill>
                <a:latin typeface="Arial"/>
                <a:ea typeface="Arial"/>
                <a:cs typeface="Arial"/>
                <a:sym typeface="Arial"/>
              </a:rPr>
              <a:t>Protein</a:t>
            </a:r>
            <a:endParaRPr/>
          </a:p>
          <a:p>
            <a:pPr indent="0" lvl="0" marL="0" marR="0" rtl="0" algn="l">
              <a:lnSpc>
                <a:spcPct val="100000"/>
              </a:lnSpc>
              <a:spcBef>
                <a:spcPts val="0"/>
              </a:spcBef>
              <a:spcAft>
                <a:spcPts val="0"/>
              </a:spcAft>
              <a:buNone/>
            </a:pPr>
            <a:r>
              <a:rPr b="1" lang="en-US" sz="750">
                <a:solidFill>
                  <a:srgbClr val="B36A4A"/>
                </a:solidFill>
              </a:rPr>
              <a:t>low</a:t>
            </a:r>
            <a:endParaRPr/>
          </a:p>
        </p:txBody>
      </p:sp>
      <p:sp>
        <p:nvSpPr>
          <p:cNvPr id="192" name="Google Shape;192;p3"/>
          <p:cNvSpPr/>
          <p:nvPr/>
        </p:nvSpPr>
        <p:spPr>
          <a:xfrm>
            <a:off x="10204703" y="3593591"/>
            <a:ext cx="932688"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3"/>
          <p:cNvSpPr txBox="1"/>
          <p:nvPr/>
        </p:nvSpPr>
        <p:spPr>
          <a:xfrm>
            <a:off x="10305287" y="3593591"/>
            <a:ext cx="7773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700">
                <a:solidFill>
                  <a:srgbClr val="1D1D21"/>
                </a:solidFill>
              </a:rPr>
              <a:t>Fibre</a:t>
            </a:r>
            <a:r>
              <a:rPr b="0" i="0" lang="en-US" sz="700" u="none" cap="none" strike="noStrike">
                <a:solidFill>
                  <a:srgbClr val="1D1D21"/>
                </a:solidFill>
                <a:latin typeface="Arial"/>
                <a:ea typeface="Arial"/>
                <a:cs typeface="Arial"/>
                <a:sym typeface="Arial"/>
              </a:rPr>
              <a:t>.</a:t>
            </a:r>
            <a:endParaRPr/>
          </a:p>
          <a:p>
            <a:pPr indent="0" lvl="0" marL="0" marR="0" rtl="0" algn="l">
              <a:lnSpc>
                <a:spcPct val="100000"/>
              </a:lnSpc>
              <a:spcBef>
                <a:spcPts val="0"/>
              </a:spcBef>
              <a:spcAft>
                <a:spcPts val="0"/>
              </a:spcAft>
              <a:buNone/>
            </a:pPr>
            <a:r>
              <a:rPr b="1" lang="en-US" sz="750">
                <a:solidFill>
                  <a:srgbClr val="B36A4A"/>
                </a:solidFill>
              </a:rPr>
              <a:t>low</a:t>
            </a:r>
            <a:endParaRPr/>
          </a:p>
        </p:txBody>
      </p:sp>
      <p:sp>
        <p:nvSpPr>
          <p:cNvPr id="194" name="Google Shape;194;p3"/>
          <p:cNvSpPr/>
          <p:nvPr/>
        </p:nvSpPr>
        <p:spPr>
          <a:xfrm>
            <a:off x="9198863" y="4142231"/>
            <a:ext cx="932688"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3"/>
          <p:cNvSpPr txBox="1"/>
          <p:nvPr/>
        </p:nvSpPr>
        <p:spPr>
          <a:xfrm>
            <a:off x="9299447" y="4142231"/>
            <a:ext cx="7773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700">
                <a:solidFill>
                  <a:srgbClr val="1D1D21"/>
                </a:solidFill>
              </a:rPr>
              <a:t>Sugra</a:t>
            </a:r>
            <a:endParaRPr/>
          </a:p>
          <a:p>
            <a:pPr indent="0" lvl="0" marL="0" marR="0" rtl="0" algn="l">
              <a:lnSpc>
                <a:spcPct val="100000"/>
              </a:lnSpc>
              <a:spcBef>
                <a:spcPts val="0"/>
              </a:spcBef>
              <a:spcAft>
                <a:spcPts val="0"/>
              </a:spcAft>
              <a:buNone/>
            </a:pPr>
            <a:r>
              <a:rPr b="1" i="0" lang="en-US" sz="750" u="none" cap="none" strike="noStrike">
                <a:solidFill>
                  <a:srgbClr val="5F7B4F"/>
                </a:solidFill>
                <a:latin typeface="Arial"/>
                <a:ea typeface="Arial"/>
                <a:cs typeface="Arial"/>
                <a:sym typeface="Arial"/>
              </a:rPr>
              <a:t>ok</a:t>
            </a:r>
            <a:endParaRPr/>
          </a:p>
        </p:txBody>
      </p:sp>
      <p:sp>
        <p:nvSpPr>
          <p:cNvPr id="196" name="Google Shape;196;p3"/>
          <p:cNvSpPr/>
          <p:nvPr/>
        </p:nvSpPr>
        <p:spPr>
          <a:xfrm>
            <a:off x="10204703" y="4142231"/>
            <a:ext cx="932688" cy="457200"/>
          </a:xfrm>
          <a:prstGeom prst="roundRect">
            <a:avLst>
              <a:gd fmla="val 20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3"/>
          <p:cNvSpPr txBox="1"/>
          <p:nvPr/>
        </p:nvSpPr>
        <p:spPr>
          <a:xfrm>
            <a:off x="10305287" y="4142231"/>
            <a:ext cx="7773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700">
                <a:solidFill>
                  <a:srgbClr val="1D1D21"/>
                </a:solidFill>
              </a:rPr>
              <a:t>Calories</a:t>
            </a:r>
            <a:endParaRPr/>
          </a:p>
          <a:p>
            <a:pPr indent="0" lvl="0" marL="0" marR="0" rtl="0" algn="l">
              <a:lnSpc>
                <a:spcPct val="100000"/>
              </a:lnSpc>
              <a:spcBef>
                <a:spcPts val="0"/>
              </a:spcBef>
              <a:spcAft>
                <a:spcPts val="0"/>
              </a:spcAft>
              <a:buNone/>
            </a:pPr>
            <a:r>
              <a:rPr b="1" i="0" lang="en-US" sz="750" u="none" cap="none" strike="noStrike">
                <a:solidFill>
                  <a:srgbClr val="5F7B4F"/>
                </a:solidFill>
                <a:latin typeface="Arial"/>
                <a:ea typeface="Arial"/>
                <a:cs typeface="Arial"/>
                <a:sym typeface="Arial"/>
              </a:rPr>
              <a:t>ok</a:t>
            </a:r>
            <a:endParaRPr/>
          </a:p>
        </p:txBody>
      </p:sp>
      <p:sp>
        <p:nvSpPr>
          <p:cNvPr id="198" name="Google Shape;198;p3"/>
          <p:cNvSpPr txBox="1"/>
          <p:nvPr/>
        </p:nvSpPr>
        <p:spPr>
          <a:xfrm>
            <a:off x="822960" y="5852160"/>
            <a:ext cx="105156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100" u="none" cap="none" strike="noStrike">
                <a:solidFill>
                  <a:srgbClr val="6E6F74"/>
                </a:solidFill>
                <a:latin typeface="Arial"/>
                <a:ea typeface="Arial"/>
                <a:cs typeface="Arial"/>
                <a:sym typeface="Arial"/>
              </a:rPr>
              <a:t>Fully clickable prototype</a:t>
            </a:r>
            <a:r>
              <a:rPr i="1" lang="en-US" sz="1100">
                <a:solidFill>
                  <a:srgbClr val="6E6F74"/>
                </a:solidFill>
              </a:rPr>
              <a:t>.</a:t>
            </a:r>
            <a:r>
              <a:rPr b="0" i="1" lang="en-US" sz="1100" u="none" cap="none" strike="noStrike">
                <a:solidFill>
                  <a:srgbClr val="6E6F74"/>
                </a:solidFill>
                <a:latin typeface="Arial"/>
                <a:ea typeface="Arial"/>
                <a:cs typeface="Arial"/>
                <a:sym typeface="Arial"/>
              </a:rPr>
              <a:t> </a:t>
            </a:r>
            <a:r>
              <a:rPr b="1" i="1" lang="en-US" sz="1100" u="none" cap="none" strike="noStrike">
                <a:solidFill>
                  <a:srgbClr val="5F7B4F"/>
                </a:solidFill>
                <a:latin typeface="Arial"/>
                <a:ea typeface="Arial"/>
                <a:cs typeface="Arial"/>
                <a:sym typeface="Arial"/>
              </a:rPr>
              <a:t>Estimates from your groceries + taps — not medical advice.</a:t>
            </a:r>
            <a:endParaRPr/>
          </a:p>
        </p:txBody>
      </p:sp>
      <p:sp>
        <p:nvSpPr>
          <p:cNvPr id="199" name="Google Shape;199;p3"/>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200" name="Google Shape;200;p3"/>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03 / 13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05" name="Shape 205"/>
        <p:cNvGrpSpPr/>
        <p:nvPr/>
      </p:nvGrpSpPr>
      <p:grpSpPr>
        <a:xfrm>
          <a:off x="0" y="0"/>
          <a:ext cx="0" cy="0"/>
          <a:chOff x="0" y="0"/>
          <a:chExt cx="0" cy="0"/>
        </a:xfrm>
      </p:grpSpPr>
      <p:sp>
        <p:nvSpPr>
          <p:cNvPr id="206" name="Google Shape;206;p4"/>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HONEST BY DESIGN</a:t>
            </a:r>
            <a:endParaRPr/>
          </a:p>
        </p:txBody>
      </p:sp>
      <p:sp>
        <p:nvSpPr>
          <p:cNvPr id="207" name="Google Shape;207;p4"/>
          <p:cNvSpPr txBox="1"/>
          <p:nvPr/>
        </p:nvSpPr>
        <p:spPr>
          <a:xfrm>
            <a:off x="822960" y="841248"/>
            <a:ext cx="1069848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1D1D21"/>
                </a:solidFill>
                <a:latin typeface="Arial"/>
                <a:ea typeface="Arial"/>
                <a:cs typeface="Arial"/>
                <a:sym typeface="Arial"/>
              </a:rPr>
              <a:t>We show only what your data actually supports</a:t>
            </a:r>
            <a:endParaRPr/>
          </a:p>
        </p:txBody>
      </p:sp>
      <p:sp>
        <p:nvSpPr>
          <p:cNvPr id="208" name="Google Shape;208;p4"/>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4"/>
          <p:cNvSpPr txBox="1"/>
          <p:nvPr/>
        </p:nvSpPr>
        <p:spPr>
          <a:xfrm>
            <a:off x="822960" y="1517904"/>
            <a:ext cx="105156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300" u="none" cap="none" strike="noStrike">
                <a:solidFill>
                  <a:srgbClr val="6E6F74"/>
                </a:solidFill>
                <a:latin typeface="Arial"/>
                <a:ea typeface="Arial"/>
                <a:cs typeface="Arial"/>
                <a:sym typeface="Arial"/>
              </a:rPr>
              <a:t>The more you track, the more we can say — and we never pretend to know more than we do.</a:t>
            </a:r>
            <a:endParaRPr/>
          </a:p>
        </p:txBody>
      </p:sp>
      <p:sp>
        <p:nvSpPr>
          <p:cNvPr id="210" name="Google Shape;210;p4"/>
          <p:cNvSpPr/>
          <p:nvPr/>
        </p:nvSpPr>
        <p:spPr>
          <a:xfrm>
            <a:off x="822960" y="2148840"/>
            <a:ext cx="1956816" cy="25146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4"/>
          <p:cNvSpPr/>
          <p:nvPr/>
        </p:nvSpPr>
        <p:spPr>
          <a:xfrm>
            <a:off x="822960" y="2148840"/>
            <a:ext cx="1956816" cy="603504"/>
          </a:xfrm>
          <a:prstGeom prst="round2SameRect">
            <a:avLst>
              <a:gd fmla="val 9000" name="adj1"/>
              <a:gd fmla="val 0" name="adj2"/>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4"/>
          <p:cNvSpPr txBox="1"/>
          <p:nvPr/>
        </p:nvSpPr>
        <p:spPr>
          <a:xfrm>
            <a:off x="822960" y="2240280"/>
            <a:ext cx="1956816" cy="42062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1D1D21"/>
                </a:solidFill>
                <a:latin typeface="Arial"/>
                <a:ea typeface="Arial"/>
                <a:cs typeface="Arial"/>
                <a:sym typeface="Arial"/>
              </a:rPr>
              <a:t>DAY 0</a:t>
            </a:r>
            <a:endParaRPr/>
          </a:p>
        </p:txBody>
      </p:sp>
      <p:sp>
        <p:nvSpPr>
          <p:cNvPr id="213" name="Google Shape;213;p4"/>
          <p:cNvSpPr txBox="1"/>
          <p:nvPr/>
        </p:nvSpPr>
        <p:spPr>
          <a:xfrm>
            <a:off x="1024128" y="2898648"/>
            <a:ext cx="1591056"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Your targets</a:t>
            </a:r>
            <a:endParaRPr/>
          </a:p>
        </p:txBody>
      </p:sp>
      <p:sp>
        <p:nvSpPr>
          <p:cNvPr id="214" name="Google Shape;214;p4"/>
          <p:cNvSpPr txBox="1"/>
          <p:nvPr/>
        </p:nvSpPr>
        <p:spPr>
          <a:xfrm>
            <a:off x="1024128" y="3383280"/>
            <a:ext cx="1591056" cy="11887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150" u="none" cap="none" strike="noStrike">
                <a:solidFill>
                  <a:srgbClr val="6E6F74"/>
                </a:solidFill>
                <a:latin typeface="Arial"/>
                <a:ea typeface="Arial"/>
                <a:cs typeface="Arial"/>
                <a:sym typeface="Arial"/>
              </a:rPr>
              <a:t>What to aim for, from your profile. No eating data yet.</a:t>
            </a:r>
            <a:endParaRPr/>
          </a:p>
        </p:txBody>
      </p:sp>
      <p:sp>
        <p:nvSpPr>
          <p:cNvPr id="215" name="Google Shape;215;p4"/>
          <p:cNvSpPr txBox="1"/>
          <p:nvPr/>
        </p:nvSpPr>
        <p:spPr>
          <a:xfrm>
            <a:off x="2761488" y="3017520"/>
            <a:ext cx="2743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216" name="Google Shape;216;p4"/>
          <p:cNvSpPr/>
          <p:nvPr/>
        </p:nvSpPr>
        <p:spPr>
          <a:xfrm>
            <a:off x="2953512" y="2148840"/>
            <a:ext cx="1956816" cy="25146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4"/>
          <p:cNvSpPr/>
          <p:nvPr/>
        </p:nvSpPr>
        <p:spPr>
          <a:xfrm>
            <a:off x="2953512" y="2148840"/>
            <a:ext cx="1956816" cy="603504"/>
          </a:xfrm>
          <a:prstGeom prst="round2SameRect">
            <a:avLst>
              <a:gd fmla="val 9000" name="adj1"/>
              <a:gd fmla="val 0" name="adj2"/>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4"/>
          <p:cNvSpPr txBox="1"/>
          <p:nvPr/>
        </p:nvSpPr>
        <p:spPr>
          <a:xfrm>
            <a:off x="2953512" y="2240280"/>
            <a:ext cx="1956816" cy="42062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1D1D21"/>
                </a:solidFill>
                <a:latin typeface="Arial"/>
                <a:ea typeface="Arial"/>
                <a:cs typeface="Arial"/>
                <a:sym typeface="Arial"/>
              </a:rPr>
              <a:t>1ST RECEIPT</a:t>
            </a:r>
            <a:endParaRPr/>
          </a:p>
        </p:txBody>
      </p:sp>
      <p:sp>
        <p:nvSpPr>
          <p:cNvPr id="219" name="Google Shape;219;p4"/>
          <p:cNvSpPr txBox="1"/>
          <p:nvPr/>
        </p:nvSpPr>
        <p:spPr>
          <a:xfrm>
            <a:off x="3154680" y="2898648"/>
            <a:ext cx="1591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Your </a:t>
            </a:r>
            <a:r>
              <a:rPr b="1" lang="en-US" sz="1500">
                <a:solidFill>
                  <a:srgbClr val="1D1D21"/>
                </a:solidFill>
              </a:rPr>
              <a:t>pantry</a:t>
            </a:r>
            <a:endParaRPr/>
          </a:p>
        </p:txBody>
      </p:sp>
      <p:sp>
        <p:nvSpPr>
          <p:cNvPr id="220" name="Google Shape;220;p4"/>
          <p:cNvSpPr txBox="1"/>
          <p:nvPr/>
        </p:nvSpPr>
        <p:spPr>
          <a:xfrm>
            <a:off x="3154680" y="3383280"/>
            <a:ext cx="1591200" cy="5595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150" u="none" cap="none" strike="noStrike">
                <a:solidFill>
                  <a:srgbClr val="6E6F74"/>
                </a:solidFill>
                <a:latin typeface="Arial"/>
                <a:ea typeface="Arial"/>
                <a:cs typeface="Arial"/>
                <a:sym typeface="Arial"/>
              </a:rPr>
              <a:t>The mix of what you bought — labeled “</a:t>
            </a:r>
            <a:r>
              <a:rPr lang="en-US" sz="1150">
                <a:solidFill>
                  <a:srgbClr val="6E6F74"/>
                </a:solidFill>
              </a:rPr>
              <a:t>pantry</a:t>
            </a:r>
            <a:r>
              <a:rPr b="0" i="0" lang="en-US" sz="1150" u="none" cap="none" strike="noStrike">
                <a:solidFill>
                  <a:srgbClr val="6E6F74"/>
                </a:solidFill>
                <a:latin typeface="Arial"/>
                <a:ea typeface="Arial"/>
                <a:cs typeface="Arial"/>
                <a:sym typeface="Arial"/>
              </a:rPr>
              <a:t>,” never “diet.”</a:t>
            </a:r>
            <a:endParaRPr/>
          </a:p>
        </p:txBody>
      </p:sp>
      <p:sp>
        <p:nvSpPr>
          <p:cNvPr id="221" name="Google Shape;221;p4"/>
          <p:cNvSpPr txBox="1"/>
          <p:nvPr/>
        </p:nvSpPr>
        <p:spPr>
          <a:xfrm>
            <a:off x="4892040" y="3017520"/>
            <a:ext cx="2743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222" name="Google Shape;222;p4"/>
          <p:cNvSpPr/>
          <p:nvPr/>
        </p:nvSpPr>
        <p:spPr>
          <a:xfrm>
            <a:off x="5084064" y="2148840"/>
            <a:ext cx="1956816" cy="25146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4"/>
          <p:cNvSpPr/>
          <p:nvPr/>
        </p:nvSpPr>
        <p:spPr>
          <a:xfrm>
            <a:off x="5084064" y="2148840"/>
            <a:ext cx="1956816" cy="603504"/>
          </a:xfrm>
          <a:prstGeom prst="round2SameRect">
            <a:avLst>
              <a:gd fmla="val 9000" name="adj1"/>
              <a:gd fmla="val 0" name="adj2"/>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4"/>
          <p:cNvSpPr txBox="1"/>
          <p:nvPr/>
        </p:nvSpPr>
        <p:spPr>
          <a:xfrm>
            <a:off x="5084064" y="2240280"/>
            <a:ext cx="1956816" cy="42062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FFFFFF"/>
                </a:solidFill>
                <a:latin typeface="Arial"/>
                <a:ea typeface="Arial"/>
                <a:cs typeface="Arial"/>
                <a:sym typeface="Arial"/>
              </a:rPr>
              <a:t>FEW TAPS</a:t>
            </a:r>
            <a:endParaRPr/>
          </a:p>
        </p:txBody>
      </p:sp>
      <p:sp>
        <p:nvSpPr>
          <p:cNvPr id="225" name="Google Shape;225;p4"/>
          <p:cNvSpPr txBox="1"/>
          <p:nvPr/>
        </p:nvSpPr>
        <p:spPr>
          <a:xfrm>
            <a:off x="5285232" y="2898648"/>
            <a:ext cx="1591056"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Early signs</a:t>
            </a:r>
            <a:endParaRPr/>
          </a:p>
        </p:txBody>
      </p:sp>
      <p:sp>
        <p:nvSpPr>
          <p:cNvPr id="226" name="Google Shape;226;p4"/>
          <p:cNvSpPr txBox="1"/>
          <p:nvPr/>
        </p:nvSpPr>
        <p:spPr>
          <a:xfrm>
            <a:off x="5285232" y="3383280"/>
            <a:ext cx="1591056" cy="11887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150" u="none" cap="none" strike="noStrike">
                <a:solidFill>
                  <a:srgbClr val="6E6F74"/>
                </a:solidFill>
                <a:latin typeface="Arial"/>
                <a:ea typeface="Arial"/>
                <a:cs typeface="Arial"/>
                <a:sym typeface="Arial"/>
              </a:rPr>
              <a:t>Soft hints + a “3 / 7 days tracked” bar. No hard score yet.</a:t>
            </a:r>
            <a:endParaRPr/>
          </a:p>
        </p:txBody>
      </p:sp>
      <p:sp>
        <p:nvSpPr>
          <p:cNvPr id="227" name="Google Shape;227;p4"/>
          <p:cNvSpPr txBox="1"/>
          <p:nvPr/>
        </p:nvSpPr>
        <p:spPr>
          <a:xfrm>
            <a:off x="7022592" y="3017520"/>
            <a:ext cx="2743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228" name="Google Shape;228;p4"/>
          <p:cNvSpPr/>
          <p:nvPr/>
        </p:nvSpPr>
        <p:spPr>
          <a:xfrm>
            <a:off x="7214616" y="2148840"/>
            <a:ext cx="1956816" cy="25146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4"/>
          <p:cNvSpPr/>
          <p:nvPr/>
        </p:nvSpPr>
        <p:spPr>
          <a:xfrm>
            <a:off x="7214616" y="2148840"/>
            <a:ext cx="1956816" cy="603504"/>
          </a:xfrm>
          <a:prstGeom prst="round2SameRect">
            <a:avLst>
              <a:gd fmla="val 9000" name="adj1"/>
              <a:gd fmla="val 0" name="adj2"/>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4"/>
          <p:cNvSpPr txBox="1"/>
          <p:nvPr/>
        </p:nvSpPr>
        <p:spPr>
          <a:xfrm>
            <a:off x="7214616" y="2240280"/>
            <a:ext cx="1956816" cy="42062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FFFFFF"/>
                </a:solidFill>
                <a:latin typeface="Arial"/>
                <a:ea typeface="Arial"/>
                <a:cs typeface="Arial"/>
                <a:sym typeface="Arial"/>
              </a:rPr>
              <a:t>1 WEEK</a:t>
            </a:r>
            <a:endParaRPr/>
          </a:p>
        </p:txBody>
      </p:sp>
      <p:sp>
        <p:nvSpPr>
          <p:cNvPr id="231" name="Google Shape;231;p4"/>
          <p:cNvSpPr txBox="1"/>
          <p:nvPr/>
        </p:nvSpPr>
        <p:spPr>
          <a:xfrm>
            <a:off x="7415784" y="2898648"/>
            <a:ext cx="1591056"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Weekly score</a:t>
            </a:r>
            <a:endParaRPr/>
          </a:p>
        </p:txBody>
      </p:sp>
      <p:sp>
        <p:nvSpPr>
          <p:cNvPr id="232" name="Google Shape;232;p4"/>
          <p:cNvSpPr txBox="1"/>
          <p:nvPr/>
        </p:nvSpPr>
        <p:spPr>
          <a:xfrm>
            <a:off x="7415784" y="3383280"/>
            <a:ext cx="1591056" cy="11887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150" u="none" cap="none" strike="noStrike">
                <a:solidFill>
                  <a:srgbClr val="6E6F74"/>
                </a:solidFill>
                <a:latin typeface="Arial"/>
                <a:ea typeface="Arial"/>
                <a:cs typeface="Arial"/>
                <a:sym typeface="Arial"/>
              </a:rPr>
              <a:t>Your main number: gaps per nutrient, allowing for meals eaten out.</a:t>
            </a:r>
            <a:endParaRPr/>
          </a:p>
        </p:txBody>
      </p:sp>
      <p:sp>
        <p:nvSpPr>
          <p:cNvPr id="233" name="Google Shape;233;p4"/>
          <p:cNvSpPr txBox="1"/>
          <p:nvPr/>
        </p:nvSpPr>
        <p:spPr>
          <a:xfrm>
            <a:off x="9153144" y="3017520"/>
            <a:ext cx="2743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7C9A6A"/>
                </a:solidFill>
                <a:latin typeface="Arial"/>
                <a:ea typeface="Arial"/>
                <a:cs typeface="Arial"/>
                <a:sym typeface="Arial"/>
              </a:rPr>
              <a:t>›</a:t>
            </a:r>
            <a:endParaRPr/>
          </a:p>
        </p:txBody>
      </p:sp>
      <p:sp>
        <p:nvSpPr>
          <p:cNvPr id="234" name="Google Shape;234;p4"/>
          <p:cNvSpPr/>
          <p:nvPr/>
        </p:nvSpPr>
        <p:spPr>
          <a:xfrm>
            <a:off x="9345168" y="2148840"/>
            <a:ext cx="1956816" cy="25146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4"/>
          <p:cNvSpPr/>
          <p:nvPr/>
        </p:nvSpPr>
        <p:spPr>
          <a:xfrm>
            <a:off x="9345168" y="2148840"/>
            <a:ext cx="1956816" cy="603504"/>
          </a:xfrm>
          <a:prstGeom prst="round2SameRect">
            <a:avLst>
              <a:gd fmla="val 9000" name="adj1"/>
              <a:gd fmla="val 0" name="adj2"/>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4"/>
          <p:cNvSpPr txBox="1"/>
          <p:nvPr/>
        </p:nvSpPr>
        <p:spPr>
          <a:xfrm>
            <a:off x="9345168" y="2240280"/>
            <a:ext cx="1956816" cy="42062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50" u="none" cap="none" strike="noStrike">
                <a:solidFill>
                  <a:srgbClr val="FFFFFF"/>
                </a:solidFill>
                <a:latin typeface="Arial"/>
                <a:ea typeface="Arial"/>
                <a:cs typeface="Arial"/>
                <a:sym typeface="Arial"/>
              </a:rPr>
              <a:t>30–90 DAYS</a:t>
            </a:r>
            <a:endParaRPr/>
          </a:p>
        </p:txBody>
      </p:sp>
      <p:sp>
        <p:nvSpPr>
          <p:cNvPr id="237" name="Google Shape;237;p4"/>
          <p:cNvSpPr txBox="1"/>
          <p:nvPr/>
        </p:nvSpPr>
        <p:spPr>
          <a:xfrm>
            <a:off x="9546336" y="2898648"/>
            <a:ext cx="1591056"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Trends</a:t>
            </a:r>
            <a:endParaRPr/>
          </a:p>
        </p:txBody>
      </p:sp>
      <p:sp>
        <p:nvSpPr>
          <p:cNvPr id="238" name="Google Shape;238;p4"/>
          <p:cNvSpPr txBox="1"/>
          <p:nvPr/>
        </p:nvSpPr>
        <p:spPr>
          <a:xfrm>
            <a:off x="9546336" y="3383280"/>
            <a:ext cx="1591056" cy="11887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150" u="none" cap="none" strike="noStrike">
                <a:solidFill>
                  <a:srgbClr val="6E6F74"/>
                </a:solidFill>
                <a:latin typeface="Arial"/>
                <a:ea typeface="Arial"/>
                <a:cs typeface="Arial"/>
                <a:sym typeface="Arial"/>
              </a:rPr>
              <a:t>Are you improving over time — a line, not a single badge.</a:t>
            </a:r>
            <a:endParaRPr/>
          </a:p>
        </p:txBody>
      </p:sp>
      <p:sp>
        <p:nvSpPr>
          <p:cNvPr id="239" name="Google Shape;239;p4"/>
          <p:cNvSpPr/>
          <p:nvPr/>
        </p:nvSpPr>
        <p:spPr>
          <a:xfrm>
            <a:off x="822960" y="5029200"/>
            <a:ext cx="10543032" cy="960120"/>
          </a:xfrm>
          <a:prstGeom prst="roundRect">
            <a:avLst>
              <a:gd fmla="val 6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4"/>
          <p:cNvSpPr txBox="1"/>
          <p:nvPr/>
        </p:nvSpPr>
        <p:spPr>
          <a:xfrm>
            <a:off x="1097280" y="5138928"/>
            <a:ext cx="10058400" cy="4404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350" u="none" cap="none" strike="noStrike">
                <a:solidFill>
                  <a:srgbClr val="5F7B4F"/>
                </a:solidFill>
                <a:latin typeface="Arial"/>
                <a:ea typeface="Arial"/>
                <a:cs typeface="Arial"/>
                <a:sym typeface="Arial"/>
              </a:rPr>
              <a:t>Never a confident wrong number.  </a:t>
            </a:r>
            <a:r>
              <a:rPr b="0" i="0" lang="en-US" sz="1350" u="none" cap="none" strike="noStrike">
                <a:solidFill>
                  <a:srgbClr val="1D1D21"/>
                </a:solidFill>
                <a:latin typeface="Arial"/>
                <a:ea typeface="Arial"/>
                <a:cs typeface="Arial"/>
                <a:sym typeface="Arial"/>
              </a:rPr>
              <a:t>A coverage floor holds the score back until enough days are tracked, and “your </a:t>
            </a:r>
            <a:r>
              <a:rPr lang="en-US" sz="1350">
                <a:solidFill>
                  <a:srgbClr val="1D1D21"/>
                </a:solidFill>
              </a:rPr>
              <a:t>pantry</a:t>
            </a:r>
            <a:r>
              <a:rPr b="0" i="0" lang="en-US" sz="1350" u="none" cap="none" strike="noStrike">
                <a:solidFill>
                  <a:srgbClr val="1D1D21"/>
                </a:solidFill>
                <a:latin typeface="Arial"/>
                <a:ea typeface="Arial"/>
                <a:cs typeface="Arial"/>
                <a:sym typeface="Arial"/>
              </a:rPr>
              <a:t>” is never relabeled “your diet.” Honesty is the feature.</a:t>
            </a:r>
            <a:endParaRPr/>
          </a:p>
        </p:txBody>
      </p:sp>
      <p:sp>
        <p:nvSpPr>
          <p:cNvPr id="241" name="Google Shape;241;p4"/>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242" name="Google Shape;242;p4"/>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04 / 13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47" name="Shape 247"/>
        <p:cNvGrpSpPr/>
        <p:nvPr/>
      </p:nvGrpSpPr>
      <p:grpSpPr>
        <a:xfrm>
          <a:off x="0" y="0"/>
          <a:ext cx="0" cy="0"/>
          <a:chOff x="0" y="0"/>
          <a:chExt cx="0" cy="0"/>
        </a:xfrm>
      </p:grpSpPr>
      <p:sp>
        <p:nvSpPr>
          <p:cNvPr id="248" name="Google Shape;248;p5"/>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SUCCESS CRITERIA &amp; KPIS</a:t>
            </a:r>
            <a:endParaRPr/>
          </a:p>
        </p:txBody>
      </p:sp>
      <p:sp>
        <p:nvSpPr>
          <p:cNvPr id="249" name="Google Shape;249;p5"/>
          <p:cNvSpPr txBox="1"/>
          <p:nvPr/>
        </p:nvSpPr>
        <p:spPr>
          <a:xfrm>
            <a:off x="822960" y="841248"/>
            <a:ext cx="105156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How we'll know it works</a:t>
            </a:r>
            <a:endParaRPr/>
          </a:p>
        </p:txBody>
      </p:sp>
      <p:sp>
        <p:nvSpPr>
          <p:cNvPr id="250" name="Google Shape;250;p5"/>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5"/>
          <p:cNvSpPr txBox="1"/>
          <p:nvPr/>
        </p:nvSpPr>
        <p:spPr>
          <a:xfrm>
            <a:off x="822960" y="1691640"/>
            <a:ext cx="104241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6E6F74"/>
                </a:solidFill>
                <a:latin typeface="Arial"/>
                <a:ea typeface="Arial"/>
                <a:cs typeface="Arial"/>
                <a:sym typeface="Arial"/>
              </a:rPr>
              <a:t>Core hypothesis: </a:t>
            </a:r>
            <a:r>
              <a:rPr b="1" i="0" lang="en-US" sz="1400" u="none" cap="none" strike="noStrike">
                <a:solidFill>
                  <a:srgbClr val="1D1D21"/>
                </a:solidFill>
                <a:latin typeface="Arial"/>
                <a:ea typeface="Arial"/>
                <a:cs typeface="Arial"/>
                <a:sym typeface="Arial"/>
              </a:rPr>
              <a:t>do users trust a receipt-inferred recommendation enough to act — and does the check-off habit stick?</a:t>
            </a:r>
            <a:endParaRPr/>
          </a:p>
        </p:txBody>
      </p:sp>
      <p:sp>
        <p:nvSpPr>
          <p:cNvPr id="252" name="Google Shape;252;p5"/>
          <p:cNvSpPr/>
          <p:nvPr/>
        </p:nvSpPr>
        <p:spPr>
          <a:xfrm>
            <a:off x="822960" y="2286000"/>
            <a:ext cx="2615184" cy="18288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5"/>
          <p:cNvSpPr/>
          <p:nvPr/>
        </p:nvSpPr>
        <p:spPr>
          <a:xfrm>
            <a:off x="822960" y="2414016"/>
            <a:ext cx="73152" cy="1572768"/>
          </a:xfrm>
          <a:prstGeom prst="rect">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5"/>
          <p:cNvSpPr txBox="1"/>
          <p:nvPr/>
        </p:nvSpPr>
        <p:spPr>
          <a:xfrm>
            <a:off x="1097280" y="2414016"/>
            <a:ext cx="2231136" cy="159105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5F7B4F"/>
                </a:solidFill>
                <a:latin typeface="Arial"/>
                <a:ea typeface="Arial"/>
                <a:cs typeface="Arial"/>
                <a:sym typeface="Arial"/>
              </a:rPr>
              <a:t>Week 1</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Check-off sticks?</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the make-or-break — does tapping survive novelty</a:t>
            </a:r>
            <a:endParaRPr/>
          </a:p>
        </p:txBody>
      </p:sp>
      <p:sp>
        <p:nvSpPr>
          <p:cNvPr id="255" name="Google Shape;255;p5"/>
          <p:cNvSpPr/>
          <p:nvPr/>
        </p:nvSpPr>
        <p:spPr>
          <a:xfrm>
            <a:off x="3657599" y="2286000"/>
            <a:ext cx="2615184" cy="18288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5"/>
          <p:cNvSpPr/>
          <p:nvPr/>
        </p:nvSpPr>
        <p:spPr>
          <a:xfrm>
            <a:off x="3657599" y="2414016"/>
            <a:ext cx="73152" cy="157276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5"/>
          <p:cNvSpPr txBox="1"/>
          <p:nvPr/>
        </p:nvSpPr>
        <p:spPr>
          <a:xfrm>
            <a:off x="3931920" y="2414016"/>
            <a:ext cx="2231136" cy="159105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30%</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Behaviour shift</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adjust their next cart to our suggestion</a:t>
            </a:r>
            <a:endParaRPr/>
          </a:p>
        </p:txBody>
      </p:sp>
      <p:sp>
        <p:nvSpPr>
          <p:cNvPr id="258" name="Google Shape;258;p5"/>
          <p:cNvSpPr/>
          <p:nvPr/>
        </p:nvSpPr>
        <p:spPr>
          <a:xfrm>
            <a:off x="6492240" y="2286000"/>
            <a:ext cx="2615184" cy="18288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5"/>
          <p:cNvSpPr/>
          <p:nvPr/>
        </p:nvSpPr>
        <p:spPr>
          <a:xfrm>
            <a:off x="6492240" y="2414016"/>
            <a:ext cx="73152" cy="157276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5"/>
          <p:cNvSpPr txBox="1"/>
          <p:nvPr/>
        </p:nvSpPr>
        <p:spPr>
          <a:xfrm>
            <a:off x="6766559" y="2414016"/>
            <a:ext cx="2231136" cy="159105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&gt;20%</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Recommendation acted on</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marked “done”, not dismissed unread</a:t>
            </a:r>
            <a:endParaRPr/>
          </a:p>
        </p:txBody>
      </p:sp>
      <p:sp>
        <p:nvSpPr>
          <p:cNvPr id="261" name="Google Shape;261;p5"/>
          <p:cNvSpPr/>
          <p:nvPr/>
        </p:nvSpPr>
        <p:spPr>
          <a:xfrm>
            <a:off x="9326880" y="2286000"/>
            <a:ext cx="2615184" cy="18288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5"/>
          <p:cNvSpPr/>
          <p:nvPr/>
        </p:nvSpPr>
        <p:spPr>
          <a:xfrm>
            <a:off x="9326880" y="2414016"/>
            <a:ext cx="73152" cy="157276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5"/>
          <p:cNvSpPr txBox="1"/>
          <p:nvPr/>
        </p:nvSpPr>
        <p:spPr>
          <a:xfrm>
            <a:off x="9601200" y="2414016"/>
            <a:ext cx="2231136" cy="159105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&lt;2 min</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Time to value</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from upload to first personalised result</a:t>
            </a:r>
            <a:endParaRPr/>
          </a:p>
        </p:txBody>
      </p:sp>
      <p:sp>
        <p:nvSpPr>
          <p:cNvPr id="264" name="Google Shape;264;p5"/>
          <p:cNvSpPr/>
          <p:nvPr/>
        </p:nvSpPr>
        <p:spPr>
          <a:xfrm>
            <a:off x="822960" y="4526280"/>
            <a:ext cx="10543032" cy="1051560"/>
          </a:xfrm>
          <a:prstGeom prst="roundRect">
            <a:avLst>
              <a:gd fmla="val 6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5"/>
          <p:cNvSpPr txBox="1"/>
          <p:nvPr/>
        </p:nvSpPr>
        <p:spPr>
          <a:xfrm>
            <a:off x="1097280" y="4681728"/>
            <a:ext cx="10058400" cy="77724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350" u="none" cap="none" strike="noStrike">
                <a:solidFill>
                  <a:srgbClr val="5F7B4F"/>
                </a:solidFill>
                <a:latin typeface="Arial"/>
                <a:ea typeface="Arial"/>
                <a:cs typeface="Arial"/>
                <a:sym typeface="Arial"/>
              </a:rPr>
              <a:t>The check-off habit gates everything.  </a:t>
            </a:r>
            <a:r>
              <a:rPr b="0" i="0" lang="en-US" sz="1350" u="none" cap="none" strike="noStrike">
                <a:solidFill>
                  <a:srgbClr val="1D1D21"/>
                </a:solidFill>
                <a:latin typeface="Arial"/>
                <a:ea typeface="Arial"/>
                <a:cs typeface="Arial"/>
                <a:sym typeface="Arial"/>
              </a:rPr>
              <a:t>Prove the weekly tap sticks first, then layer in the full 10-KPI funnel across behaviour, business and satisfaction.</a:t>
            </a:r>
            <a:endParaRPr/>
          </a:p>
        </p:txBody>
      </p:sp>
      <p:sp>
        <p:nvSpPr>
          <p:cNvPr id="266" name="Google Shape;266;p5"/>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267" name="Google Shape;267;p5"/>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05 / 13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72" name="Shape 272"/>
        <p:cNvGrpSpPr/>
        <p:nvPr/>
      </p:nvGrpSpPr>
      <p:grpSpPr>
        <a:xfrm>
          <a:off x="0" y="0"/>
          <a:ext cx="0" cy="0"/>
          <a:chOff x="0" y="0"/>
          <a:chExt cx="0" cy="0"/>
        </a:xfrm>
      </p:grpSpPr>
      <p:sp>
        <p:nvSpPr>
          <p:cNvPr id="273" name="Google Shape;273;p6"/>
          <p:cNvSpPr/>
          <p:nvPr/>
        </p:nvSpPr>
        <p:spPr>
          <a:xfrm>
            <a:off x="8098201" y="3512673"/>
            <a:ext cx="3319200" cy="28803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6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6"/>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ROADMAP &amp; MILESTONES</a:t>
            </a:r>
            <a:endParaRPr/>
          </a:p>
        </p:txBody>
      </p:sp>
      <p:sp>
        <p:nvSpPr>
          <p:cNvPr id="275" name="Google Shape;275;p6"/>
          <p:cNvSpPr txBox="1"/>
          <p:nvPr/>
        </p:nvSpPr>
        <p:spPr>
          <a:xfrm>
            <a:off x="822960" y="841248"/>
            <a:ext cx="105156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Where we are — and what's next</a:t>
            </a:r>
            <a:endParaRPr/>
          </a:p>
        </p:txBody>
      </p:sp>
      <p:sp>
        <p:nvSpPr>
          <p:cNvPr id="276" name="Google Shape;276;p6"/>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6"/>
          <p:cNvSpPr/>
          <p:nvPr/>
        </p:nvSpPr>
        <p:spPr>
          <a:xfrm>
            <a:off x="1005840" y="3044952"/>
            <a:ext cx="10241280" cy="45720"/>
          </a:xfrm>
          <a:prstGeom prst="rect">
            <a:avLst/>
          </a:prstGeom>
          <a:solidFill>
            <a:srgbClr val="E5E4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6"/>
          <p:cNvSpPr/>
          <p:nvPr/>
        </p:nvSpPr>
        <p:spPr>
          <a:xfrm>
            <a:off x="2546604" y="2935224"/>
            <a:ext cx="274320" cy="274320"/>
          </a:xfrm>
          <a:prstGeom prst="ellipse">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6"/>
          <p:cNvSpPr/>
          <p:nvPr/>
        </p:nvSpPr>
        <p:spPr>
          <a:xfrm>
            <a:off x="1005840" y="2103120"/>
            <a:ext cx="1825599" cy="402336"/>
          </a:xfrm>
          <a:prstGeom prst="roundRect">
            <a:avLst>
              <a:gd fmla="val 50000" name="adj"/>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6"/>
          <p:cNvSpPr txBox="1"/>
          <p:nvPr/>
        </p:nvSpPr>
        <p:spPr>
          <a:xfrm>
            <a:off x="1005840" y="2121408"/>
            <a:ext cx="1825599"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DONE</a:t>
            </a:r>
            <a:endParaRPr/>
          </a:p>
        </p:txBody>
      </p:sp>
      <p:sp>
        <p:nvSpPr>
          <p:cNvPr id="281" name="Google Shape;281;p6"/>
          <p:cNvSpPr txBox="1"/>
          <p:nvPr/>
        </p:nvSpPr>
        <p:spPr>
          <a:xfrm>
            <a:off x="2931017" y="2130552"/>
            <a:ext cx="1659636" cy="40233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6E6F74"/>
                </a:solidFill>
                <a:latin typeface="Arial"/>
                <a:ea typeface="Arial"/>
                <a:cs typeface="Arial"/>
                <a:sym typeface="Arial"/>
              </a:rPr>
              <a:t>Weeks 1–2</a:t>
            </a:r>
            <a:endParaRPr/>
          </a:p>
        </p:txBody>
      </p:sp>
      <p:sp>
        <p:nvSpPr>
          <p:cNvPr id="282" name="Google Shape;282;p6"/>
          <p:cNvSpPr/>
          <p:nvPr/>
        </p:nvSpPr>
        <p:spPr>
          <a:xfrm>
            <a:off x="1005840" y="3520440"/>
            <a:ext cx="3319272" cy="288036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6"/>
          <p:cNvSpPr txBox="1"/>
          <p:nvPr/>
        </p:nvSpPr>
        <p:spPr>
          <a:xfrm>
            <a:off x="1280160" y="375818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a:t>
            </a:r>
            <a:endParaRPr/>
          </a:p>
        </p:txBody>
      </p:sp>
      <p:sp>
        <p:nvSpPr>
          <p:cNvPr id="284" name="Google Shape;284;p6"/>
          <p:cNvSpPr txBox="1"/>
          <p:nvPr/>
        </p:nvSpPr>
        <p:spPr>
          <a:xfrm>
            <a:off x="1645920" y="3739896"/>
            <a:ext cx="24507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On-device OCR → </a:t>
            </a:r>
            <a:r>
              <a:rPr lang="en-US" sz="1250">
                <a:solidFill>
                  <a:srgbClr val="1D1D21"/>
                </a:solidFill>
              </a:rPr>
              <a:t>pantry</a:t>
            </a:r>
            <a:r>
              <a:rPr b="0" i="0" lang="en-US" sz="1250" u="none" cap="none" strike="noStrike">
                <a:solidFill>
                  <a:srgbClr val="1D1D21"/>
                </a:solidFill>
                <a:latin typeface="Arial"/>
                <a:ea typeface="Arial"/>
                <a:cs typeface="Arial"/>
                <a:sym typeface="Arial"/>
              </a:rPr>
              <a:t> → gaps → recommendation</a:t>
            </a:r>
            <a:endParaRPr/>
          </a:p>
        </p:txBody>
      </p:sp>
      <p:sp>
        <p:nvSpPr>
          <p:cNvPr id="285" name="Google Shape;285;p6"/>
          <p:cNvSpPr txBox="1"/>
          <p:nvPr/>
        </p:nvSpPr>
        <p:spPr>
          <a:xfrm>
            <a:off x="1280160" y="426110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a:t>
            </a:r>
            <a:endParaRPr/>
          </a:p>
        </p:txBody>
      </p:sp>
      <p:sp>
        <p:nvSpPr>
          <p:cNvPr id="286" name="Google Shape;286;p6"/>
          <p:cNvSpPr txBox="1"/>
          <p:nvPr/>
        </p:nvSpPr>
        <p:spPr>
          <a:xfrm>
            <a:off x="1645920" y="4242816"/>
            <a:ext cx="2450700" cy="54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Daily check-off log + expiry-aware </a:t>
            </a:r>
            <a:r>
              <a:rPr b="0" i="0" lang="en-US" sz="1250" u="none" cap="none" strike="noStrike">
                <a:solidFill>
                  <a:srgbClr val="1D1D21"/>
                </a:solidFill>
                <a:latin typeface="Arial"/>
                <a:ea typeface="Arial"/>
                <a:cs typeface="Arial"/>
                <a:sym typeface="Arial"/>
              </a:rPr>
              <a:t>pantry</a:t>
            </a:r>
            <a:endParaRPr/>
          </a:p>
        </p:txBody>
      </p:sp>
      <p:sp>
        <p:nvSpPr>
          <p:cNvPr id="287" name="Google Shape;287;p6"/>
          <p:cNvSpPr txBox="1"/>
          <p:nvPr/>
        </p:nvSpPr>
        <p:spPr>
          <a:xfrm>
            <a:off x="1280160" y="476402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a:t>
            </a:r>
            <a:endParaRPr/>
          </a:p>
        </p:txBody>
      </p:sp>
      <p:sp>
        <p:nvSpPr>
          <p:cNvPr id="288" name="Google Shape;288;p6"/>
          <p:cNvSpPr txBox="1"/>
          <p:nvPr/>
        </p:nvSpPr>
        <p:spPr>
          <a:xfrm>
            <a:off x="1645920" y="474573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Recipes, easy swaps, progress tracking</a:t>
            </a:r>
            <a:endParaRPr/>
          </a:p>
        </p:txBody>
      </p:sp>
      <p:sp>
        <p:nvSpPr>
          <p:cNvPr id="289" name="Google Shape;289;p6"/>
          <p:cNvSpPr txBox="1"/>
          <p:nvPr/>
        </p:nvSpPr>
        <p:spPr>
          <a:xfrm>
            <a:off x="1280160" y="526694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a:t>
            </a:r>
            <a:endParaRPr/>
          </a:p>
        </p:txBody>
      </p:sp>
      <p:sp>
        <p:nvSpPr>
          <p:cNvPr id="290" name="Google Shape;290;p6"/>
          <p:cNvSpPr txBox="1"/>
          <p:nvPr/>
        </p:nvSpPr>
        <p:spPr>
          <a:xfrm>
            <a:off x="1645920" y="5248656"/>
            <a:ext cx="2450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Nutri-Coach + states</a:t>
            </a:r>
            <a:endParaRPr/>
          </a:p>
        </p:txBody>
      </p:sp>
      <p:sp>
        <p:nvSpPr>
          <p:cNvPr id="291" name="Google Shape;291;p6"/>
          <p:cNvSpPr txBox="1"/>
          <p:nvPr/>
        </p:nvSpPr>
        <p:spPr>
          <a:xfrm>
            <a:off x="1280160" y="576986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5F7B4F"/>
                </a:solidFill>
                <a:latin typeface="Arial"/>
                <a:ea typeface="Arial"/>
                <a:cs typeface="Arial"/>
                <a:sym typeface="Arial"/>
              </a:rPr>
              <a:t>✓</a:t>
            </a:r>
            <a:endParaRPr/>
          </a:p>
        </p:txBody>
      </p:sp>
      <p:sp>
        <p:nvSpPr>
          <p:cNvPr id="292" name="Google Shape;292;p6"/>
          <p:cNvSpPr txBox="1"/>
          <p:nvPr/>
        </p:nvSpPr>
        <p:spPr>
          <a:xfrm>
            <a:off x="1645920" y="575157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GDPR export/erasure · DE/EN</a:t>
            </a:r>
            <a:endParaRPr/>
          </a:p>
        </p:txBody>
      </p:sp>
      <p:sp>
        <p:nvSpPr>
          <p:cNvPr id="293" name="Google Shape;293;p6"/>
          <p:cNvSpPr/>
          <p:nvPr/>
        </p:nvSpPr>
        <p:spPr>
          <a:xfrm>
            <a:off x="6085332" y="2935224"/>
            <a:ext cx="274320" cy="27432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6"/>
          <p:cNvSpPr/>
          <p:nvPr/>
        </p:nvSpPr>
        <p:spPr>
          <a:xfrm>
            <a:off x="4544568" y="2103120"/>
            <a:ext cx="1825599" cy="402336"/>
          </a:xfrm>
          <a:prstGeom prst="roundRect">
            <a:avLst>
              <a:gd fmla="val 50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6"/>
          <p:cNvSpPr txBox="1"/>
          <p:nvPr/>
        </p:nvSpPr>
        <p:spPr>
          <a:xfrm>
            <a:off x="4544568" y="2121408"/>
            <a:ext cx="1825599"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IN PROGRESS</a:t>
            </a:r>
            <a:endParaRPr/>
          </a:p>
        </p:txBody>
      </p:sp>
      <p:sp>
        <p:nvSpPr>
          <p:cNvPr id="296" name="Google Shape;296;p6"/>
          <p:cNvSpPr txBox="1"/>
          <p:nvPr/>
        </p:nvSpPr>
        <p:spPr>
          <a:xfrm>
            <a:off x="6469745" y="2130552"/>
            <a:ext cx="1659636" cy="40233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6E6F74"/>
                </a:solidFill>
                <a:latin typeface="Arial"/>
                <a:ea typeface="Arial"/>
                <a:cs typeface="Arial"/>
                <a:sym typeface="Arial"/>
              </a:rPr>
              <a:t>Now — Week 3</a:t>
            </a:r>
            <a:endParaRPr/>
          </a:p>
        </p:txBody>
      </p:sp>
      <p:sp>
        <p:nvSpPr>
          <p:cNvPr id="297" name="Google Shape;297;p6"/>
          <p:cNvSpPr/>
          <p:nvPr/>
        </p:nvSpPr>
        <p:spPr>
          <a:xfrm>
            <a:off x="4544568" y="3520440"/>
            <a:ext cx="3319272" cy="288036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6"/>
          <p:cNvSpPr txBox="1"/>
          <p:nvPr/>
        </p:nvSpPr>
        <p:spPr>
          <a:xfrm>
            <a:off x="4818888" y="375818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7C9A6A"/>
                </a:solidFill>
                <a:latin typeface="Arial"/>
                <a:ea typeface="Arial"/>
                <a:cs typeface="Arial"/>
                <a:sym typeface="Arial"/>
              </a:rPr>
              <a:t>▸</a:t>
            </a:r>
            <a:endParaRPr/>
          </a:p>
        </p:txBody>
      </p:sp>
      <p:sp>
        <p:nvSpPr>
          <p:cNvPr id="299" name="Google Shape;299;p6"/>
          <p:cNvSpPr txBox="1"/>
          <p:nvPr/>
        </p:nvSpPr>
        <p:spPr>
          <a:xfrm>
            <a:off x="5184648" y="373989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1-tap portion — cut check-off friction</a:t>
            </a:r>
            <a:endParaRPr/>
          </a:p>
        </p:txBody>
      </p:sp>
      <p:sp>
        <p:nvSpPr>
          <p:cNvPr id="300" name="Google Shape;300;p6"/>
          <p:cNvSpPr txBox="1"/>
          <p:nvPr/>
        </p:nvSpPr>
        <p:spPr>
          <a:xfrm>
            <a:off x="4818888" y="426110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7C9A6A"/>
                </a:solidFill>
                <a:latin typeface="Arial"/>
                <a:ea typeface="Arial"/>
                <a:cs typeface="Arial"/>
                <a:sym typeface="Arial"/>
              </a:rPr>
              <a:t>▸</a:t>
            </a:r>
            <a:endParaRPr/>
          </a:p>
        </p:txBody>
      </p:sp>
      <p:sp>
        <p:nvSpPr>
          <p:cNvPr id="301" name="Google Shape;301;p6"/>
          <p:cNvSpPr txBox="1"/>
          <p:nvPr/>
        </p:nvSpPr>
        <p:spPr>
          <a:xfrm>
            <a:off x="5184648" y="424281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Sharper matching (learned Tier-0 + text cleanup)</a:t>
            </a:r>
            <a:endParaRPr/>
          </a:p>
        </p:txBody>
      </p:sp>
      <p:sp>
        <p:nvSpPr>
          <p:cNvPr id="302" name="Google Shape;302;p6"/>
          <p:cNvSpPr txBox="1"/>
          <p:nvPr/>
        </p:nvSpPr>
        <p:spPr>
          <a:xfrm>
            <a:off x="4818888" y="4764024"/>
            <a:ext cx="3657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7C9A6A"/>
                </a:solidFill>
                <a:latin typeface="Arial"/>
                <a:ea typeface="Arial"/>
                <a:cs typeface="Arial"/>
                <a:sym typeface="Arial"/>
              </a:rPr>
              <a:t>▸</a:t>
            </a:r>
            <a:endParaRPr/>
          </a:p>
        </p:txBody>
      </p:sp>
      <p:sp>
        <p:nvSpPr>
          <p:cNvPr id="303" name="Google Shape;303;p6"/>
          <p:cNvSpPr txBox="1"/>
          <p:nvPr/>
        </p:nvSpPr>
        <p:spPr>
          <a:xfrm>
            <a:off x="5184648" y="4745736"/>
            <a:ext cx="2450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50">
                <a:solidFill>
                  <a:srgbClr val="1D1D21"/>
                </a:solidFill>
              </a:rPr>
              <a:t>user testing</a:t>
            </a:r>
            <a:endParaRPr/>
          </a:p>
        </p:txBody>
      </p:sp>
      <p:sp>
        <p:nvSpPr>
          <p:cNvPr id="304" name="Google Shape;304;p6"/>
          <p:cNvSpPr/>
          <p:nvPr/>
        </p:nvSpPr>
        <p:spPr>
          <a:xfrm>
            <a:off x="9624059" y="2935224"/>
            <a:ext cx="274320" cy="274320"/>
          </a:xfrm>
          <a:prstGeom prst="ellipse">
            <a:avLst/>
          </a:prstGeom>
          <a:solidFill>
            <a:srgbClr val="6E6F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6"/>
          <p:cNvSpPr/>
          <p:nvPr/>
        </p:nvSpPr>
        <p:spPr>
          <a:xfrm>
            <a:off x="8083296" y="2103120"/>
            <a:ext cx="1825599" cy="402336"/>
          </a:xfrm>
          <a:prstGeom prst="roundRect">
            <a:avLst>
              <a:gd fmla="val 50000" name="adj"/>
            </a:avLst>
          </a:prstGeom>
          <a:solidFill>
            <a:srgbClr val="6E6F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6"/>
          <p:cNvSpPr txBox="1"/>
          <p:nvPr/>
        </p:nvSpPr>
        <p:spPr>
          <a:xfrm>
            <a:off x="8083296" y="2121408"/>
            <a:ext cx="1825599"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NEXT</a:t>
            </a:r>
            <a:endParaRPr/>
          </a:p>
        </p:txBody>
      </p:sp>
      <p:sp>
        <p:nvSpPr>
          <p:cNvPr id="307" name="Google Shape;307;p6"/>
          <p:cNvSpPr txBox="1"/>
          <p:nvPr/>
        </p:nvSpPr>
        <p:spPr>
          <a:xfrm>
            <a:off x="10008473" y="2236551"/>
            <a:ext cx="1659600" cy="17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sz="1150">
                <a:solidFill>
                  <a:srgbClr val="6E6F74"/>
                </a:solidFill>
              </a:rPr>
              <a:t>Later</a:t>
            </a:r>
            <a:endParaRPr/>
          </a:p>
        </p:txBody>
      </p:sp>
      <p:sp>
        <p:nvSpPr>
          <p:cNvPr id="308" name="Google Shape;308;p6"/>
          <p:cNvSpPr txBox="1"/>
          <p:nvPr/>
        </p:nvSpPr>
        <p:spPr>
          <a:xfrm>
            <a:off x="8357616" y="375818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6E6F74"/>
                </a:solidFill>
                <a:latin typeface="Arial"/>
                <a:ea typeface="Arial"/>
                <a:cs typeface="Arial"/>
                <a:sym typeface="Arial"/>
              </a:rPr>
              <a:t>•</a:t>
            </a:r>
            <a:endParaRPr/>
          </a:p>
        </p:txBody>
      </p:sp>
      <p:sp>
        <p:nvSpPr>
          <p:cNvPr id="309" name="Google Shape;309;p6"/>
          <p:cNvSpPr txBox="1"/>
          <p:nvPr/>
        </p:nvSpPr>
        <p:spPr>
          <a:xfrm>
            <a:off x="8723376" y="373989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Embedding re-ranker to push Recall@5 past 70%</a:t>
            </a:r>
            <a:endParaRPr/>
          </a:p>
        </p:txBody>
      </p:sp>
      <p:sp>
        <p:nvSpPr>
          <p:cNvPr id="310" name="Google Shape;310;p6"/>
          <p:cNvSpPr txBox="1"/>
          <p:nvPr/>
        </p:nvSpPr>
        <p:spPr>
          <a:xfrm>
            <a:off x="8357616" y="426110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6E6F74"/>
                </a:solidFill>
                <a:latin typeface="Arial"/>
                <a:ea typeface="Arial"/>
                <a:cs typeface="Arial"/>
                <a:sym typeface="Arial"/>
              </a:rPr>
              <a:t>•</a:t>
            </a:r>
            <a:endParaRPr/>
          </a:p>
        </p:txBody>
      </p:sp>
      <p:sp>
        <p:nvSpPr>
          <p:cNvPr id="311" name="Google Shape;311;p6"/>
          <p:cNvSpPr txBox="1"/>
          <p:nvPr/>
        </p:nvSpPr>
        <p:spPr>
          <a:xfrm>
            <a:off x="8723376" y="424281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Personalised portion &amp; consumption ML</a:t>
            </a:r>
            <a:endParaRPr/>
          </a:p>
        </p:txBody>
      </p:sp>
      <p:sp>
        <p:nvSpPr>
          <p:cNvPr id="312" name="Google Shape;312;p6"/>
          <p:cNvSpPr txBox="1"/>
          <p:nvPr/>
        </p:nvSpPr>
        <p:spPr>
          <a:xfrm>
            <a:off x="8357616" y="476402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6E6F74"/>
                </a:solidFill>
                <a:latin typeface="Arial"/>
                <a:ea typeface="Arial"/>
                <a:cs typeface="Arial"/>
                <a:sym typeface="Arial"/>
              </a:rPr>
              <a:t>•</a:t>
            </a:r>
            <a:endParaRPr/>
          </a:p>
        </p:txBody>
      </p:sp>
      <p:sp>
        <p:nvSpPr>
          <p:cNvPr id="313" name="Google Shape;313;p6"/>
          <p:cNvSpPr txBox="1"/>
          <p:nvPr/>
        </p:nvSpPr>
        <p:spPr>
          <a:xfrm>
            <a:off x="8723376" y="4745736"/>
            <a:ext cx="245059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1D1D21"/>
                </a:solidFill>
                <a:latin typeface="Arial"/>
                <a:ea typeface="Arial"/>
                <a:cs typeface="Arial"/>
                <a:sym typeface="Arial"/>
              </a:rPr>
              <a:t>Instrument the 10-KPI funnel</a:t>
            </a:r>
            <a:endParaRPr/>
          </a:p>
        </p:txBody>
      </p:sp>
      <p:sp>
        <p:nvSpPr>
          <p:cNvPr id="314" name="Google Shape;314;p6"/>
          <p:cNvSpPr txBox="1"/>
          <p:nvPr/>
        </p:nvSpPr>
        <p:spPr>
          <a:xfrm>
            <a:off x="8357616" y="5266944"/>
            <a:ext cx="3657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6E6F74"/>
                </a:solidFill>
                <a:latin typeface="Arial"/>
                <a:ea typeface="Arial"/>
                <a:cs typeface="Arial"/>
                <a:sym typeface="Arial"/>
              </a:rPr>
              <a:t>•</a:t>
            </a:r>
            <a:endParaRPr/>
          </a:p>
        </p:txBody>
      </p:sp>
      <p:sp>
        <p:nvSpPr>
          <p:cNvPr id="315" name="Google Shape;315;p6"/>
          <p:cNvSpPr txBox="1"/>
          <p:nvPr/>
        </p:nvSpPr>
        <p:spPr>
          <a:xfrm>
            <a:off x="8723376" y="5248656"/>
            <a:ext cx="2450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50">
                <a:solidFill>
                  <a:srgbClr val="1D1D21"/>
                </a:solidFill>
              </a:rPr>
              <a:t>Recipe generation</a:t>
            </a:r>
            <a:endParaRPr/>
          </a:p>
        </p:txBody>
      </p:sp>
      <p:sp>
        <p:nvSpPr>
          <p:cNvPr id="316" name="Google Shape;316;p6"/>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317" name="Google Shape;317;p6"/>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06 / 13</a:t>
            </a:r>
            <a:endParaRPr/>
          </a:p>
        </p:txBody>
      </p:sp>
      <p:sp>
        <p:nvSpPr>
          <p:cNvPr id="318" name="Google Shape;318;p6"/>
          <p:cNvSpPr txBox="1"/>
          <p:nvPr/>
        </p:nvSpPr>
        <p:spPr>
          <a:xfrm>
            <a:off x="8357616" y="5623569"/>
            <a:ext cx="3657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23" name="Shape 323"/>
        <p:cNvGrpSpPr/>
        <p:nvPr/>
      </p:nvGrpSpPr>
      <p:grpSpPr>
        <a:xfrm>
          <a:off x="0" y="0"/>
          <a:ext cx="0" cy="0"/>
          <a:chOff x="0" y="0"/>
          <a:chExt cx="0" cy="0"/>
        </a:xfrm>
      </p:grpSpPr>
      <p:sp>
        <p:nvSpPr>
          <p:cNvPr id="324" name="Google Shape;324;p8"/>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EVALUATION METRIC</a:t>
            </a:r>
            <a:endParaRPr/>
          </a:p>
        </p:txBody>
      </p:sp>
      <p:sp>
        <p:nvSpPr>
          <p:cNvPr id="325" name="Google Shape;325;p8"/>
          <p:cNvSpPr txBox="1"/>
          <p:nvPr/>
        </p:nvSpPr>
        <p:spPr>
          <a:xfrm>
            <a:off x="822960" y="841248"/>
            <a:ext cx="1069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700" u="none" cap="none" strike="noStrike">
                <a:solidFill>
                  <a:srgbClr val="1D1D21"/>
                </a:solidFill>
                <a:latin typeface="Arial"/>
                <a:ea typeface="Arial"/>
                <a:cs typeface="Arial"/>
                <a:sym typeface="Arial"/>
              </a:rPr>
              <a:t>The hard part:</a:t>
            </a:r>
            <a:r>
              <a:rPr b="1" lang="en-US" sz="2700">
                <a:solidFill>
                  <a:srgbClr val="1D1D21"/>
                </a:solidFill>
              </a:rPr>
              <a:t> Turning cryptic receipt text into a real food</a:t>
            </a:r>
            <a:endParaRPr b="1" sz="2700">
              <a:solidFill>
                <a:srgbClr val="1D1D21"/>
              </a:solidFill>
            </a:endParaRPr>
          </a:p>
        </p:txBody>
      </p:sp>
      <p:sp>
        <p:nvSpPr>
          <p:cNvPr id="326" name="Google Shape;326;p8"/>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8"/>
          <p:cNvSpPr txBox="1"/>
          <p:nvPr/>
        </p:nvSpPr>
        <p:spPr>
          <a:xfrm>
            <a:off x="822960" y="1783080"/>
            <a:ext cx="5669400" cy="49263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1700" u="none" cap="none" strike="noStrike">
                <a:solidFill>
                  <a:srgbClr val="B36A4A"/>
                </a:solidFill>
                <a:latin typeface="Arial"/>
                <a:ea typeface="Arial"/>
                <a:cs typeface="Arial"/>
                <a:sym typeface="Arial"/>
              </a:rPr>
              <a:t>“AB Bud 6x0,3l MW”</a:t>
            </a:r>
            <a:r>
              <a:rPr b="1" i="0" lang="en-US" sz="1700" u="none" cap="none" strike="noStrike">
                <a:solidFill>
                  <a:srgbClr val="1D1D21"/>
                </a:solidFill>
                <a:latin typeface="Arial"/>
                <a:ea typeface="Arial"/>
                <a:cs typeface="Arial"/>
                <a:sym typeface="Arial"/>
              </a:rPr>
              <a:t>   →   ?</a:t>
            </a:r>
            <a:endParaRPr b="1" i="0" sz="1700" u="none" cap="none" strike="noStrike">
              <a:solidFill>
                <a:srgbClr val="1D1D21"/>
              </a:solidFill>
              <a:latin typeface="Arial"/>
              <a:ea typeface="Arial"/>
              <a:cs typeface="Arial"/>
              <a:sym typeface="Arial"/>
            </a:endParaRPr>
          </a:p>
          <a:p>
            <a:pPr indent="0" lvl="0" marL="0" marR="0" rtl="0" algn="l">
              <a:lnSpc>
                <a:spcPct val="112000"/>
              </a:lnSpc>
              <a:spcBef>
                <a:spcPts val="0"/>
              </a:spcBef>
              <a:spcAft>
                <a:spcPts val="0"/>
              </a:spcAft>
              <a:buNone/>
            </a:pPr>
            <a:r>
              <a:t/>
            </a:r>
            <a:endParaRPr b="1" sz="1700">
              <a:solidFill>
                <a:srgbClr val="1D1D21"/>
              </a:solidFill>
            </a:endParaRPr>
          </a:p>
          <a:p>
            <a:pPr indent="0" lvl="0" marL="0" rtl="0" algn="l">
              <a:lnSpc>
                <a:spcPct val="112000"/>
              </a:lnSpc>
              <a:spcBef>
                <a:spcPts val="400"/>
              </a:spcBef>
              <a:spcAft>
                <a:spcPts val="0"/>
              </a:spcAft>
              <a:buClr>
                <a:schemeClr val="dk1"/>
              </a:buClr>
              <a:buSzPts val="1100"/>
              <a:buFont typeface="Arial"/>
              <a:buNone/>
            </a:pPr>
            <a:r>
              <a:rPr lang="en-US" sz="1550">
                <a:solidFill>
                  <a:srgbClr val="1D1D21"/>
                </a:solidFill>
              </a:rPr>
              <a:t>First link: </a:t>
            </a:r>
            <a:r>
              <a:rPr b="1" lang="en-US" sz="1550">
                <a:solidFill>
                  <a:srgbClr val="5F7B4F"/>
                </a:solidFill>
              </a:rPr>
              <a:t>OCR</a:t>
            </a:r>
            <a:r>
              <a:rPr lang="en-US" sz="1550">
                <a:solidFill>
                  <a:srgbClr val="1D1D21"/>
                </a:solidFill>
              </a:rPr>
              <a:t>. The phone must read the photo into text. Misread a word here, and nothing downstream can fix it.</a:t>
            </a:r>
            <a:endParaRPr b="1" sz="1700">
              <a:solidFill>
                <a:srgbClr val="1D1D21"/>
              </a:solidFill>
            </a:endParaRPr>
          </a:p>
          <a:p>
            <a:pPr indent="0" lvl="0" marL="0" marR="0" rtl="0" algn="l">
              <a:lnSpc>
                <a:spcPct val="112000"/>
              </a:lnSpc>
              <a:spcBef>
                <a:spcPts val="400"/>
              </a:spcBef>
              <a:spcAft>
                <a:spcPts val="0"/>
              </a:spcAft>
              <a:buNone/>
            </a:pPr>
            <a:r>
              <a:t/>
            </a:r>
            <a:endParaRPr b="1" i="0" sz="1900" u="none" cap="none" strike="noStrike">
              <a:solidFill>
                <a:srgbClr val="1D1D21"/>
              </a:solidFill>
              <a:latin typeface="Arial"/>
              <a:ea typeface="Arial"/>
              <a:cs typeface="Arial"/>
              <a:sym typeface="Arial"/>
            </a:endParaRPr>
          </a:p>
          <a:p>
            <a:pPr indent="0" lvl="0" marL="0" marR="0" rtl="0" algn="l">
              <a:lnSpc>
                <a:spcPct val="112000"/>
              </a:lnSpc>
              <a:spcBef>
                <a:spcPts val="400"/>
              </a:spcBef>
              <a:spcAft>
                <a:spcPts val="0"/>
              </a:spcAft>
              <a:buNone/>
            </a:pPr>
            <a:r>
              <a:rPr lang="en-US" sz="1650">
                <a:solidFill>
                  <a:srgbClr val="1D1D21"/>
                </a:solidFill>
              </a:rPr>
              <a:t>Every line must become a </a:t>
            </a:r>
            <a:r>
              <a:rPr b="1" lang="en-US" sz="1650">
                <a:solidFill>
                  <a:srgbClr val="1D1D21"/>
                </a:solidFill>
              </a:rPr>
              <a:t>real food with real nutrients</a:t>
            </a:r>
            <a:r>
              <a:rPr lang="en-US" sz="1650">
                <a:solidFill>
                  <a:srgbClr val="1D1D21"/>
                </a:solidFill>
              </a:rPr>
              <a:t>.</a:t>
            </a:r>
            <a:endParaRPr sz="1650">
              <a:solidFill>
                <a:srgbClr val="1D1D21"/>
              </a:solidFill>
            </a:endParaRPr>
          </a:p>
          <a:p>
            <a:pPr indent="0" lvl="0" marL="0" marR="0" rtl="0" algn="l">
              <a:lnSpc>
                <a:spcPct val="112000"/>
              </a:lnSpc>
              <a:spcBef>
                <a:spcPts val="400"/>
              </a:spcBef>
              <a:spcAft>
                <a:spcPts val="0"/>
              </a:spcAft>
              <a:buNone/>
            </a:pPr>
            <a:r>
              <a:t/>
            </a:r>
            <a:endParaRPr sz="1650">
              <a:solidFill>
                <a:srgbClr val="1D1D21"/>
              </a:solidFill>
            </a:endParaRPr>
          </a:p>
          <a:p>
            <a:pPr indent="0" lvl="0" marL="0" marR="0" rtl="0" algn="l">
              <a:lnSpc>
                <a:spcPct val="112000"/>
              </a:lnSpc>
              <a:spcBef>
                <a:spcPts val="400"/>
              </a:spcBef>
              <a:spcAft>
                <a:spcPts val="0"/>
              </a:spcAft>
              <a:buNone/>
            </a:pPr>
            <a:r>
              <a:rPr lang="en-US" sz="1650">
                <a:solidFill>
                  <a:srgbClr val="1D1D21"/>
                </a:solidFill>
              </a:rPr>
              <a:t>There's no answer key — so we built one: a </a:t>
            </a:r>
            <a:r>
              <a:rPr b="1" lang="en-US" sz="1650">
                <a:solidFill>
                  <a:srgbClr val="5F7B4F"/>
                </a:solidFill>
              </a:rPr>
              <a:t>human-spot-checked gold set</a:t>
            </a:r>
            <a:r>
              <a:rPr lang="en-US" sz="1650">
                <a:solidFill>
                  <a:srgbClr val="1D1D21"/>
                </a:solidFill>
              </a:rPr>
              <a:t>, 180 real receipt lines, matched against about 7</a:t>
            </a:r>
            <a:r>
              <a:rPr lang="en-US" sz="1650">
                <a:solidFill>
                  <a:srgbClr val="1D1D21"/>
                </a:solidFill>
              </a:rPr>
              <a:t>,140 </a:t>
            </a:r>
            <a:r>
              <a:rPr lang="en-US" sz="1650">
                <a:solidFill>
                  <a:srgbClr val="1D1D21"/>
                </a:solidFill>
              </a:rPr>
              <a:t>foods from BLS and more of 4 million foods of Open Food Facts.</a:t>
            </a:r>
            <a:endParaRPr sz="1650">
              <a:solidFill>
                <a:srgbClr val="1D1D21"/>
              </a:solidFill>
            </a:endParaRPr>
          </a:p>
          <a:p>
            <a:pPr indent="0" lvl="0" marL="0" marR="0" rtl="0" algn="l">
              <a:lnSpc>
                <a:spcPct val="112000"/>
              </a:lnSpc>
              <a:spcBef>
                <a:spcPts val="400"/>
              </a:spcBef>
              <a:spcAft>
                <a:spcPts val="0"/>
              </a:spcAft>
              <a:buClr>
                <a:srgbClr val="000000"/>
              </a:buClr>
              <a:buFont typeface="Arial"/>
              <a:buNone/>
            </a:pPr>
            <a:r>
              <a:t/>
            </a:r>
            <a:endParaRPr sz="1650">
              <a:solidFill>
                <a:srgbClr val="1D1D21"/>
              </a:solidFill>
            </a:endParaRPr>
          </a:p>
          <a:p>
            <a:pPr indent="0" lvl="0" marL="0" marR="0" rtl="0" algn="l">
              <a:lnSpc>
                <a:spcPct val="112000"/>
              </a:lnSpc>
              <a:spcBef>
                <a:spcPts val="400"/>
              </a:spcBef>
              <a:spcAft>
                <a:spcPts val="0"/>
              </a:spcAft>
              <a:buClr>
                <a:srgbClr val="000000"/>
              </a:buClr>
              <a:buFont typeface="Arial"/>
              <a:buNone/>
            </a:pPr>
            <a:r>
              <a:rPr lang="en-US" sz="1650">
                <a:solidFill>
                  <a:srgbClr val="1D1D21"/>
                </a:solidFill>
              </a:rPr>
              <a:t>Our metric =</a:t>
            </a:r>
            <a:r>
              <a:rPr b="1" lang="en-US" sz="1650">
                <a:solidFill>
                  <a:srgbClr val="5F7B4F"/>
                </a:solidFill>
              </a:rPr>
              <a:t> Recall@5</a:t>
            </a:r>
            <a:r>
              <a:rPr lang="en-US" sz="1650">
                <a:solidFill>
                  <a:srgbClr val="1D1D21"/>
                </a:solidFill>
              </a:rPr>
              <a:t>: the app shows its 5 best guesses, you tap the right one. We ask — is the correct food in those 5?</a:t>
            </a:r>
            <a:endParaRPr sz="1650">
              <a:solidFill>
                <a:srgbClr val="1D1D21"/>
              </a:solidFill>
            </a:endParaRPr>
          </a:p>
          <a:p>
            <a:pPr indent="0" lvl="0" marL="0" marR="0" rtl="0" algn="l">
              <a:lnSpc>
                <a:spcPct val="112000"/>
              </a:lnSpc>
              <a:spcBef>
                <a:spcPts val="400"/>
              </a:spcBef>
              <a:spcAft>
                <a:spcPts val="0"/>
              </a:spcAft>
              <a:buNone/>
            </a:pPr>
            <a:r>
              <a:t/>
            </a:r>
            <a:endParaRPr sz="1450">
              <a:solidFill>
                <a:srgbClr val="1D1D21"/>
              </a:solidFill>
            </a:endParaRPr>
          </a:p>
        </p:txBody>
      </p:sp>
      <p:sp>
        <p:nvSpPr>
          <p:cNvPr id="328" name="Google Shape;328;p8"/>
          <p:cNvSpPr/>
          <p:nvPr/>
        </p:nvSpPr>
        <p:spPr>
          <a:xfrm>
            <a:off x="6858000" y="1783080"/>
            <a:ext cx="4526280" cy="3520440"/>
          </a:xfrm>
          <a:prstGeom prst="roundRect">
            <a:avLst>
              <a:gd fmla="val 5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8"/>
          <p:cNvSpPr txBox="1"/>
          <p:nvPr/>
        </p:nvSpPr>
        <p:spPr>
          <a:xfrm>
            <a:off x="7178040" y="1984248"/>
            <a:ext cx="393192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F7B4F"/>
                </a:solidFill>
                <a:latin typeface="Arial"/>
                <a:ea typeface="Arial"/>
                <a:cs typeface="Arial"/>
                <a:sym typeface="Arial"/>
              </a:rPr>
              <a:t>WHAT WE MEASURE</a:t>
            </a:r>
            <a:endParaRPr/>
          </a:p>
        </p:txBody>
      </p:sp>
      <p:sp>
        <p:nvSpPr>
          <p:cNvPr id="330" name="Google Shape;330;p8"/>
          <p:cNvSpPr/>
          <p:nvPr/>
        </p:nvSpPr>
        <p:spPr>
          <a:xfrm>
            <a:off x="7132320" y="2395728"/>
            <a:ext cx="3977639" cy="1207008"/>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8"/>
          <p:cNvSpPr/>
          <p:nvPr/>
        </p:nvSpPr>
        <p:spPr>
          <a:xfrm>
            <a:off x="7132320" y="2523744"/>
            <a:ext cx="73152" cy="950976"/>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8"/>
          <p:cNvSpPr txBox="1"/>
          <p:nvPr/>
        </p:nvSpPr>
        <p:spPr>
          <a:xfrm>
            <a:off x="7406640" y="2523744"/>
            <a:ext cx="3593591" cy="969264"/>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Recall@5</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Right food shortlisted</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 where the correct food is in the top 5</a:t>
            </a:r>
            <a:endParaRPr/>
          </a:p>
        </p:txBody>
      </p:sp>
      <p:sp>
        <p:nvSpPr>
          <p:cNvPr id="333" name="Google Shape;333;p8"/>
          <p:cNvSpPr/>
          <p:nvPr/>
        </p:nvSpPr>
        <p:spPr>
          <a:xfrm>
            <a:off x="7132320" y="3749039"/>
            <a:ext cx="3977639" cy="1207008"/>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8"/>
          <p:cNvSpPr/>
          <p:nvPr/>
        </p:nvSpPr>
        <p:spPr>
          <a:xfrm>
            <a:off x="7132320" y="3877055"/>
            <a:ext cx="73152" cy="950976"/>
          </a:xfrm>
          <a:prstGeom prst="rect">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8"/>
          <p:cNvSpPr txBox="1"/>
          <p:nvPr/>
        </p:nvSpPr>
        <p:spPr>
          <a:xfrm>
            <a:off x="7406640" y="3877055"/>
            <a:ext cx="3593591" cy="969264"/>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5F7B4F"/>
                </a:solidFill>
                <a:latin typeface="Arial"/>
                <a:ea typeface="Arial"/>
                <a:cs typeface="Arial"/>
                <a:sym typeface="Arial"/>
              </a:rPr>
              <a:t>3%</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Label-error rate</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human spot-check of the gold labels</a:t>
            </a:r>
            <a:endParaRPr/>
          </a:p>
        </p:txBody>
      </p:sp>
      <p:sp>
        <p:nvSpPr>
          <p:cNvPr id="336" name="Google Shape;336;p8"/>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337" name="Google Shape;337;p8"/>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a:t>
            </a:r>
            <a:r>
              <a:rPr lang="en-US" sz="900">
                <a:solidFill>
                  <a:srgbClr val="6E6F74"/>
                </a:solidFill>
              </a:rPr>
              <a:t>7</a:t>
            </a:r>
            <a:r>
              <a:rPr b="0" i="0" lang="en-US" sz="900" u="none" cap="none" strike="noStrike">
                <a:solidFill>
                  <a:srgbClr val="6E6F74"/>
                </a:solidFill>
                <a:latin typeface="Arial"/>
                <a:ea typeface="Arial"/>
                <a:cs typeface="Arial"/>
                <a:sym typeface="Arial"/>
              </a:rPr>
              <a:t> / 13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g3f54b91471f_0_321"/>
          <p:cNvSpPr txBox="1"/>
          <p:nvPr/>
        </p:nvSpPr>
        <p:spPr>
          <a:xfrm>
            <a:off x="685800" y="41148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200">
                <a:solidFill>
                  <a:srgbClr val="5D7A49"/>
                </a:solidFill>
              </a:rPr>
              <a:t>OCR</a:t>
            </a:r>
            <a:endParaRPr/>
          </a:p>
        </p:txBody>
      </p:sp>
      <p:sp>
        <p:nvSpPr>
          <p:cNvPr id="343" name="Google Shape;343;g3f54b91471f_0_321"/>
          <p:cNvSpPr txBox="1"/>
          <p:nvPr/>
        </p:nvSpPr>
        <p:spPr>
          <a:xfrm>
            <a:off x="685800" y="713232"/>
            <a:ext cx="10820100" cy="3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500" u="none" cap="none" strike="noStrike">
                <a:solidFill>
                  <a:srgbClr val="1B1E17"/>
                </a:solidFill>
                <a:latin typeface="Arial"/>
                <a:ea typeface="Arial"/>
                <a:cs typeface="Arial"/>
                <a:sym typeface="Arial"/>
              </a:rPr>
              <a:t>Receipt processing pipeline — upstream of the matching</a:t>
            </a:r>
            <a:endParaRPr/>
          </a:p>
        </p:txBody>
      </p:sp>
      <p:sp>
        <p:nvSpPr>
          <p:cNvPr id="344" name="Google Shape;344;g3f54b91471f_0_321"/>
          <p:cNvSpPr/>
          <p:nvPr/>
        </p:nvSpPr>
        <p:spPr>
          <a:xfrm>
            <a:off x="685800" y="1371600"/>
            <a:ext cx="54900" cy="457200"/>
          </a:xfrm>
          <a:prstGeom prst="rect">
            <a:avLst/>
          </a:prstGeom>
          <a:solidFill>
            <a:srgbClr val="C08A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g3f54b91471f_0_321"/>
          <p:cNvSpPr txBox="1"/>
          <p:nvPr/>
        </p:nvSpPr>
        <p:spPr>
          <a:xfrm>
            <a:off x="886968" y="1371600"/>
            <a:ext cx="10545900" cy="192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250" u="none" cap="none" strike="noStrike">
                <a:solidFill>
                  <a:srgbClr val="1B1E17"/>
                </a:solidFill>
                <a:latin typeface="Arial"/>
                <a:ea typeface="Arial"/>
                <a:cs typeface="Arial"/>
                <a:sym typeface="Arial"/>
              </a:rPr>
              <a:t>Gemini Vision removed, so no card PANs / transaction IDs / PAYBACK numbers leave the device.</a:t>
            </a:r>
            <a:endParaRPr/>
          </a:p>
        </p:txBody>
      </p:sp>
      <p:sp>
        <p:nvSpPr>
          <p:cNvPr id="346" name="Google Shape;346;g3f54b91471f_0_321"/>
          <p:cNvSpPr/>
          <p:nvPr/>
        </p:nvSpPr>
        <p:spPr>
          <a:xfrm>
            <a:off x="685800" y="2057400"/>
            <a:ext cx="2499300" cy="4160400"/>
          </a:xfrm>
          <a:prstGeom prst="roundRect">
            <a:avLst>
              <a:gd fmla="val 5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g3f54b91471f_0_321"/>
          <p:cNvSpPr txBox="1"/>
          <p:nvPr/>
        </p:nvSpPr>
        <p:spPr>
          <a:xfrm>
            <a:off x="886968" y="2240280"/>
            <a:ext cx="2133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5D7A49"/>
                </a:solidFill>
                <a:latin typeface="Arial"/>
                <a:ea typeface="Arial"/>
                <a:cs typeface="Arial"/>
                <a:sym typeface="Arial"/>
              </a:rPr>
              <a:t>1</a:t>
            </a:r>
            <a:endParaRPr/>
          </a:p>
        </p:txBody>
      </p:sp>
      <p:sp>
        <p:nvSpPr>
          <p:cNvPr id="348" name="Google Shape;348;g3f54b91471f_0_321"/>
          <p:cNvSpPr txBox="1"/>
          <p:nvPr/>
        </p:nvSpPr>
        <p:spPr>
          <a:xfrm>
            <a:off x="886968" y="2715768"/>
            <a:ext cx="2133600" cy="2079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350" u="none" cap="none" strike="noStrike">
                <a:solidFill>
                  <a:srgbClr val="1B1E17"/>
                </a:solidFill>
                <a:latin typeface="Arial"/>
                <a:ea typeface="Arial"/>
                <a:cs typeface="Arial"/>
                <a:sym typeface="Arial"/>
              </a:rPr>
              <a:t>OCR / extraction</a:t>
            </a:r>
            <a:endParaRPr/>
          </a:p>
        </p:txBody>
      </p:sp>
      <p:sp>
        <p:nvSpPr>
          <p:cNvPr id="349" name="Google Shape;349;g3f54b91471f_0_321"/>
          <p:cNvSpPr txBox="1"/>
          <p:nvPr/>
        </p:nvSpPr>
        <p:spPr>
          <a:xfrm>
            <a:off x="886968" y="3227832"/>
            <a:ext cx="2133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7C9A6A"/>
                </a:solidFill>
                <a:latin typeface="Arial"/>
                <a:ea typeface="Arial"/>
                <a:cs typeface="Arial"/>
                <a:sym typeface="Arial"/>
              </a:rPr>
              <a:t>local_extractor.py</a:t>
            </a:r>
            <a:endParaRPr/>
          </a:p>
        </p:txBody>
      </p:sp>
      <p:sp>
        <p:nvSpPr>
          <p:cNvPr id="350" name="Google Shape;350;g3f54b91471f_0_321"/>
          <p:cNvSpPr txBox="1"/>
          <p:nvPr/>
        </p:nvSpPr>
        <p:spPr>
          <a:xfrm>
            <a:off x="886968" y="3538728"/>
            <a:ext cx="2115300" cy="1602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PDF → PyMuPDF reads the text layer (exact, instant); scanned PDF → 300 dpi render + OCR.</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Images → Tesseract (deu, LSTM, --psm 6).</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OpenCV prep: EXIF-rotation fix, greyscale, upscale ~2000px; phone photos: denoise + adaptive threshold.</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Unreadable file → HTTP 422.</a:t>
            </a:r>
            <a:endParaRPr/>
          </a:p>
        </p:txBody>
      </p:sp>
      <p:sp>
        <p:nvSpPr>
          <p:cNvPr id="351" name="Google Shape;351;g3f54b91471f_0_321"/>
          <p:cNvSpPr/>
          <p:nvPr/>
        </p:nvSpPr>
        <p:spPr>
          <a:xfrm>
            <a:off x="3459403" y="2057400"/>
            <a:ext cx="2499300" cy="4160400"/>
          </a:xfrm>
          <a:prstGeom prst="roundRect">
            <a:avLst>
              <a:gd fmla="val 5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g3f54b91471f_0_321"/>
          <p:cNvSpPr txBox="1"/>
          <p:nvPr/>
        </p:nvSpPr>
        <p:spPr>
          <a:xfrm>
            <a:off x="3660571" y="2240280"/>
            <a:ext cx="2133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5D7A49"/>
                </a:solidFill>
                <a:latin typeface="Arial"/>
                <a:ea typeface="Arial"/>
                <a:cs typeface="Arial"/>
                <a:sym typeface="Arial"/>
              </a:rPr>
              <a:t>2</a:t>
            </a:r>
            <a:endParaRPr/>
          </a:p>
        </p:txBody>
      </p:sp>
      <p:sp>
        <p:nvSpPr>
          <p:cNvPr id="353" name="Google Shape;353;g3f54b91471f_0_321"/>
          <p:cNvSpPr txBox="1"/>
          <p:nvPr/>
        </p:nvSpPr>
        <p:spPr>
          <a:xfrm>
            <a:off x="3660571" y="2715768"/>
            <a:ext cx="2133600" cy="2079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350" u="none" cap="none" strike="noStrike">
                <a:solidFill>
                  <a:srgbClr val="1B1E17"/>
                </a:solidFill>
                <a:latin typeface="Arial"/>
                <a:ea typeface="Arial"/>
                <a:cs typeface="Arial"/>
                <a:sym typeface="Arial"/>
              </a:rPr>
              <a:t>Parsing → fields</a:t>
            </a:r>
            <a:endParaRPr/>
          </a:p>
        </p:txBody>
      </p:sp>
      <p:sp>
        <p:nvSpPr>
          <p:cNvPr id="354" name="Google Shape;354;g3f54b91471f_0_321"/>
          <p:cNvSpPr txBox="1"/>
          <p:nvPr/>
        </p:nvSpPr>
        <p:spPr>
          <a:xfrm>
            <a:off x="3660571" y="3227832"/>
            <a:ext cx="2133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7C9A6A"/>
                </a:solidFill>
                <a:latin typeface="Arial"/>
                <a:ea typeface="Arial"/>
                <a:cs typeface="Arial"/>
                <a:sym typeface="Arial"/>
              </a:rPr>
              <a:t>receipt_text_parser.py</a:t>
            </a:r>
            <a:endParaRPr/>
          </a:p>
        </p:txBody>
      </p:sp>
      <p:sp>
        <p:nvSpPr>
          <p:cNvPr id="355" name="Google Shape;355;g3f54b91471f_0_321"/>
          <p:cNvSpPr txBox="1"/>
          <p:nvPr/>
        </p:nvSpPr>
        <p:spPr>
          <a:xfrm>
            <a:off x="3660571" y="3538728"/>
            <a:ext cx="2115300" cy="19179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One parser for OCR / PDF / pasted text.</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Auto-detects layout: Inline (price at line end) vs Block (name / price on separate lines).</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Per item: name, original_text, quantity, unit, price, category, uncertain.</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Filters totals / tax / TSE / loyalty; splits non-food (Pfand, Rabatt, bag fees).</a:t>
            </a:r>
            <a:endParaRPr/>
          </a:p>
        </p:txBody>
      </p:sp>
      <p:sp>
        <p:nvSpPr>
          <p:cNvPr id="356" name="Google Shape;356;g3f54b91471f_0_321"/>
          <p:cNvSpPr/>
          <p:nvPr/>
        </p:nvSpPr>
        <p:spPr>
          <a:xfrm>
            <a:off x="6233007" y="2057400"/>
            <a:ext cx="2499300" cy="4160400"/>
          </a:xfrm>
          <a:prstGeom prst="roundRect">
            <a:avLst>
              <a:gd fmla="val 5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g3f54b91471f_0_321"/>
          <p:cNvSpPr txBox="1"/>
          <p:nvPr/>
        </p:nvSpPr>
        <p:spPr>
          <a:xfrm>
            <a:off x="6434175" y="2240280"/>
            <a:ext cx="2133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5D7A49"/>
                </a:solidFill>
                <a:latin typeface="Arial"/>
                <a:ea typeface="Arial"/>
                <a:cs typeface="Arial"/>
                <a:sym typeface="Arial"/>
              </a:rPr>
              <a:t>3</a:t>
            </a:r>
            <a:endParaRPr/>
          </a:p>
        </p:txBody>
      </p:sp>
      <p:sp>
        <p:nvSpPr>
          <p:cNvPr id="358" name="Google Shape;358;g3f54b91471f_0_321"/>
          <p:cNvSpPr txBox="1"/>
          <p:nvPr/>
        </p:nvSpPr>
        <p:spPr>
          <a:xfrm>
            <a:off x="6434175" y="2715768"/>
            <a:ext cx="2133600" cy="2079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350" u="none" cap="none" strike="noStrike">
                <a:solidFill>
                  <a:srgbClr val="1B1E17"/>
                </a:solidFill>
                <a:latin typeface="Arial"/>
                <a:ea typeface="Arial"/>
                <a:cs typeface="Arial"/>
                <a:sym typeface="Arial"/>
              </a:rPr>
              <a:t>Normalize &amp; categorize</a:t>
            </a:r>
            <a:endParaRPr/>
          </a:p>
        </p:txBody>
      </p:sp>
      <p:sp>
        <p:nvSpPr>
          <p:cNvPr id="359" name="Google Shape;359;g3f54b91471f_0_321"/>
          <p:cNvSpPr txBox="1"/>
          <p:nvPr/>
        </p:nvSpPr>
        <p:spPr>
          <a:xfrm>
            <a:off x="6434175" y="3227832"/>
            <a:ext cx="2133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7C9A6A"/>
                </a:solidFill>
                <a:latin typeface="Arial"/>
                <a:ea typeface="Arial"/>
                <a:cs typeface="Arial"/>
                <a:sym typeface="Arial"/>
              </a:rPr>
              <a:t>units · categories · non_food</a:t>
            </a:r>
            <a:endParaRPr/>
          </a:p>
        </p:txBody>
      </p:sp>
      <p:sp>
        <p:nvSpPr>
          <p:cNvPr id="360" name="Google Shape;360;g3f54b91471f_0_321"/>
          <p:cNvSpPr txBox="1"/>
          <p:nvPr/>
        </p:nvSpPr>
        <p:spPr>
          <a:xfrm>
            <a:off x="6434175" y="3538728"/>
            <a:ext cx="2115300" cy="1380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Units → canonical {g, kg, ml, l, piece}; piece→grams table (egg 60 g, bread 500 g).</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Category from German keyword maps → drives per-100 g nutrition fallback.</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Learns items the user marked “Not food” on earlier receipts.</a:t>
            </a:r>
            <a:endParaRPr/>
          </a:p>
        </p:txBody>
      </p:sp>
      <p:sp>
        <p:nvSpPr>
          <p:cNvPr id="361" name="Google Shape;361;g3f54b91471f_0_321"/>
          <p:cNvSpPr/>
          <p:nvPr/>
        </p:nvSpPr>
        <p:spPr>
          <a:xfrm>
            <a:off x="9006611" y="2057400"/>
            <a:ext cx="2499300" cy="4160400"/>
          </a:xfrm>
          <a:prstGeom prst="roundRect">
            <a:avLst>
              <a:gd fmla="val 5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g3f54b91471f_0_321"/>
          <p:cNvSpPr txBox="1"/>
          <p:nvPr/>
        </p:nvSpPr>
        <p:spPr>
          <a:xfrm>
            <a:off x="9207779" y="2240280"/>
            <a:ext cx="2133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00" u="none" cap="none" strike="noStrike">
                <a:solidFill>
                  <a:srgbClr val="5D7A49"/>
                </a:solidFill>
                <a:latin typeface="Arial"/>
                <a:ea typeface="Arial"/>
                <a:cs typeface="Arial"/>
                <a:sym typeface="Arial"/>
              </a:rPr>
              <a:t>4</a:t>
            </a:r>
            <a:endParaRPr/>
          </a:p>
        </p:txBody>
      </p:sp>
      <p:sp>
        <p:nvSpPr>
          <p:cNvPr id="363" name="Google Shape;363;g3f54b91471f_0_321"/>
          <p:cNvSpPr txBox="1"/>
          <p:nvPr/>
        </p:nvSpPr>
        <p:spPr>
          <a:xfrm>
            <a:off x="9207779" y="2715768"/>
            <a:ext cx="2133600" cy="2079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1350" u="none" cap="none" strike="noStrike">
                <a:solidFill>
                  <a:srgbClr val="1B1E17"/>
                </a:solidFill>
                <a:latin typeface="Arial"/>
                <a:ea typeface="Arial"/>
                <a:cs typeface="Arial"/>
                <a:sym typeface="Arial"/>
              </a:rPr>
              <a:t>Validate &amp; store</a:t>
            </a:r>
            <a:endParaRPr/>
          </a:p>
        </p:txBody>
      </p:sp>
      <p:sp>
        <p:nvSpPr>
          <p:cNvPr id="364" name="Google Shape;364;g3f54b91471f_0_321"/>
          <p:cNvSpPr txBox="1"/>
          <p:nvPr/>
        </p:nvSpPr>
        <p:spPr>
          <a:xfrm>
            <a:off x="9207779" y="3227832"/>
            <a:ext cx="2133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7C9A6A"/>
                </a:solidFill>
                <a:latin typeface="Arial"/>
                <a:ea typeface="Arial"/>
                <a:cs typeface="Arial"/>
                <a:sym typeface="Arial"/>
              </a:rPr>
              <a:t>receipts.py</a:t>
            </a:r>
            <a:endParaRPr/>
          </a:p>
        </p:txBody>
      </p:sp>
      <p:sp>
        <p:nvSpPr>
          <p:cNvPr id="365" name="Google Shape;365;g3f54b91471f_0_321"/>
          <p:cNvSpPr txBox="1"/>
          <p:nvPr/>
        </p:nvSpPr>
        <p:spPr>
          <a:xfrm>
            <a:off x="9207779" y="3538728"/>
            <a:ext cx="2115300" cy="1602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Validated against Pydantic schema; 0 items → 422.</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Stores raw_text + store + purchase_date; item confidence 0.9 (explicit) / 0.5 (inferred).</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Feeds the pantry; original image kept temporarily, deleted after review.</a:t>
            </a:r>
            <a:endParaRPr/>
          </a:p>
          <a:p>
            <a:pPr indent="0" lvl="0" marL="0" marR="0" rtl="0" algn="l">
              <a:lnSpc>
                <a:spcPct val="108000"/>
              </a:lnSpc>
              <a:spcBef>
                <a:spcPts val="500"/>
              </a:spcBef>
              <a:spcAft>
                <a:spcPts val="0"/>
              </a:spcAft>
              <a:buNone/>
            </a:pPr>
            <a:r>
              <a:rPr b="1" i="0" lang="en-US" sz="950" u="none" cap="none" strike="noStrike">
                <a:solidFill>
                  <a:srgbClr val="5D7A49"/>
                </a:solidFill>
                <a:latin typeface="Arial"/>
                <a:ea typeface="Arial"/>
                <a:cs typeface="Arial"/>
                <a:sym typeface="Arial"/>
              </a:rPr>
              <a:t>•  </a:t>
            </a:r>
            <a:r>
              <a:rPr b="0" i="0" lang="en-US" sz="950" u="none" cap="none" strike="noStrike">
                <a:solidFill>
                  <a:srgbClr val="5F6854"/>
                </a:solidFill>
                <a:latin typeface="Arial"/>
                <a:ea typeface="Arial"/>
                <a:cs typeface="Arial"/>
                <a:sym typeface="Arial"/>
              </a:rPr>
              <a:t>Later GET /receipts/{id}/mapping → OpenFoodFacts / BLS.</a:t>
            </a:r>
            <a:endParaRPr/>
          </a:p>
        </p:txBody>
      </p:sp>
      <p:sp>
        <p:nvSpPr>
          <p:cNvPr id="366" name="Google Shape;366;g3f54b91471f_0_321"/>
          <p:cNvSpPr txBox="1"/>
          <p:nvPr/>
        </p:nvSpPr>
        <p:spPr>
          <a:xfrm>
            <a:off x="3221659" y="3886200"/>
            <a:ext cx="2742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8B937D"/>
                </a:solidFill>
                <a:latin typeface="Arial"/>
                <a:ea typeface="Arial"/>
                <a:cs typeface="Arial"/>
                <a:sym typeface="Arial"/>
              </a:rPr>
              <a:t>→</a:t>
            </a:r>
            <a:endParaRPr/>
          </a:p>
        </p:txBody>
      </p:sp>
      <p:sp>
        <p:nvSpPr>
          <p:cNvPr id="367" name="Google Shape;367;g3f54b91471f_0_321"/>
          <p:cNvSpPr txBox="1"/>
          <p:nvPr/>
        </p:nvSpPr>
        <p:spPr>
          <a:xfrm>
            <a:off x="5995263" y="3886200"/>
            <a:ext cx="2742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8B937D"/>
                </a:solidFill>
                <a:latin typeface="Arial"/>
                <a:ea typeface="Arial"/>
                <a:cs typeface="Arial"/>
                <a:sym typeface="Arial"/>
              </a:rPr>
              <a:t>→</a:t>
            </a:r>
            <a:endParaRPr/>
          </a:p>
        </p:txBody>
      </p:sp>
      <p:sp>
        <p:nvSpPr>
          <p:cNvPr id="368" name="Google Shape;368;g3f54b91471f_0_321"/>
          <p:cNvSpPr txBox="1"/>
          <p:nvPr/>
        </p:nvSpPr>
        <p:spPr>
          <a:xfrm>
            <a:off x="8768867" y="3886200"/>
            <a:ext cx="2742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8B937D"/>
                </a:solidFill>
                <a:latin typeface="Arial"/>
                <a:ea typeface="Arial"/>
                <a:cs typeface="Arial"/>
                <a:sym typeface="Arial"/>
              </a:rPr>
              <a:t>→</a:t>
            </a:r>
            <a:endParaRPr/>
          </a:p>
        </p:txBody>
      </p:sp>
      <p:sp>
        <p:nvSpPr>
          <p:cNvPr id="369" name="Google Shape;369;g3f54b91471f_0_321"/>
          <p:cNvSpPr txBox="1"/>
          <p:nvPr/>
        </p:nvSpPr>
        <p:spPr>
          <a:xfrm>
            <a:off x="685800" y="6446520"/>
            <a:ext cx="108201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8B937D"/>
                </a:solidFill>
                <a:latin typeface="Arial"/>
                <a:ea typeface="Arial"/>
                <a:cs typeface="Arial"/>
                <a:sym typeface="Arial"/>
              </a:rPr>
              <a:t>This pipeline is upstream of the matching evaluated in this deck — OCR recall is the ceiling on what matching can reach (see ml/ocr_eval.py).</a:t>
            </a:r>
            <a:endParaRPr/>
          </a:p>
        </p:txBody>
      </p:sp>
      <p:sp>
        <p:nvSpPr>
          <p:cNvPr id="370" name="Google Shape;370;g3f54b91471f_0_321"/>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lang="en-US" sz="900">
                <a:solidFill>
                  <a:srgbClr val="6E6F74"/>
                </a:solidFill>
              </a:rPr>
              <a:t>Appendix</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g3f54b91471f_0_20"/>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EXPLORATORY DATA ANALYSIS</a:t>
            </a:r>
            <a:endParaRPr/>
          </a:p>
        </p:txBody>
      </p:sp>
      <p:sp>
        <p:nvSpPr>
          <p:cNvPr id="376" name="Google Shape;376;g3f54b91471f_0_20"/>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Two worlds that don't line up</a:t>
            </a:r>
            <a:endParaRPr/>
          </a:p>
        </p:txBody>
      </p:sp>
      <p:sp>
        <p:nvSpPr>
          <p:cNvPr id="377" name="Google Shape;377;g3f54b91471f_0_20"/>
          <p:cNvSpPr txBox="1"/>
          <p:nvPr/>
        </p:nvSpPr>
        <p:spPr>
          <a:xfrm>
            <a:off x="685800" y="1795939"/>
            <a:ext cx="5135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8B937D"/>
                </a:solidFill>
                <a:latin typeface="Arial"/>
                <a:ea typeface="Arial"/>
                <a:cs typeface="Arial"/>
                <a:sym typeface="Arial"/>
              </a:rPr>
              <a:t>QUERY SIDE · REAL RECEIPTS </a:t>
            </a:r>
            <a:r>
              <a:rPr b="1" lang="en-US" sz="1100">
                <a:solidFill>
                  <a:srgbClr val="8B937D"/>
                </a:solidFill>
              </a:rPr>
              <a:t>→ s</a:t>
            </a:r>
            <a:r>
              <a:rPr b="1" lang="en-US" sz="1100">
                <a:solidFill>
                  <a:srgbClr val="8B937D"/>
                </a:solidFill>
              </a:rPr>
              <a:t>hort, cryptic, brand-heavy </a:t>
            </a:r>
            <a:endParaRPr b="1" sz="1100">
              <a:solidFill>
                <a:srgbClr val="8B937D"/>
              </a:solidFill>
            </a:endParaRPr>
          </a:p>
        </p:txBody>
      </p:sp>
      <p:sp>
        <p:nvSpPr>
          <p:cNvPr id="378" name="Google Shape;378;g3f54b91471f_0_20"/>
          <p:cNvSpPr txBox="1"/>
          <p:nvPr/>
        </p:nvSpPr>
        <p:spPr>
          <a:xfrm>
            <a:off x="685800" y="2115979"/>
            <a:ext cx="5135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B1E17"/>
                </a:solidFill>
                <a:latin typeface="Arial"/>
                <a:ea typeface="Arial"/>
                <a:cs typeface="Arial"/>
                <a:sym typeface="Arial"/>
              </a:rPr>
              <a:t>180 lines · 27 receipts · 7 German chains</a:t>
            </a:r>
            <a:endParaRPr/>
          </a:p>
        </p:txBody>
      </p:sp>
      <p:sp>
        <p:nvSpPr>
          <p:cNvPr id="379" name="Google Shape;379;g3f54b91471f_0_20"/>
          <p:cNvSpPr txBox="1"/>
          <p:nvPr/>
        </p:nvSpPr>
        <p:spPr>
          <a:xfrm>
            <a:off x="685800" y="2600611"/>
            <a:ext cx="9144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LIDL</a:t>
            </a:r>
            <a:endParaRPr/>
          </a:p>
        </p:txBody>
      </p:sp>
      <p:sp>
        <p:nvSpPr>
          <p:cNvPr id="380" name="Google Shape;380;g3f54b91471f_0_20"/>
          <p:cNvSpPr/>
          <p:nvPr/>
        </p:nvSpPr>
        <p:spPr>
          <a:xfrm>
            <a:off x="1709928" y="2637187"/>
            <a:ext cx="35355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g3f54b91471f_0_20"/>
          <p:cNvSpPr/>
          <p:nvPr/>
        </p:nvSpPr>
        <p:spPr>
          <a:xfrm>
            <a:off x="1709928" y="2637187"/>
            <a:ext cx="35355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g3f54b91471f_0_20"/>
          <p:cNvSpPr txBox="1"/>
          <p:nvPr/>
        </p:nvSpPr>
        <p:spPr>
          <a:xfrm>
            <a:off x="5318607" y="2600611"/>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68</a:t>
            </a:r>
            <a:endParaRPr/>
          </a:p>
        </p:txBody>
      </p:sp>
      <p:sp>
        <p:nvSpPr>
          <p:cNvPr id="383" name="Google Shape;383;g3f54b91471f_0_20"/>
          <p:cNvSpPr txBox="1"/>
          <p:nvPr/>
        </p:nvSpPr>
        <p:spPr>
          <a:xfrm>
            <a:off x="685800" y="2984659"/>
            <a:ext cx="9144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Netto</a:t>
            </a:r>
            <a:endParaRPr/>
          </a:p>
        </p:txBody>
      </p:sp>
      <p:sp>
        <p:nvSpPr>
          <p:cNvPr id="384" name="Google Shape;384;g3f54b91471f_0_20"/>
          <p:cNvSpPr/>
          <p:nvPr/>
        </p:nvSpPr>
        <p:spPr>
          <a:xfrm>
            <a:off x="1709928" y="3021235"/>
            <a:ext cx="35355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g3f54b91471f_0_20"/>
          <p:cNvSpPr/>
          <p:nvPr/>
        </p:nvSpPr>
        <p:spPr>
          <a:xfrm>
            <a:off x="1709928" y="3021235"/>
            <a:ext cx="28638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g3f54b91471f_0_20"/>
          <p:cNvSpPr txBox="1"/>
          <p:nvPr/>
        </p:nvSpPr>
        <p:spPr>
          <a:xfrm>
            <a:off x="5318607" y="2984659"/>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55</a:t>
            </a:r>
            <a:endParaRPr/>
          </a:p>
        </p:txBody>
      </p:sp>
      <p:sp>
        <p:nvSpPr>
          <p:cNvPr id="387" name="Google Shape;387;g3f54b91471f_0_20"/>
          <p:cNvSpPr txBox="1"/>
          <p:nvPr/>
        </p:nvSpPr>
        <p:spPr>
          <a:xfrm>
            <a:off x="685800" y="3368707"/>
            <a:ext cx="9144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ALDI</a:t>
            </a:r>
            <a:endParaRPr/>
          </a:p>
        </p:txBody>
      </p:sp>
      <p:sp>
        <p:nvSpPr>
          <p:cNvPr id="388" name="Google Shape;388;g3f54b91471f_0_20"/>
          <p:cNvSpPr/>
          <p:nvPr/>
        </p:nvSpPr>
        <p:spPr>
          <a:xfrm>
            <a:off x="1709928" y="3405282"/>
            <a:ext cx="35355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g3f54b91471f_0_20"/>
          <p:cNvSpPr/>
          <p:nvPr/>
        </p:nvSpPr>
        <p:spPr>
          <a:xfrm>
            <a:off x="1709928" y="3405282"/>
            <a:ext cx="11313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g3f54b91471f_0_20"/>
          <p:cNvSpPr txBox="1"/>
          <p:nvPr/>
        </p:nvSpPr>
        <p:spPr>
          <a:xfrm>
            <a:off x="5318607" y="3368707"/>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22</a:t>
            </a:r>
            <a:endParaRPr/>
          </a:p>
        </p:txBody>
      </p:sp>
      <p:sp>
        <p:nvSpPr>
          <p:cNvPr id="391" name="Google Shape;391;g3f54b91471f_0_20"/>
          <p:cNvSpPr txBox="1"/>
          <p:nvPr/>
        </p:nvSpPr>
        <p:spPr>
          <a:xfrm>
            <a:off x="685800" y="3752755"/>
            <a:ext cx="9144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EDEKA</a:t>
            </a:r>
            <a:endParaRPr/>
          </a:p>
        </p:txBody>
      </p:sp>
      <p:sp>
        <p:nvSpPr>
          <p:cNvPr id="392" name="Google Shape;392;g3f54b91471f_0_20"/>
          <p:cNvSpPr/>
          <p:nvPr/>
        </p:nvSpPr>
        <p:spPr>
          <a:xfrm>
            <a:off x="1709928" y="3789331"/>
            <a:ext cx="35355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g3f54b91471f_0_20"/>
          <p:cNvSpPr/>
          <p:nvPr/>
        </p:nvSpPr>
        <p:spPr>
          <a:xfrm>
            <a:off x="1709928" y="3789331"/>
            <a:ext cx="10254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g3f54b91471f_0_20"/>
          <p:cNvSpPr txBox="1"/>
          <p:nvPr/>
        </p:nvSpPr>
        <p:spPr>
          <a:xfrm>
            <a:off x="5318607" y="3752755"/>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20</a:t>
            </a:r>
            <a:endParaRPr/>
          </a:p>
        </p:txBody>
      </p:sp>
      <p:sp>
        <p:nvSpPr>
          <p:cNvPr id="395" name="Google Shape;395;g3f54b91471f_0_20"/>
          <p:cNvSpPr txBox="1"/>
          <p:nvPr/>
        </p:nvSpPr>
        <p:spPr>
          <a:xfrm>
            <a:off x="685800" y="4136803"/>
            <a:ext cx="9144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others</a:t>
            </a:r>
            <a:endParaRPr/>
          </a:p>
        </p:txBody>
      </p:sp>
      <p:sp>
        <p:nvSpPr>
          <p:cNvPr id="396" name="Google Shape;396;g3f54b91471f_0_20"/>
          <p:cNvSpPr/>
          <p:nvPr/>
        </p:nvSpPr>
        <p:spPr>
          <a:xfrm>
            <a:off x="1709928" y="4173378"/>
            <a:ext cx="35355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g3f54b91471f_0_20"/>
          <p:cNvSpPr/>
          <p:nvPr/>
        </p:nvSpPr>
        <p:spPr>
          <a:xfrm>
            <a:off x="1709928" y="4173378"/>
            <a:ext cx="7779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g3f54b91471f_0_20"/>
          <p:cNvSpPr txBox="1"/>
          <p:nvPr/>
        </p:nvSpPr>
        <p:spPr>
          <a:xfrm>
            <a:off x="5318607" y="4136803"/>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15</a:t>
            </a:r>
            <a:endParaRPr/>
          </a:p>
        </p:txBody>
      </p:sp>
      <p:sp>
        <p:nvSpPr>
          <p:cNvPr id="399" name="Google Shape;399;g3f54b91471f_0_20"/>
          <p:cNvSpPr txBox="1"/>
          <p:nvPr/>
        </p:nvSpPr>
        <p:spPr>
          <a:xfrm>
            <a:off x="685800" y="4630579"/>
            <a:ext cx="51357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5F6854"/>
                </a:solidFill>
                <a:latin typeface="Arial"/>
                <a:ea typeface="Arial"/>
                <a:cs typeface="Arial"/>
                <a:sym typeface="Arial"/>
              </a:rPr>
              <a:t>Vegetable-/dairy-/fruit-heavy (veg 60 · dairy 23 · fruit 22).</a:t>
            </a:r>
            <a:endParaRPr/>
          </a:p>
        </p:txBody>
      </p:sp>
      <p:sp>
        <p:nvSpPr>
          <p:cNvPr id="400" name="Google Shape;400;g3f54b91471f_0_20"/>
          <p:cNvSpPr txBox="1"/>
          <p:nvPr/>
        </p:nvSpPr>
        <p:spPr>
          <a:xfrm>
            <a:off x="6370167" y="1795939"/>
            <a:ext cx="51357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00" u="none" cap="none" strike="noStrike">
                <a:solidFill>
                  <a:srgbClr val="8B937D"/>
                </a:solidFill>
                <a:latin typeface="Arial"/>
                <a:ea typeface="Arial"/>
                <a:cs typeface="Arial"/>
                <a:sym typeface="Arial"/>
              </a:rPr>
              <a:t>TARGET SIDE · BLS 4.0 </a:t>
            </a:r>
            <a:r>
              <a:rPr b="1" lang="en-US" sz="1100">
                <a:solidFill>
                  <a:srgbClr val="8B937D"/>
                </a:solidFill>
              </a:rPr>
              <a:t>→ </a:t>
            </a:r>
            <a:r>
              <a:rPr b="1" lang="en-US" sz="1100">
                <a:solidFill>
                  <a:srgbClr val="8B937D"/>
                </a:solidFill>
              </a:rPr>
              <a:t>long and finely graded</a:t>
            </a:r>
            <a:endParaRPr b="1" sz="1100">
              <a:solidFill>
                <a:srgbClr val="8B937D"/>
              </a:solidFill>
            </a:endParaRPr>
          </a:p>
        </p:txBody>
      </p:sp>
      <p:sp>
        <p:nvSpPr>
          <p:cNvPr id="401" name="Google Shape;401;g3f54b91471f_0_20"/>
          <p:cNvSpPr txBox="1"/>
          <p:nvPr/>
        </p:nvSpPr>
        <p:spPr>
          <a:xfrm>
            <a:off x="6370167" y="2115979"/>
            <a:ext cx="51357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B1E17"/>
                </a:solidFill>
                <a:latin typeface="Arial"/>
                <a:ea typeface="Arial"/>
                <a:cs typeface="Arial"/>
                <a:sym typeface="Arial"/>
              </a:rPr>
              <a:t>7,140 names · avg 34.9 chars · DE + EN</a:t>
            </a:r>
            <a:endParaRPr/>
          </a:p>
        </p:txBody>
      </p:sp>
      <p:sp>
        <p:nvSpPr>
          <p:cNvPr id="402" name="Google Shape;402;g3f54b91471f_0_20"/>
          <p:cNvSpPr txBox="1"/>
          <p:nvPr/>
        </p:nvSpPr>
        <p:spPr>
          <a:xfrm>
            <a:off x="6370167" y="2600611"/>
            <a:ext cx="10515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fried</a:t>
            </a:r>
            <a:endParaRPr/>
          </a:p>
        </p:txBody>
      </p:sp>
      <p:sp>
        <p:nvSpPr>
          <p:cNvPr id="403" name="Google Shape;403;g3f54b91471f_0_20"/>
          <p:cNvSpPr/>
          <p:nvPr/>
        </p:nvSpPr>
        <p:spPr>
          <a:xfrm>
            <a:off x="7531455" y="2637187"/>
            <a:ext cx="33984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g3f54b91471f_0_20"/>
          <p:cNvSpPr/>
          <p:nvPr/>
        </p:nvSpPr>
        <p:spPr>
          <a:xfrm>
            <a:off x="7531455" y="2637187"/>
            <a:ext cx="33984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g3f54b91471f_0_20"/>
          <p:cNvSpPr txBox="1"/>
          <p:nvPr/>
        </p:nvSpPr>
        <p:spPr>
          <a:xfrm>
            <a:off x="11002975" y="2600611"/>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958</a:t>
            </a:r>
            <a:endParaRPr/>
          </a:p>
        </p:txBody>
      </p:sp>
      <p:sp>
        <p:nvSpPr>
          <p:cNvPr id="406" name="Google Shape;406;g3f54b91471f_0_20"/>
          <p:cNvSpPr txBox="1"/>
          <p:nvPr/>
        </p:nvSpPr>
        <p:spPr>
          <a:xfrm>
            <a:off x="6370167" y="2984659"/>
            <a:ext cx="10515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raw</a:t>
            </a:r>
            <a:endParaRPr/>
          </a:p>
        </p:txBody>
      </p:sp>
      <p:sp>
        <p:nvSpPr>
          <p:cNvPr id="407" name="Google Shape;407;g3f54b91471f_0_20"/>
          <p:cNvSpPr/>
          <p:nvPr/>
        </p:nvSpPr>
        <p:spPr>
          <a:xfrm>
            <a:off x="7531455" y="3021235"/>
            <a:ext cx="33984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g3f54b91471f_0_20"/>
          <p:cNvSpPr/>
          <p:nvPr/>
        </p:nvSpPr>
        <p:spPr>
          <a:xfrm>
            <a:off x="7531455" y="3021235"/>
            <a:ext cx="25488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g3f54b91471f_0_20"/>
          <p:cNvSpPr txBox="1"/>
          <p:nvPr/>
        </p:nvSpPr>
        <p:spPr>
          <a:xfrm>
            <a:off x="11002975" y="2984659"/>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722</a:t>
            </a:r>
            <a:endParaRPr/>
          </a:p>
        </p:txBody>
      </p:sp>
      <p:sp>
        <p:nvSpPr>
          <p:cNvPr id="410" name="Google Shape;410;g3f54b91471f_0_20"/>
          <p:cNvSpPr txBox="1"/>
          <p:nvPr/>
        </p:nvSpPr>
        <p:spPr>
          <a:xfrm>
            <a:off x="6370167" y="3368707"/>
            <a:ext cx="10515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frozen</a:t>
            </a:r>
            <a:endParaRPr/>
          </a:p>
        </p:txBody>
      </p:sp>
      <p:sp>
        <p:nvSpPr>
          <p:cNvPr id="411" name="Google Shape;411;g3f54b91471f_0_20"/>
          <p:cNvSpPr/>
          <p:nvPr/>
        </p:nvSpPr>
        <p:spPr>
          <a:xfrm>
            <a:off x="7531455" y="3405282"/>
            <a:ext cx="33984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g3f54b91471f_0_20"/>
          <p:cNvSpPr/>
          <p:nvPr/>
        </p:nvSpPr>
        <p:spPr>
          <a:xfrm>
            <a:off x="7531455" y="3405282"/>
            <a:ext cx="24129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g3f54b91471f_0_20"/>
          <p:cNvSpPr txBox="1"/>
          <p:nvPr/>
        </p:nvSpPr>
        <p:spPr>
          <a:xfrm>
            <a:off x="11002975" y="3368707"/>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676</a:t>
            </a:r>
            <a:endParaRPr/>
          </a:p>
        </p:txBody>
      </p:sp>
      <p:sp>
        <p:nvSpPr>
          <p:cNvPr id="414" name="Google Shape;414;g3f54b91471f_0_20"/>
          <p:cNvSpPr txBox="1"/>
          <p:nvPr/>
        </p:nvSpPr>
        <p:spPr>
          <a:xfrm>
            <a:off x="6370167" y="3752755"/>
            <a:ext cx="10515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boiled</a:t>
            </a:r>
            <a:endParaRPr/>
          </a:p>
        </p:txBody>
      </p:sp>
      <p:sp>
        <p:nvSpPr>
          <p:cNvPr id="415" name="Google Shape;415;g3f54b91471f_0_20"/>
          <p:cNvSpPr/>
          <p:nvPr/>
        </p:nvSpPr>
        <p:spPr>
          <a:xfrm>
            <a:off x="7531455" y="3789331"/>
            <a:ext cx="33984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g3f54b91471f_0_20"/>
          <p:cNvSpPr/>
          <p:nvPr/>
        </p:nvSpPr>
        <p:spPr>
          <a:xfrm>
            <a:off x="7531455" y="3789331"/>
            <a:ext cx="18012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g3f54b91471f_0_20"/>
          <p:cNvSpPr txBox="1"/>
          <p:nvPr/>
        </p:nvSpPr>
        <p:spPr>
          <a:xfrm>
            <a:off x="11002975" y="3752755"/>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508</a:t>
            </a:r>
            <a:endParaRPr/>
          </a:p>
        </p:txBody>
      </p:sp>
      <p:sp>
        <p:nvSpPr>
          <p:cNvPr id="418" name="Google Shape;418;g3f54b91471f_0_20"/>
          <p:cNvSpPr txBox="1"/>
          <p:nvPr/>
        </p:nvSpPr>
        <p:spPr>
          <a:xfrm>
            <a:off x="6370167" y="4264819"/>
            <a:ext cx="51357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5F6854"/>
                </a:solidFill>
                <a:latin typeface="Arial"/>
                <a:ea typeface="Arial"/>
                <a:cs typeface="Arial"/>
                <a:sym typeface="Arial"/>
              </a:rPr>
              <a:t>Many near-duplicates from preparation &amp; fat levels (raw/boiled/fried …).</a:t>
            </a:r>
            <a:endParaRPr/>
          </a:p>
        </p:txBody>
      </p:sp>
      <p:sp>
        <p:nvSpPr>
          <p:cNvPr id="419" name="Google Shape;419;g3f54b91471f_0_20"/>
          <p:cNvSpPr/>
          <p:nvPr/>
        </p:nvSpPr>
        <p:spPr>
          <a:xfrm>
            <a:off x="685800" y="5623560"/>
            <a:ext cx="54900" cy="5670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0" name="Google Shape;420;g3f54b91471f_0_20"/>
          <p:cNvSpPr txBox="1"/>
          <p:nvPr/>
        </p:nvSpPr>
        <p:spPr>
          <a:xfrm>
            <a:off x="886968" y="5623560"/>
            <a:ext cx="10545900" cy="2001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300" u="none" cap="none" strike="noStrike">
                <a:solidFill>
                  <a:srgbClr val="1B1E17"/>
                </a:solidFill>
                <a:latin typeface="Arial"/>
                <a:ea typeface="Arial"/>
                <a:cs typeface="Arial"/>
                <a:sym typeface="Arial"/>
              </a:rPr>
              <a:t>Only </a:t>
            </a:r>
            <a:r>
              <a:rPr b="1" i="0" lang="en-US" sz="1300" u="none" cap="none" strike="noStrike">
                <a:solidFill>
                  <a:srgbClr val="5D7A49"/>
                </a:solidFill>
                <a:latin typeface="Arial"/>
                <a:ea typeface="Arial"/>
                <a:cs typeface="Arial"/>
                <a:sym typeface="Arial"/>
              </a:rPr>
              <a:t>1 / 180</a:t>
            </a:r>
            <a:r>
              <a:rPr b="0" i="0" lang="en-US" sz="1300" u="none" cap="none" strike="noStrike">
                <a:solidFill>
                  <a:srgbClr val="1B1E17"/>
                </a:solidFill>
                <a:latin typeface="Arial"/>
                <a:ea typeface="Arial"/>
                <a:cs typeface="Arial"/>
                <a:sym typeface="Arial"/>
              </a:rPr>
              <a:t> receipt lines sits verbatim in the BLS · </a:t>
            </a:r>
            <a:r>
              <a:rPr b="1" i="0" lang="en-US" sz="1300" u="none" cap="none" strike="noStrike">
                <a:solidFill>
                  <a:srgbClr val="5D7A49"/>
                </a:solidFill>
                <a:latin typeface="Arial"/>
                <a:ea typeface="Arial"/>
                <a:cs typeface="Arial"/>
                <a:sym typeface="Arial"/>
              </a:rPr>
              <a:t>79%</a:t>
            </a:r>
            <a:r>
              <a:rPr b="0" i="0" lang="en-US" sz="1300" u="none" cap="none" strike="noStrike">
                <a:solidFill>
                  <a:srgbClr val="1B1E17"/>
                </a:solidFill>
                <a:latin typeface="Arial"/>
                <a:ea typeface="Arial"/>
                <a:cs typeface="Arial"/>
                <a:sym typeface="Arial"/>
              </a:rPr>
              <a:t> need cleanup → exact lookup dead, fuzzy + semantic required.</a:t>
            </a:r>
            <a:endParaRPr/>
          </a:p>
        </p:txBody>
      </p:sp>
      <p:sp>
        <p:nvSpPr>
          <p:cNvPr id="421" name="Google Shape;421;g3f54b91471f_0_20"/>
          <p:cNvSpPr txBox="1"/>
          <p:nvPr/>
        </p:nvSpPr>
        <p:spPr>
          <a:xfrm>
            <a:off x="685800" y="6355080"/>
            <a:ext cx="108201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8B937D"/>
                </a:solidFill>
                <a:latin typeface="Arial"/>
                <a:ea typeface="Arial"/>
                <a:cs typeface="Arial"/>
                <a:sym typeface="Arial"/>
              </a:rPr>
              <a:t>Auxiliary data reviewed: Groceries (38,765 transactions) → consumption prediction · Instacart (49,688 products) → documented dead-end.</a:t>
            </a:r>
            <a:endParaRPr/>
          </a:p>
        </p:txBody>
      </p:sp>
      <p:sp>
        <p:nvSpPr>
          <p:cNvPr id="422" name="Google Shape;422;g3f54b91471f_0_20"/>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a:t>
            </a:r>
            <a:r>
              <a:rPr lang="en-US" sz="900">
                <a:solidFill>
                  <a:srgbClr val="6E6F74"/>
                </a:solidFill>
              </a:rPr>
              <a:t>8</a:t>
            </a:r>
            <a:r>
              <a:rPr b="0" i="0" lang="en-US" sz="900" u="none" cap="none" strike="noStrike">
                <a:solidFill>
                  <a:srgbClr val="6E6F74"/>
                </a:solidFill>
                <a:latin typeface="Arial"/>
                <a:ea typeface="Arial"/>
                <a:cs typeface="Arial"/>
                <a:sym typeface="Arial"/>
              </a:rPr>
              <a:t> / 13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27" name="Shape 427"/>
        <p:cNvGrpSpPr/>
        <p:nvPr/>
      </p:nvGrpSpPr>
      <p:grpSpPr>
        <a:xfrm>
          <a:off x="0" y="0"/>
          <a:ext cx="0" cy="0"/>
          <a:chOff x="0" y="0"/>
          <a:chExt cx="0" cy="0"/>
        </a:xfrm>
      </p:grpSpPr>
      <p:sp>
        <p:nvSpPr>
          <p:cNvPr id="428" name="Google Shape;428;p9"/>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DATA — SOURCES, SHAPE &amp; CHALLENGES</a:t>
            </a:r>
            <a:endParaRPr/>
          </a:p>
        </p:txBody>
      </p:sp>
      <p:sp>
        <p:nvSpPr>
          <p:cNvPr id="429" name="Google Shape;429;p9"/>
          <p:cNvSpPr txBox="1"/>
          <p:nvPr/>
        </p:nvSpPr>
        <p:spPr>
          <a:xfrm>
            <a:off x="822960" y="841248"/>
            <a:ext cx="105156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Three data worlds, stitched together</a:t>
            </a:r>
            <a:endParaRPr/>
          </a:p>
        </p:txBody>
      </p:sp>
      <p:sp>
        <p:nvSpPr>
          <p:cNvPr id="430" name="Google Shape;430;p9"/>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9"/>
          <p:cNvSpPr/>
          <p:nvPr/>
        </p:nvSpPr>
        <p:spPr>
          <a:xfrm>
            <a:off x="822960" y="1783080"/>
            <a:ext cx="3319272" cy="173736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9"/>
          <p:cNvSpPr/>
          <p:nvPr/>
        </p:nvSpPr>
        <p:spPr>
          <a:xfrm>
            <a:off x="822960" y="1911095"/>
            <a:ext cx="73152" cy="148132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9"/>
          <p:cNvSpPr txBox="1"/>
          <p:nvPr/>
        </p:nvSpPr>
        <p:spPr>
          <a:xfrm>
            <a:off x="1115568" y="1965960"/>
            <a:ext cx="2862072"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Grocery receipts</a:t>
            </a:r>
            <a:endParaRPr/>
          </a:p>
        </p:txBody>
      </p:sp>
      <p:sp>
        <p:nvSpPr>
          <p:cNvPr id="434" name="Google Shape;434;p9"/>
          <p:cNvSpPr txBox="1"/>
          <p:nvPr/>
        </p:nvSpPr>
        <p:spPr>
          <a:xfrm>
            <a:off x="1115568" y="2441448"/>
            <a:ext cx="2816400" cy="76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6E6F74"/>
                </a:solidFill>
                <a:latin typeface="Arial"/>
                <a:ea typeface="Arial"/>
                <a:cs typeface="Arial"/>
                <a:sym typeface="Arial"/>
              </a:rPr>
              <a:t>Real German receipts (Lidl / Netto / Edeka) → on-device OCR (Tesseract) → items</a:t>
            </a:r>
            <a:r>
              <a:rPr b="0" i="0" lang="en-US" sz="1150" u="none" cap="none" strike="noStrike">
                <a:solidFill>
                  <a:srgbClr val="6E6F74"/>
                </a:solidFill>
                <a:latin typeface="Arial"/>
                <a:ea typeface="Arial"/>
                <a:cs typeface="Arial"/>
                <a:sym typeface="Arial"/>
              </a:rPr>
              <a:t>.</a:t>
            </a:r>
            <a:r>
              <a:rPr b="0" i="0" lang="en-US" sz="1150" u="none" cap="none" strike="noStrike">
                <a:solidFill>
                  <a:srgbClr val="6E6F74"/>
                </a:solidFill>
                <a:latin typeface="Arial"/>
                <a:ea typeface="Arial"/>
                <a:cs typeface="Arial"/>
                <a:sym typeface="Arial"/>
              </a:rPr>
              <a:t> </a:t>
            </a:r>
            <a:endParaRPr b="0" i="0" sz="1150" u="none" cap="none" strike="noStrike">
              <a:solidFill>
                <a:srgbClr val="6E6F74"/>
              </a:solidFill>
              <a:latin typeface="Arial"/>
              <a:ea typeface="Arial"/>
              <a:cs typeface="Arial"/>
              <a:sym typeface="Arial"/>
            </a:endParaRPr>
          </a:p>
          <a:p>
            <a:pPr indent="0" lvl="0" marL="0" marR="0" rtl="0" algn="l">
              <a:lnSpc>
                <a:spcPct val="110000"/>
              </a:lnSpc>
              <a:spcBef>
                <a:spcPts val="0"/>
              </a:spcBef>
              <a:spcAft>
                <a:spcPts val="0"/>
              </a:spcAft>
              <a:buNone/>
            </a:pPr>
            <a:r>
              <a:t/>
            </a:r>
            <a:endParaRPr sz="1150">
              <a:solidFill>
                <a:srgbClr val="6E6F74"/>
              </a:solidFill>
            </a:endParaRPr>
          </a:p>
          <a:p>
            <a:pPr indent="0" lvl="0" marL="0" marR="0" rtl="0" algn="l">
              <a:lnSpc>
                <a:spcPct val="110000"/>
              </a:lnSpc>
              <a:spcBef>
                <a:spcPts val="0"/>
              </a:spcBef>
              <a:spcAft>
                <a:spcPts val="0"/>
              </a:spcAft>
              <a:buNone/>
            </a:pPr>
            <a:r>
              <a:rPr b="0" i="0" lang="en-US" sz="1150" u="none" cap="none" strike="noStrike">
                <a:solidFill>
                  <a:srgbClr val="6E6F74"/>
                </a:solidFill>
                <a:latin typeface="Arial"/>
                <a:ea typeface="Arial"/>
                <a:cs typeface="Arial"/>
                <a:sym typeface="Arial"/>
              </a:rPr>
              <a:t>Private: nothing leaves the phone.</a:t>
            </a:r>
            <a:endParaRPr/>
          </a:p>
        </p:txBody>
      </p:sp>
      <p:sp>
        <p:nvSpPr>
          <p:cNvPr id="435" name="Google Shape;435;p9"/>
          <p:cNvSpPr/>
          <p:nvPr/>
        </p:nvSpPr>
        <p:spPr>
          <a:xfrm>
            <a:off x="4361688" y="1783080"/>
            <a:ext cx="3319200" cy="173730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9"/>
          <p:cNvSpPr/>
          <p:nvPr/>
        </p:nvSpPr>
        <p:spPr>
          <a:xfrm>
            <a:off x="4361688" y="1911095"/>
            <a:ext cx="73152" cy="148132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9"/>
          <p:cNvSpPr/>
          <p:nvPr/>
        </p:nvSpPr>
        <p:spPr>
          <a:xfrm>
            <a:off x="7900416" y="1783080"/>
            <a:ext cx="3319272" cy="1737360"/>
          </a:xfrm>
          <a:prstGeom prst="roundRect">
            <a:avLst>
              <a:gd fmla="val 5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9"/>
          <p:cNvSpPr/>
          <p:nvPr/>
        </p:nvSpPr>
        <p:spPr>
          <a:xfrm>
            <a:off x="7900416" y="1911095"/>
            <a:ext cx="73200" cy="1481400"/>
          </a:xfrm>
          <a:prstGeom prst="rect">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9"/>
          <p:cNvSpPr/>
          <p:nvPr/>
        </p:nvSpPr>
        <p:spPr>
          <a:xfrm>
            <a:off x="822960" y="3749039"/>
            <a:ext cx="5074920" cy="1554480"/>
          </a:xfrm>
          <a:prstGeom prst="roundRect">
            <a:avLst>
              <a:gd fmla="val 6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Google Shape;440;p9"/>
          <p:cNvSpPr txBox="1"/>
          <p:nvPr/>
        </p:nvSpPr>
        <p:spPr>
          <a:xfrm>
            <a:off x="1051560" y="388620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5F7B4F"/>
                </a:solidFill>
                <a:latin typeface="Arial"/>
                <a:ea typeface="Arial"/>
                <a:cs typeface="Arial"/>
                <a:sym typeface="Arial"/>
              </a:rPr>
              <a:t>THE GOLD SET (matching test)</a:t>
            </a:r>
            <a:endParaRPr/>
          </a:p>
        </p:txBody>
      </p:sp>
      <p:sp>
        <p:nvSpPr>
          <p:cNvPr id="441" name="Google Shape;441;p9"/>
          <p:cNvSpPr txBox="1"/>
          <p:nvPr/>
        </p:nvSpPr>
        <p:spPr>
          <a:xfrm>
            <a:off x="1051560" y="4270248"/>
            <a:ext cx="4709100" cy="5526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lang="en-US" sz="2000">
                <a:solidFill>
                  <a:srgbClr val="5F7B4F"/>
                </a:solidFill>
              </a:rPr>
              <a:t>178</a:t>
            </a:r>
            <a:r>
              <a:rPr b="1" i="0" lang="en-US" sz="2000" u="none" cap="none" strike="noStrike">
                <a:solidFill>
                  <a:srgbClr val="5F7B4F"/>
                </a:solidFill>
                <a:latin typeface="Arial"/>
                <a:ea typeface="Arial"/>
                <a:cs typeface="Arial"/>
                <a:sym typeface="Arial"/>
              </a:rPr>
              <a:t> → 180</a:t>
            </a:r>
            <a:r>
              <a:rPr b="0" i="0" lang="en-US" sz="1250" u="none" cap="none" strike="noStrike">
                <a:solidFill>
                  <a:srgbClr val="1D1D21"/>
                </a:solidFill>
                <a:latin typeface="Arial"/>
                <a:ea typeface="Arial"/>
                <a:cs typeface="Arial"/>
                <a:sym typeface="Arial"/>
              </a:rPr>
              <a:t>  real receipt lines   ·   </a:t>
            </a:r>
            <a:r>
              <a:rPr b="1" i="0" lang="en-US" sz="1800" u="none" cap="none" strike="noStrike">
                <a:solidFill>
                  <a:srgbClr val="5F7B4F"/>
                </a:solidFill>
                <a:latin typeface="Arial"/>
                <a:ea typeface="Arial"/>
                <a:cs typeface="Arial"/>
                <a:sym typeface="Arial"/>
              </a:rPr>
              <a:t>152</a:t>
            </a:r>
            <a:r>
              <a:rPr b="0" i="0" lang="en-US" sz="1250" u="none" cap="none" strike="noStrike">
                <a:solidFill>
                  <a:srgbClr val="1D1D21"/>
                </a:solidFill>
                <a:latin typeface="Arial"/>
                <a:ea typeface="Arial"/>
                <a:cs typeface="Arial"/>
                <a:sym typeface="Arial"/>
              </a:rPr>
              <a:t> unique</a:t>
            </a:r>
            <a:endParaRPr/>
          </a:p>
          <a:p>
            <a:pPr indent="0" lvl="0" marL="0" marR="0" rtl="0" algn="l">
              <a:lnSpc>
                <a:spcPct val="112000"/>
              </a:lnSpc>
              <a:spcBef>
                <a:spcPts val="300"/>
              </a:spcBef>
              <a:spcAft>
                <a:spcPts val="0"/>
              </a:spcAft>
              <a:buNone/>
            </a:pPr>
            <a:r>
              <a:rPr b="0" i="0" lang="en-US" sz="1100" u="none" cap="none" strike="noStrike">
                <a:solidFill>
                  <a:srgbClr val="6E6F74"/>
                </a:solidFill>
                <a:latin typeface="Arial"/>
                <a:ea typeface="Arial"/>
                <a:cs typeface="Arial"/>
                <a:sym typeface="Arial"/>
              </a:rPr>
              <a:t>Each line labeled vs. the full 7,140-food corpus.</a:t>
            </a:r>
            <a:endParaRPr/>
          </a:p>
        </p:txBody>
      </p:sp>
      <p:sp>
        <p:nvSpPr>
          <p:cNvPr id="442" name="Google Shape;442;p9"/>
          <p:cNvSpPr/>
          <p:nvPr/>
        </p:nvSpPr>
        <p:spPr>
          <a:xfrm>
            <a:off x="6126475" y="3749054"/>
            <a:ext cx="5239500" cy="2169300"/>
          </a:xfrm>
          <a:prstGeom prst="roundRect">
            <a:avLst>
              <a:gd fmla="val 5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9"/>
          <p:cNvSpPr txBox="1"/>
          <p:nvPr/>
        </p:nvSpPr>
        <p:spPr>
          <a:xfrm>
            <a:off x="6355080" y="3886200"/>
            <a:ext cx="484632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B36A4A"/>
                </a:solidFill>
                <a:latin typeface="Arial"/>
                <a:ea typeface="Arial"/>
                <a:cs typeface="Arial"/>
                <a:sym typeface="Arial"/>
              </a:rPr>
              <a:t>HONEST DATA CHALLENGES</a:t>
            </a:r>
            <a:endParaRPr/>
          </a:p>
        </p:txBody>
      </p:sp>
      <p:sp>
        <p:nvSpPr>
          <p:cNvPr id="444" name="Google Shape;444;p9"/>
          <p:cNvSpPr txBox="1"/>
          <p:nvPr/>
        </p:nvSpPr>
        <p:spPr>
          <a:xfrm>
            <a:off x="6355080" y="4224528"/>
            <a:ext cx="4892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36A4A"/>
                </a:solidFill>
                <a:latin typeface="Arial"/>
                <a:ea typeface="Arial"/>
                <a:cs typeface="Arial"/>
                <a:sym typeface="Arial"/>
              </a:rPr>
              <a:t>•  </a:t>
            </a:r>
            <a:r>
              <a:rPr b="0" i="0" lang="en-US" sz="1150" u="none" cap="none" strike="noStrike">
                <a:solidFill>
                  <a:srgbClr val="1D1D21"/>
                </a:solidFill>
                <a:latin typeface="Arial"/>
                <a:ea typeface="Arial"/>
                <a:cs typeface="Arial"/>
                <a:sym typeface="Arial"/>
              </a:rPr>
              <a:t>Cryptic OCR, brand-vs-generic (“Budweiser” → “Pilsner Bier”)</a:t>
            </a:r>
            <a:endParaRPr/>
          </a:p>
        </p:txBody>
      </p:sp>
      <p:sp>
        <p:nvSpPr>
          <p:cNvPr id="445" name="Google Shape;445;p9"/>
          <p:cNvSpPr txBox="1"/>
          <p:nvPr/>
        </p:nvSpPr>
        <p:spPr>
          <a:xfrm>
            <a:off x="6355080" y="4562856"/>
            <a:ext cx="4892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36A4A"/>
                </a:solidFill>
                <a:latin typeface="Arial"/>
                <a:ea typeface="Arial"/>
                <a:cs typeface="Arial"/>
                <a:sym typeface="Arial"/>
              </a:rPr>
              <a:t>•  </a:t>
            </a:r>
            <a:r>
              <a:rPr b="0" i="0" lang="en-US" sz="1150" u="none" cap="none" strike="noStrike">
                <a:solidFill>
                  <a:srgbClr val="1D1D21"/>
                </a:solidFill>
                <a:latin typeface="Arial"/>
                <a:ea typeface="Arial"/>
                <a:cs typeface="Arial"/>
                <a:sym typeface="Arial"/>
              </a:rPr>
              <a:t>Real receipts are harder than clean text (brand, size, “bio”)</a:t>
            </a:r>
            <a:endParaRPr/>
          </a:p>
        </p:txBody>
      </p:sp>
      <p:sp>
        <p:nvSpPr>
          <p:cNvPr id="446" name="Google Shape;446;p9"/>
          <p:cNvSpPr txBox="1"/>
          <p:nvPr/>
        </p:nvSpPr>
        <p:spPr>
          <a:xfrm>
            <a:off x="6355080" y="4901184"/>
            <a:ext cx="4892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36A4A"/>
                </a:solidFill>
                <a:latin typeface="Arial"/>
                <a:ea typeface="Arial"/>
                <a:cs typeface="Arial"/>
                <a:sym typeface="Arial"/>
              </a:rPr>
              <a:t>•  </a:t>
            </a:r>
            <a:r>
              <a:rPr lang="en-US" sz="1150">
                <a:solidFill>
                  <a:srgbClr val="1D1D21"/>
                </a:solidFill>
              </a:rPr>
              <a:t>some product is missing in data base (147 in BLS + 4 in OFF correct)</a:t>
            </a:r>
            <a:endParaRPr/>
          </a:p>
        </p:txBody>
      </p:sp>
      <p:sp>
        <p:nvSpPr>
          <p:cNvPr id="447" name="Google Shape;447;p9"/>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448" name="Google Shape;448;p9"/>
          <p:cNvSpPr txBox="1"/>
          <p:nvPr/>
        </p:nvSpPr>
        <p:spPr>
          <a:xfrm>
            <a:off x="9875520" y="6428232"/>
            <a:ext cx="173736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09 / 13</a:t>
            </a:r>
            <a:endParaRPr/>
          </a:p>
        </p:txBody>
      </p:sp>
      <p:sp>
        <p:nvSpPr>
          <p:cNvPr id="449" name="Google Shape;449;p9"/>
          <p:cNvSpPr txBox="1"/>
          <p:nvPr/>
        </p:nvSpPr>
        <p:spPr>
          <a:xfrm>
            <a:off x="4629897" y="1998975"/>
            <a:ext cx="2862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BLS 4.0 table</a:t>
            </a:r>
            <a:endParaRPr/>
          </a:p>
        </p:txBody>
      </p:sp>
      <p:sp>
        <p:nvSpPr>
          <p:cNvPr id="450" name="Google Shape;450;p9"/>
          <p:cNvSpPr txBox="1"/>
          <p:nvPr/>
        </p:nvSpPr>
        <p:spPr>
          <a:xfrm>
            <a:off x="4629897" y="2474463"/>
            <a:ext cx="2816400" cy="5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6E6F74"/>
                </a:solidFill>
                <a:latin typeface="Arial"/>
                <a:ea typeface="Arial"/>
                <a:cs typeface="Arial"/>
                <a:sym typeface="Arial"/>
              </a:rPr>
              <a:t>German federal food database — ~7,140 foods. Our primary source of reliable nutrients.</a:t>
            </a:r>
            <a:endParaRPr/>
          </a:p>
        </p:txBody>
      </p:sp>
      <p:sp>
        <p:nvSpPr>
          <p:cNvPr id="451" name="Google Shape;451;p9"/>
          <p:cNvSpPr txBox="1"/>
          <p:nvPr/>
        </p:nvSpPr>
        <p:spPr>
          <a:xfrm>
            <a:off x="8137120" y="2017849"/>
            <a:ext cx="2862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Open Food Facts</a:t>
            </a:r>
            <a:endParaRPr/>
          </a:p>
        </p:txBody>
      </p:sp>
      <p:sp>
        <p:nvSpPr>
          <p:cNvPr id="452" name="Google Shape;452;p9"/>
          <p:cNvSpPr txBox="1"/>
          <p:nvPr/>
        </p:nvSpPr>
        <p:spPr>
          <a:xfrm>
            <a:off x="8137120" y="2493337"/>
            <a:ext cx="2816400" cy="5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u="none" cap="none" strike="noStrike">
                <a:solidFill>
                  <a:srgbClr val="6E6F74"/>
                </a:solidFill>
                <a:latin typeface="Arial"/>
                <a:ea typeface="Arial"/>
                <a:cs typeface="Arial"/>
                <a:sym typeface="Arial"/>
              </a:rPr>
              <a:t>Crowd-sourced branded-product data. Fallback for products the BLS structurally lacks.</a:t>
            </a:r>
            <a:endParaRPr/>
          </a:p>
        </p:txBody>
      </p:sp>
      <p:sp>
        <p:nvSpPr>
          <p:cNvPr id="453" name="Google Shape;453;p9"/>
          <p:cNvSpPr txBox="1"/>
          <p:nvPr/>
        </p:nvSpPr>
        <p:spPr>
          <a:xfrm>
            <a:off x="6332193" y="5239534"/>
            <a:ext cx="4892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36A4A"/>
                </a:solidFill>
                <a:latin typeface="Arial"/>
                <a:ea typeface="Arial"/>
                <a:cs typeface="Arial"/>
                <a:sym typeface="Arial"/>
              </a:rPr>
              <a:t>•  </a:t>
            </a:r>
            <a:r>
              <a:rPr b="0" i="0" lang="en-US" sz="1150" u="none" cap="none" strike="noStrike">
                <a:solidFill>
                  <a:srgbClr val="1D1D21"/>
                </a:solidFill>
                <a:latin typeface="Arial"/>
                <a:ea typeface="Arial"/>
                <a:cs typeface="Arial"/>
                <a:sym typeface="Arial"/>
              </a:rPr>
              <a:t>USDA tested &amp; rejected — blind to German foods  (Schmand, Bergkäse)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458" name="Shape 458"/>
        <p:cNvGrpSpPr/>
        <p:nvPr/>
      </p:nvGrpSpPr>
      <p:grpSpPr>
        <a:xfrm>
          <a:off x="0" y="0"/>
          <a:ext cx="0" cy="0"/>
          <a:chOff x="0" y="0"/>
          <a:chExt cx="0" cy="0"/>
        </a:xfrm>
      </p:grpSpPr>
      <p:sp>
        <p:nvSpPr>
          <p:cNvPr id="459" name="Google Shape;459;p11"/>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ML WORKFLOW / DATA PIPELINE</a:t>
            </a:r>
            <a:endParaRPr/>
          </a:p>
        </p:txBody>
      </p:sp>
      <p:sp>
        <p:nvSpPr>
          <p:cNvPr id="460" name="Google Shape;460;p11"/>
          <p:cNvSpPr txBox="1"/>
          <p:nvPr/>
        </p:nvSpPr>
        <p:spPr>
          <a:xfrm>
            <a:off x="822960" y="841248"/>
            <a:ext cx="1069848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A tiered matcher — cheap &amp; certain first, fallback last</a:t>
            </a:r>
            <a:endParaRPr/>
          </a:p>
        </p:txBody>
      </p:sp>
      <p:sp>
        <p:nvSpPr>
          <p:cNvPr id="461" name="Google Shape;461;p11"/>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11"/>
          <p:cNvSpPr/>
          <p:nvPr/>
        </p:nvSpPr>
        <p:spPr>
          <a:xfrm>
            <a:off x="822960" y="1874519"/>
            <a:ext cx="2331720" cy="914400"/>
          </a:xfrm>
          <a:prstGeom prst="roundRect">
            <a:avLst>
              <a:gd fmla="val 8000" name="adj"/>
            </a:avLst>
          </a:prstGeom>
          <a:solidFill>
            <a:srgbClr val="1D1D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11"/>
          <p:cNvSpPr txBox="1"/>
          <p:nvPr/>
        </p:nvSpPr>
        <p:spPr>
          <a:xfrm>
            <a:off x="822960" y="2039112"/>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Receipt</a:t>
            </a:r>
            <a:endParaRPr/>
          </a:p>
        </p:txBody>
      </p:sp>
      <p:sp>
        <p:nvSpPr>
          <p:cNvPr id="464" name="Google Shape;464;p11"/>
          <p:cNvSpPr txBox="1"/>
          <p:nvPr/>
        </p:nvSpPr>
        <p:spPr>
          <a:xfrm>
            <a:off x="822960" y="2423160"/>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00" u="none" cap="none" strike="noStrike">
                <a:solidFill>
                  <a:srgbClr val="B7C9A9"/>
                </a:solidFill>
                <a:latin typeface="Arial"/>
                <a:ea typeface="Arial"/>
                <a:cs typeface="Arial"/>
                <a:sym typeface="Arial"/>
              </a:rPr>
              <a:t>image / text</a:t>
            </a:r>
            <a:endParaRPr/>
          </a:p>
        </p:txBody>
      </p:sp>
      <p:sp>
        <p:nvSpPr>
          <p:cNvPr id="465" name="Google Shape;465;p11"/>
          <p:cNvSpPr txBox="1"/>
          <p:nvPr/>
        </p:nvSpPr>
        <p:spPr>
          <a:xfrm>
            <a:off x="3191256" y="2057400"/>
            <a:ext cx="457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7C9A6A"/>
                </a:solidFill>
                <a:latin typeface="Arial"/>
                <a:ea typeface="Arial"/>
                <a:cs typeface="Arial"/>
                <a:sym typeface="Arial"/>
              </a:rPr>
              <a:t>→</a:t>
            </a:r>
            <a:endParaRPr/>
          </a:p>
        </p:txBody>
      </p:sp>
      <p:sp>
        <p:nvSpPr>
          <p:cNvPr id="466" name="Google Shape;466;p11"/>
          <p:cNvSpPr/>
          <p:nvPr/>
        </p:nvSpPr>
        <p:spPr>
          <a:xfrm>
            <a:off x="3657599" y="1874519"/>
            <a:ext cx="2331720" cy="914400"/>
          </a:xfrm>
          <a:prstGeom prst="roundRect">
            <a:avLst>
              <a:gd fmla="val 8000" name="adj"/>
            </a:avLst>
          </a:prstGeom>
          <a:solidFill>
            <a:srgbClr val="1D1D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1"/>
          <p:cNvSpPr txBox="1"/>
          <p:nvPr/>
        </p:nvSpPr>
        <p:spPr>
          <a:xfrm>
            <a:off x="3657599" y="2039112"/>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Extract</a:t>
            </a:r>
            <a:endParaRPr/>
          </a:p>
        </p:txBody>
      </p:sp>
      <p:sp>
        <p:nvSpPr>
          <p:cNvPr id="468" name="Google Shape;468;p11"/>
          <p:cNvSpPr txBox="1"/>
          <p:nvPr/>
        </p:nvSpPr>
        <p:spPr>
          <a:xfrm>
            <a:off x="3657599" y="2423160"/>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00" u="none" cap="none" strike="noStrike">
                <a:solidFill>
                  <a:srgbClr val="B7C9A9"/>
                </a:solidFill>
                <a:latin typeface="Arial"/>
                <a:ea typeface="Arial"/>
                <a:cs typeface="Arial"/>
                <a:sym typeface="Arial"/>
              </a:rPr>
              <a:t>on-device OCR → items</a:t>
            </a:r>
            <a:endParaRPr/>
          </a:p>
        </p:txBody>
      </p:sp>
      <p:sp>
        <p:nvSpPr>
          <p:cNvPr id="469" name="Google Shape;469;p11"/>
          <p:cNvSpPr txBox="1"/>
          <p:nvPr/>
        </p:nvSpPr>
        <p:spPr>
          <a:xfrm>
            <a:off x="6025895" y="2057400"/>
            <a:ext cx="4572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7C9A6A"/>
                </a:solidFill>
                <a:latin typeface="Arial"/>
                <a:ea typeface="Arial"/>
                <a:cs typeface="Arial"/>
                <a:sym typeface="Arial"/>
              </a:rPr>
              <a:t>→</a:t>
            </a:r>
            <a:endParaRPr/>
          </a:p>
        </p:txBody>
      </p:sp>
      <p:sp>
        <p:nvSpPr>
          <p:cNvPr id="470" name="Google Shape;470;p11"/>
          <p:cNvSpPr/>
          <p:nvPr/>
        </p:nvSpPr>
        <p:spPr>
          <a:xfrm>
            <a:off x="6492240" y="1874519"/>
            <a:ext cx="2331720" cy="914400"/>
          </a:xfrm>
          <a:prstGeom prst="roundRect">
            <a:avLst>
              <a:gd fmla="val 8000" name="adj"/>
            </a:avLst>
          </a:prstGeom>
          <a:solidFill>
            <a:srgbClr val="1D1D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11"/>
          <p:cNvSpPr txBox="1"/>
          <p:nvPr/>
        </p:nvSpPr>
        <p:spPr>
          <a:xfrm>
            <a:off x="6492240" y="2039112"/>
            <a:ext cx="2331720" cy="3657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Clean</a:t>
            </a:r>
            <a:endParaRPr/>
          </a:p>
        </p:txBody>
      </p:sp>
      <p:sp>
        <p:nvSpPr>
          <p:cNvPr id="472" name="Google Shape;472;p11"/>
          <p:cNvSpPr txBox="1"/>
          <p:nvPr/>
        </p:nvSpPr>
        <p:spPr>
          <a:xfrm>
            <a:off x="6492240" y="2423160"/>
            <a:ext cx="233172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00" u="none" cap="none" strike="noStrike">
                <a:solidFill>
                  <a:srgbClr val="B7C9A9"/>
                </a:solidFill>
                <a:latin typeface="Arial"/>
                <a:ea typeface="Arial"/>
                <a:cs typeface="Arial"/>
                <a:sym typeface="Arial"/>
              </a:rPr>
              <a:t>strip qty · price · brand</a:t>
            </a:r>
            <a:endParaRPr/>
          </a:p>
        </p:txBody>
      </p:sp>
      <p:sp>
        <p:nvSpPr>
          <p:cNvPr id="473" name="Google Shape;473;p11"/>
          <p:cNvSpPr txBox="1"/>
          <p:nvPr/>
        </p:nvSpPr>
        <p:spPr>
          <a:xfrm>
            <a:off x="9006840" y="2057400"/>
            <a:ext cx="1280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7C9A6A"/>
                </a:solidFill>
                <a:latin typeface="Arial"/>
                <a:ea typeface="Arial"/>
                <a:cs typeface="Arial"/>
                <a:sym typeface="Arial"/>
              </a:rPr>
              <a:t>→</a:t>
            </a:r>
            <a:endParaRPr/>
          </a:p>
        </p:txBody>
      </p:sp>
      <p:sp>
        <p:nvSpPr>
          <p:cNvPr id="474" name="Google Shape;474;p11"/>
          <p:cNvSpPr/>
          <p:nvPr/>
        </p:nvSpPr>
        <p:spPr>
          <a:xfrm>
            <a:off x="822960" y="3063240"/>
            <a:ext cx="7680960" cy="566928"/>
          </a:xfrm>
          <a:prstGeom prst="roundRect">
            <a:avLst>
              <a:gd fmla="val 12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11"/>
          <p:cNvSpPr/>
          <p:nvPr/>
        </p:nvSpPr>
        <p:spPr>
          <a:xfrm>
            <a:off x="822960" y="3063240"/>
            <a:ext cx="1417320" cy="566928"/>
          </a:xfrm>
          <a:prstGeom prst="roundRect">
            <a:avLst>
              <a:gd fmla="val 12000" name="adj"/>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11"/>
          <p:cNvSpPr txBox="1"/>
          <p:nvPr/>
        </p:nvSpPr>
        <p:spPr>
          <a:xfrm>
            <a:off x="822960" y="3063240"/>
            <a:ext cx="141732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Tier 0</a:t>
            </a:r>
            <a:endParaRPr/>
          </a:p>
        </p:txBody>
      </p:sp>
      <p:sp>
        <p:nvSpPr>
          <p:cNvPr id="477" name="Google Shape;477;p11"/>
          <p:cNvSpPr txBox="1"/>
          <p:nvPr/>
        </p:nvSpPr>
        <p:spPr>
          <a:xfrm>
            <a:off x="2423160" y="3063240"/>
            <a:ext cx="32918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1D1D21"/>
                </a:solidFill>
                <a:latin typeface="Arial"/>
                <a:ea typeface="Arial"/>
                <a:cs typeface="Arial"/>
                <a:sym typeface="Arial"/>
              </a:rPr>
              <a:t>Learned verified matches</a:t>
            </a:r>
            <a:endParaRPr/>
          </a:p>
        </p:txBody>
      </p:sp>
      <p:sp>
        <p:nvSpPr>
          <p:cNvPr id="478" name="Google Shape;478;p11"/>
          <p:cNvSpPr txBox="1"/>
          <p:nvPr/>
        </p:nvSpPr>
        <p:spPr>
          <a:xfrm>
            <a:off x="5486400" y="3063240"/>
            <a:ext cx="29260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150" u="none" cap="none" strike="noStrike">
                <a:solidFill>
                  <a:srgbClr val="6E6F74"/>
                </a:solidFill>
                <a:latin typeface="Arial"/>
                <a:ea typeface="Arial"/>
                <a:cs typeface="Arial"/>
                <a:sym typeface="Arial"/>
              </a:rPr>
              <a:t>human-confirmed · always trusted</a:t>
            </a:r>
            <a:endParaRPr/>
          </a:p>
        </p:txBody>
      </p:sp>
      <p:sp>
        <p:nvSpPr>
          <p:cNvPr id="479" name="Google Shape;479;p11"/>
          <p:cNvSpPr/>
          <p:nvPr/>
        </p:nvSpPr>
        <p:spPr>
          <a:xfrm>
            <a:off x="822960" y="3721608"/>
            <a:ext cx="7680960" cy="566928"/>
          </a:xfrm>
          <a:prstGeom prst="roundRect">
            <a:avLst>
              <a:gd fmla="val 12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0" name="Google Shape;480;p11"/>
          <p:cNvSpPr/>
          <p:nvPr/>
        </p:nvSpPr>
        <p:spPr>
          <a:xfrm>
            <a:off x="822960" y="3721608"/>
            <a:ext cx="1417320" cy="566928"/>
          </a:xfrm>
          <a:prstGeom prst="roundRect">
            <a:avLst>
              <a:gd fmla="val 12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1"/>
          <p:cNvSpPr txBox="1"/>
          <p:nvPr/>
        </p:nvSpPr>
        <p:spPr>
          <a:xfrm>
            <a:off x="822960" y="3721608"/>
            <a:ext cx="141732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Tier 1</a:t>
            </a:r>
            <a:endParaRPr/>
          </a:p>
        </p:txBody>
      </p:sp>
      <p:sp>
        <p:nvSpPr>
          <p:cNvPr id="482" name="Google Shape;482;p11"/>
          <p:cNvSpPr txBox="1"/>
          <p:nvPr/>
        </p:nvSpPr>
        <p:spPr>
          <a:xfrm>
            <a:off x="2423160" y="3721608"/>
            <a:ext cx="32918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1D1D21"/>
                </a:solidFill>
                <a:latin typeface="Arial"/>
                <a:ea typeface="Arial"/>
                <a:cs typeface="Arial"/>
                <a:sym typeface="Arial"/>
              </a:rPr>
              <a:t>BLS 4.0 — German nutrients</a:t>
            </a:r>
            <a:endParaRPr/>
          </a:p>
        </p:txBody>
      </p:sp>
      <p:sp>
        <p:nvSpPr>
          <p:cNvPr id="483" name="Google Shape;483;p11"/>
          <p:cNvSpPr txBox="1"/>
          <p:nvPr/>
        </p:nvSpPr>
        <p:spPr>
          <a:xfrm>
            <a:off x="5486400" y="3721608"/>
            <a:ext cx="29260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150" u="none" cap="none" strike="noStrike">
                <a:solidFill>
                  <a:srgbClr val="6E6F74"/>
                </a:solidFill>
                <a:latin typeface="Arial"/>
                <a:ea typeface="Arial"/>
                <a:cs typeface="Arial"/>
                <a:sym typeface="Arial"/>
              </a:rPr>
              <a:t>primary source · 174 of 180 lines</a:t>
            </a:r>
            <a:endParaRPr/>
          </a:p>
        </p:txBody>
      </p:sp>
      <p:sp>
        <p:nvSpPr>
          <p:cNvPr id="484" name="Google Shape;484;p11"/>
          <p:cNvSpPr/>
          <p:nvPr/>
        </p:nvSpPr>
        <p:spPr>
          <a:xfrm>
            <a:off x="822960" y="4379976"/>
            <a:ext cx="7680960" cy="566928"/>
          </a:xfrm>
          <a:prstGeom prst="roundRect">
            <a:avLst>
              <a:gd fmla="val 12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11"/>
          <p:cNvSpPr/>
          <p:nvPr/>
        </p:nvSpPr>
        <p:spPr>
          <a:xfrm>
            <a:off x="822960" y="4379976"/>
            <a:ext cx="1417320" cy="566928"/>
          </a:xfrm>
          <a:prstGeom prst="roundRect">
            <a:avLst>
              <a:gd fmla="val 12000" name="adj"/>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1"/>
          <p:cNvSpPr txBox="1"/>
          <p:nvPr/>
        </p:nvSpPr>
        <p:spPr>
          <a:xfrm>
            <a:off x="822960" y="4379976"/>
            <a:ext cx="141732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D1D21"/>
                </a:solidFill>
                <a:latin typeface="Arial"/>
                <a:ea typeface="Arial"/>
                <a:cs typeface="Arial"/>
                <a:sym typeface="Arial"/>
              </a:rPr>
              <a:t>Tier 2</a:t>
            </a:r>
            <a:endParaRPr/>
          </a:p>
        </p:txBody>
      </p:sp>
      <p:sp>
        <p:nvSpPr>
          <p:cNvPr id="487" name="Google Shape;487;p11"/>
          <p:cNvSpPr txBox="1"/>
          <p:nvPr/>
        </p:nvSpPr>
        <p:spPr>
          <a:xfrm>
            <a:off x="2423160" y="4379976"/>
            <a:ext cx="32918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1D1D21"/>
                </a:solidFill>
                <a:latin typeface="Arial"/>
                <a:ea typeface="Arial"/>
                <a:cs typeface="Arial"/>
                <a:sym typeface="Arial"/>
              </a:rPr>
              <a:t>Open Food Facts fallback</a:t>
            </a:r>
            <a:endParaRPr/>
          </a:p>
        </p:txBody>
      </p:sp>
      <p:sp>
        <p:nvSpPr>
          <p:cNvPr id="488" name="Google Shape;488;p11"/>
          <p:cNvSpPr txBox="1"/>
          <p:nvPr/>
        </p:nvSpPr>
        <p:spPr>
          <a:xfrm>
            <a:off x="5486400" y="4379976"/>
            <a:ext cx="29260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150" u="none" cap="none" strike="noStrike">
                <a:solidFill>
                  <a:srgbClr val="6E6F74"/>
                </a:solidFill>
                <a:latin typeface="Arial"/>
                <a:ea typeface="Arial"/>
                <a:cs typeface="Arial"/>
                <a:sym typeface="Arial"/>
              </a:rPr>
              <a:t>branded gaps · 4 of 180 lines</a:t>
            </a:r>
            <a:endParaRPr/>
          </a:p>
        </p:txBody>
      </p:sp>
      <p:sp>
        <p:nvSpPr>
          <p:cNvPr id="489" name="Google Shape;489;p11"/>
          <p:cNvSpPr/>
          <p:nvPr/>
        </p:nvSpPr>
        <p:spPr>
          <a:xfrm>
            <a:off x="822960" y="5038344"/>
            <a:ext cx="7680960" cy="566928"/>
          </a:xfrm>
          <a:prstGeom prst="roundRect">
            <a:avLst>
              <a:gd fmla="val 12000" name="adj"/>
            </a:avLst>
          </a:prstGeom>
          <a:solidFill>
            <a:srgbClr val="FFFFFF"/>
          </a:solidFill>
          <a:ln cap="flat" cmpd="sng" w="9525">
            <a:solidFill>
              <a:srgbClr val="E5E4E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11"/>
          <p:cNvSpPr/>
          <p:nvPr/>
        </p:nvSpPr>
        <p:spPr>
          <a:xfrm>
            <a:off x="822960" y="5038344"/>
            <a:ext cx="1417320" cy="566928"/>
          </a:xfrm>
          <a:prstGeom prst="roundRect">
            <a:avLst>
              <a:gd fmla="val 12000" name="adj"/>
            </a:avLst>
          </a:prstGeom>
          <a:solidFill>
            <a:srgbClr val="CFC9B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11"/>
          <p:cNvSpPr txBox="1"/>
          <p:nvPr/>
        </p:nvSpPr>
        <p:spPr>
          <a:xfrm>
            <a:off x="822960" y="5038344"/>
            <a:ext cx="1417320" cy="56692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D1D21"/>
                </a:solidFill>
                <a:latin typeface="Arial"/>
                <a:ea typeface="Arial"/>
                <a:cs typeface="Arial"/>
                <a:sym typeface="Arial"/>
              </a:rPr>
              <a:t>open</a:t>
            </a:r>
            <a:endParaRPr/>
          </a:p>
        </p:txBody>
      </p:sp>
      <p:sp>
        <p:nvSpPr>
          <p:cNvPr id="492" name="Google Shape;492;p11"/>
          <p:cNvSpPr txBox="1"/>
          <p:nvPr/>
        </p:nvSpPr>
        <p:spPr>
          <a:xfrm>
            <a:off x="2423160" y="5038344"/>
            <a:ext cx="329184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1D1D21"/>
                </a:solidFill>
                <a:latin typeface="Arial"/>
                <a:ea typeface="Arial"/>
                <a:cs typeface="Arial"/>
                <a:sym typeface="Arial"/>
              </a:rPr>
              <a:t>Left honest / unresolved</a:t>
            </a:r>
            <a:endParaRPr/>
          </a:p>
        </p:txBody>
      </p:sp>
      <p:sp>
        <p:nvSpPr>
          <p:cNvPr id="493" name="Google Shape;493;p11"/>
          <p:cNvSpPr txBox="1"/>
          <p:nvPr/>
        </p:nvSpPr>
        <p:spPr>
          <a:xfrm>
            <a:off x="5486400" y="5038344"/>
            <a:ext cx="29260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1" lang="en-US" sz="1150" u="none" cap="none" strike="noStrike">
                <a:solidFill>
                  <a:srgbClr val="6E6F74"/>
                </a:solidFill>
                <a:latin typeface="Arial"/>
                <a:ea typeface="Arial"/>
                <a:cs typeface="Arial"/>
                <a:sym typeface="Arial"/>
              </a:rPr>
              <a:t>2 ambiguous lines — not guessed</a:t>
            </a:r>
            <a:endParaRPr/>
          </a:p>
        </p:txBody>
      </p:sp>
      <p:sp>
        <p:nvSpPr>
          <p:cNvPr id="494" name="Google Shape;494;p11"/>
          <p:cNvSpPr/>
          <p:nvPr/>
        </p:nvSpPr>
        <p:spPr>
          <a:xfrm>
            <a:off x="8823960" y="3063240"/>
            <a:ext cx="2542032" cy="2542032"/>
          </a:xfrm>
          <a:prstGeom prst="roundRect">
            <a:avLst>
              <a:gd fmla="val 6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11"/>
          <p:cNvSpPr txBox="1"/>
          <p:nvPr/>
        </p:nvSpPr>
        <p:spPr>
          <a:xfrm>
            <a:off x="9006840" y="3246120"/>
            <a:ext cx="21945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5F7B4F"/>
                </a:solidFill>
                <a:latin typeface="Arial"/>
                <a:ea typeface="Arial"/>
                <a:cs typeface="Arial"/>
                <a:sym typeface="Arial"/>
              </a:rPr>
              <a:t>OUTPUT</a:t>
            </a:r>
            <a:endParaRPr/>
          </a:p>
        </p:txBody>
      </p:sp>
      <p:sp>
        <p:nvSpPr>
          <p:cNvPr id="496" name="Google Shape;496;p11"/>
          <p:cNvSpPr txBox="1"/>
          <p:nvPr/>
        </p:nvSpPr>
        <p:spPr>
          <a:xfrm>
            <a:off x="9006840" y="3657600"/>
            <a:ext cx="2286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7C9A6A"/>
                </a:solidFill>
                <a:latin typeface="Arial"/>
                <a:ea typeface="Arial"/>
                <a:cs typeface="Arial"/>
                <a:sym typeface="Arial"/>
              </a:rPr>
              <a:t>• </a:t>
            </a:r>
            <a:r>
              <a:rPr b="0" i="0" lang="en-US" sz="1200" u="none" cap="none" strike="noStrike">
                <a:solidFill>
                  <a:srgbClr val="1D1D21"/>
                </a:solidFill>
                <a:latin typeface="Arial"/>
                <a:ea typeface="Arial"/>
                <a:cs typeface="Arial"/>
                <a:sym typeface="Arial"/>
              </a:rPr>
              <a:t>Nutrients (macros + micros)</a:t>
            </a:r>
            <a:endParaRPr/>
          </a:p>
        </p:txBody>
      </p:sp>
      <p:sp>
        <p:nvSpPr>
          <p:cNvPr id="497" name="Google Shape;497;p11"/>
          <p:cNvSpPr txBox="1"/>
          <p:nvPr/>
        </p:nvSpPr>
        <p:spPr>
          <a:xfrm>
            <a:off x="9006840" y="4142232"/>
            <a:ext cx="2286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7C9A6A"/>
                </a:solidFill>
                <a:latin typeface="Arial"/>
                <a:ea typeface="Arial"/>
                <a:cs typeface="Arial"/>
                <a:sym typeface="Arial"/>
              </a:rPr>
              <a:t>• </a:t>
            </a:r>
            <a:r>
              <a:rPr b="0" i="0" lang="en-US" sz="1200" u="none" cap="none" strike="noStrike">
                <a:solidFill>
                  <a:srgbClr val="1D1D21"/>
                </a:solidFill>
                <a:latin typeface="Arial"/>
                <a:ea typeface="Arial"/>
                <a:cs typeface="Arial"/>
                <a:sym typeface="Arial"/>
              </a:rPr>
              <a:t>Confidence label</a:t>
            </a:r>
            <a:endParaRPr/>
          </a:p>
        </p:txBody>
      </p:sp>
      <p:sp>
        <p:nvSpPr>
          <p:cNvPr id="498" name="Google Shape;498;p11"/>
          <p:cNvSpPr txBox="1"/>
          <p:nvPr/>
        </p:nvSpPr>
        <p:spPr>
          <a:xfrm>
            <a:off x="9006840" y="4626864"/>
            <a:ext cx="2286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7C9A6A"/>
                </a:solidFill>
                <a:latin typeface="Arial"/>
                <a:ea typeface="Arial"/>
                <a:cs typeface="Arial"/>
                <a:sym typeface="Arial"/>
              </a:rPr>
              <a:t>• </a:t>
            </a:r>
            <a:r>
              <a:rPr b="0" i="0" lang="en-US" sz="1200" u="none" cap="none" strike="noStrike">
                <a:solidFill>
                  <a:srgbClr val="1D1D21"/>
                </a:solidFill>
                <a:latin typeface="Arial"/>
                <a:ea typeface="Arial"/>
                <a:cs typeface="Arial"/>
                <a:sym typeface="Arial"/>
              </a:rPr>
              <a:t>Data-source citation</a:t>
            </a:r>
            <a:endParaRPr/>
          </a:p>
        </p:txBody>
      </p:sp>
      <p:sp>
        <p:nvSpPr>
          <p:cNvPr id="499" name="Google Shape;499;p11"/>
          <p:cNvSpPr txBox="1"/>
          <p:nvPr/>
        </p:nvSpPr>
        <p:spPr>
          <a:xfrm>
            <a:off x="9006840" y="5111496"/>
            <a:ext cx="22860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7C9A6A"/>
                </a:solidFill>
                <a:latin typeface="Arial"/>
                <a:ea typeface="Arial"/>
                <a:cs typeface="Arial"/>
                <a:sym typeface="Arial"/>
              </a:rPr>
              <a:t>• </a:t>
            </a:r>
            <a:r>
              <a:rPr b="0" i="0" lang="en-US" sz="1200" u="none" cap="none" strike="noStrike">
                <a:solidFill>
                  <a:srgbClr val="1D1D21"/>
                </a:solidFill>
                <a:latin typeface="Arial"/>
                <a:ea typeface="Arial"/>
                <a:cs typeface="Arial"/>
                <a:sym typeface="Arial"/>
              </a:rPr>
              <a:t>→ Gaps + Next Cart</a:t>
            </a:r>
            <a:endParaRPr/>
          </a:p>
        </p:txBody>
      </p:sp>
      <p:sp>
        <p:nvSpPr>
          <p:cNvPr id="500" name="Google Shape;500;p11"/>
          <p:cNvSpPr txBox="1"/>
          <p:nvPr/>
        </p:nvSpPr>
        <p:spPr>
          <a:xfrm>
            <a:off x="822960" y="5806440"/>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6E6F74"/>
                </a:solidFill>
                <a:latin typeface="Arial"/>
                <a:ea typeface="Arial"/>
                <a:cs typeface="Arial"/>
                <a:sym typeface="Arial"/>
              </a:rPr>
              <a:t>Rule-based on purpose — the embedding only breaks ties, so the logic stays transparent for a health MVP.</a:t>
            </a:r>
            <a:endParaRPr/>
          </a:p>
        </p:txBody>
      </p:sp>
      <p:sp>
        <p:nvSpPr>
          <p:cNvPr id="501" name="Google Shape;501;p11"/>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502" name="Google Shape;502;p11"/>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1</a:t>
            </a:r>
            <a:r>
              <a:rPr lang="en-US" sz="900">
                <a:solidFill>
                  <a:srgbClr val="6E6F74"/>
                </a:solidFill>
              </a:rPr>
              <a:t>0</a:t>
            </a:r>
            <a:r>
              <a:rPr b="0" i="0" lang="en-US" sz="900" u="none" cap="none" strike="noStrike">
                <a:solidFill>
                  <a:srgbClr val="6E6F74"/>
                </a:solidFill>
                <a:latin typeface="Arial"/>
                <a:ea typeface="Arial"/>
                <a:cs typeface="Arial"/>
                <a:sym typeface="Arial"/>
              </a:rPr>
              <a:t> / 13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07" name="Shape 507"/>
        <p:cNvGrpSpPr/>
        <p:nvPr/>
      </p:nvGrpSpPr>
      <p:grpSpPr>
        <a:xfrm>
          <a:off x="0" y="0"/>
          <a:ext cx="0" cy="0"/>
          <a:chOff x="0" y="0"/>
          <a:chExt cx="0" cy="0"/>
        </a:xfrm>
      </p:grpSpPr>
      <p:sp>
        <p:nvSpPr>
          <p:cNvPr id="508" name="Google Shape;508;p12"/>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BASELINE MODEL &amp; PERFORMANCE</a:t>
            </a:r>
            <a:endParaRPr/>
          </a:p>
        </p:txBody>
      </p:sp>
      <p:sp>
        <p:nvSpPr>
          <p:cNvPr id="509" name="Google Shape;509;p12"/>
          <p:cNvSpPr txBox="1"/>
          <p:nvPr/>
        </p:nvSpPr>
        <p:spPr>
          <a:xfrm>
            <a:off x="822960" y="841248"/>
            <a:ext cx="1069848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Measured honestly on real receipts</a:t>
            </a:r>
            <a:endParaRPr/>
          </a:p>
        </p:txBody>
      </p:sp>
      <p:sp>
        <p:nvSpPr>
          <p:cNvPr id="510" name="Google Shape;510;p12"/>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12"/>
          <p:cNvSpPr/>
          <p:nvPr/>
        </p:nvSpPr>
        <p:spPr>
          <a:xfrm>
            <a:off x="822960" y="1737360"/>
            <a:ext cx="6446520" cy="3429000"/>
          </a:xfrm>
          <a:prstGeom prst="roundRect">
            <a:avLst>
              <a:gd fmla="val 4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cleanup.png" id="512" name="Google Shape;512;p12"/>
          <p:cNvPicPr preferRelativeResize="0"/>
          <p:nvPr/>
        </p:nvPicPr>
        <p:blipFill rotWithShape="1">
          <a:blip r:embed="rId3">
            <a:alphaModFix/>
          </a:blip>
          <a:srcRect b="0" l="0" r="0" t="0"/>
          <a:stretch/>
        </p:blipFill>
        <p:spPr>
          <a:xfrm>
            <a:off x="1051560" y="1920240"/>
            <a:ext cx="5029764" cy="3063240"/>
          </a:xfrm>
          <a:prstGeom prst="rect">
            <a:avLst/>
          </a:prstGeom>
          <a:noFill/>
          <a:ln>
            <a:noFill/>
          </a:ln>
        </p:spPr>
      </p:pic>
      <p:sp>
        <p:nvSpPr>
          <p:cNvPr id="513" name="Google Shape;513;p12"/>
          <p:cNvSpPr/>
          <p:nvPr/>
        </p:nvSpPr>
        <p:spPr>
          <a:xfrm>
            <a:off x="7543800" y="2213610"/>
            <a:ext cx="3822300" cy="10515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12"/>
          <p:cNvSpPr/>
          <p:nvPr/>
        </p:nvSpPr>
        <p:spPr>
          <a:xfrm>
            <a:off x="7543800" y="2341626"/>
            <a:ext cx="73200" cy="7956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12"/>
          <p:cNvSpPr txBox="1"/>
          <p:nvPr/>
        </p:nvSpPr>
        <p:spPr>
          <a:xfrm>
            <a:off x="7818120" y="2341626"/>
            <a:ext cx="3438000" cy="8901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99%</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Lines resolved</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174 BLS · 4 OFF · 2 left open, of 180</a:t>
            </a:r>
            <a:endParaRPr/>
          </a:p>
        </p:txBody>
      </p:sp>
      <p:sp>
        <p:nvSpPr>
          <p:cNvPr id="516" name="Google Shape;516;p12"/>
          <p:cNvSpPr/>
          <p:nvPr/>
        </p:nvSpPr>
        <p:spPr>
          <a:xfrm>
            <a:off x="7543800" y="3639383"/>
            <a:ext cx="3822300" cy="105150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12"/>
          <p:cNvSpPr/>
          <p:nvPr/>
        </p:nvSpPr>
        <p:spPr>
          <a:xfrm>
            <a:off x="7543800" y="3767399"/>
            <a:ext cx="73200" cy="795600"/>
          </a:xfrm>
          <a:prstGeom prst="rect">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12"/>
          <p:cNvSpPr txBox="1"/>
          <p:nvPr/>
        </p:nvSpPr>
        <p:spPr>
          <a:xfrm>
            <a:off x="7818120" y="3767399"/>
            <a:ext cx="3438000" cy="8901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5F7B4F"/>
                </a:solidFill>
                <a:latin typeface="Arial"/>
                <a:ea typeface="Arial"/>
                <a:cs typeface="Arial"/>
                <a:sym typeface="Arial"/>
              </a:rPr>
              <a:t>47%</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Recall@5 (cleaned)</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right food in top 5 — up from 32% raw</a:t>
            </a:r>
            <a:endParaRPr/>
          </a:p>
        </p:txBody>
      </p:sp>
      <p:sp>
        <p:nvSpPr>
          <p:cNvPr id="519" name="Google Shape;519;p12"/>
          <p:cNvSpPr txBox="1"/>
          <p:nvPr/>
        </p:nvSpPr>
        <p:spPr>
          <a:xfrm>
            <a:off x="7818120" y="4151376"/>
            <a:ext cx="3438000" cy="2154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300"/>
              </a:spcBef>
              <a:spcAft>
                <a:spcPts val="0"/>
              </a:spcAft>
              <a:buNone/>
            </a:pPr>
            <a:r>
              <a:t/>
            </a:r>
            <a:endParaRPr/>
          </a:p>
        </p:txBody>
      </p:sp>
      <p:sp>
        <p:nvSpPr>
          <p:cNvPr id="520" name="Google Shape;520;p12"/>
          <p:cNvSpPr/>
          <p:nvPr/>
        </p:nvSpPr>
        <p:spPr>
          <a:xfrm>
            <a:off x="822960" y="5321808"/>
            <a:ext cx="10543032" cy="777240"/>
          </a:xfrm>
          <a:prstGeom prst="roundRect">
            <a:avLst>
              <a:gd fmla="val 6000" name="adj"/>
            </a:avLst>
          </a:prstGeom>
          <a:solidFill>
            <a:srgbClr val="EEF2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12"/>
          <p:cNvSpPr txBox="1"/>
          <p:nvPr/>
        </p:nvSpPr>
        <p:spPr>
          <a:xfrm>
            <a:off x="1097280" y="5422392"/>
            <a:ext cx="10058400" cy="416100"/>
          </a:xfrm>
          <a:prstGeom prst="rect">
            <a:avLst/>
          </a:prstGeom>
          <a:noFill/>
          <a:ln>
            <a:noFill/>
          </a:ln>
        </p:spPr>
        <p:txBody>
          <a:bodyPr anchorCtr="0" anchor="ctr" bIns="0" lIns="0" spcFirstLastPara="1" rIns="0" wrap="square" tIns="0">
            <a:spAutoFit/>
          </a:bodyPr>
          <a:lstStyle/>
          <a:p>
            <a:pPr indent="0" lvl="0" marL="0" marR="0" rtl="0" algn="l">
              <a:lnSpc>
                <a:spcPct val="108000"/>
              </a:lnSpc>
              <a:spcBef>
                <a:spcPts val="0"/>
              </a:spcBef>
              <a:spcAft>
                <a:spcPts val="0"/>
              </a:spcAft>
              <a:buNone/>
            </a:pPr>
            <a:r>
              <a:rPr b="1" i="0" lang="en-US" sz="1300" u="none" cap="none" strike="noStrike">
                <a:solidFill>
                  <a:srgbClr val="5F7B4F"/>
                </a:solidFill>
                <a:latin typeface="Arial"/>
                <a:ea typeface="Arial"/>
                <a:cs typeface="Arial"/>
                <a:sym typeface="Arial"/>
              </a:rPr>
              <a:t>T</a:t>
            </a:r>
            <a:r>
              <a:rPr b="1" lang="en-US" sz="1300">
                <a:solidFill>
                  <a:srgbClr val="5F7B4F"/>
                </a:solidFill>
              </a:rPr>
              <a:t>he honest finding: </a:t>
            </a:r>
            <a:r>
              <a:rPr lang="en-US" sz="1300">
                <a:solidFill>
                  <a:srgbClr val="5F7B4F"/>
                </a:solidFill>
              </a:rPr>
              <a:t>on messy text, a simple search beats the “smart” AI — so AI only breaks ties for now. Cleaning the receipt text is the real lever, and every user correction we save closes the rest.</a:t>
            </a:r>
            <a:endParaRPr sz="1300">
              <a:solidFill>
                <a:srgbClr val="5F7B4F"/>
              </a:solidFill>
            </a:endParaRPr>
          </a:p>
        </p:txBody>
      </p:sp>
      <p:sp>
        <p:nvSpPr>
          <p:cNvPr id="522" name="Google Shape;522;p12"/>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523" name="Google Shape;523;p12"/>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900" u="none" cap="none" strike="noStrike">
                <a:solidFill>
                  <a:srgbClr val="6E6F74"/>
                </a:solidFill>
                <a:latin typeface="Arial"/>
                <a:ea typeface="Arial"/>
                <a:cs typeface="Arial"/>
                <a:sym typeface="Arial"/>
              </a:rPr>
              <a:t>1</a:t>
            </a:r>
            <a:r>
              <a:rPr lang="en-US" sz="900">
                <a:solidFill>
                  <a:srgbClr val="6E6F74"/>
                </a:solidFill>
              </a:rPr>
              <a:t>1</a:t>
            </a:r>
            <a:r>
              <a:rPr b="0" i="0" lang="en-US" sz="900" u="none" cap="none" strike="noStrike">
                <a:solidFill>
                  <a:srgbClr val="6E6F74"/>
                </a:solidFill>
                <a:latin typeface="Arial"/>
                <a:ea typeface="Arial"/>
                <a:cs typeface="Arial"/>
                <a:sym typeface="Arial"/>
              </a:rPr>
              <a:t> / 13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28" name="Shape 528"/>
        <p:cNvGrpSpPr/>
        <p:nvPr/>
      </p:nvGrpSpPr>
      <p:grpSpPr>
        <a:xfrm>
          <a:off x="0" y="0"/>
          <a:ext cx="0" cy="0"/>
          <a:chOff x="0" y="0"/>
          <a:chExt cx="0" cy="0"/>
        </a:xfrm>
      </p:grpSpPr>
      <p:sp>
        <p:nvSpPr>
          <p:cNvPr id="529" name="Google Shape;529;p7"/>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LIVE DEMO — THE CURRENT BUILD</a:t>
            </a:r>
            <a:endParaRPr/>
          </a:p>
        </p:txBody>
      </p:sp>
      <p:sp>
        <p:nvSpPr>
          <p:cNvPr id="530" name="Google Shape;530;p7"/>
          <p:cNvSpPr txBox="1"/>
          <p:nvPr/>
        </p:nvSpPr>
        <p:spPr>
          <a:xfrm>
            <a:off x="822960" y="841248"/>
            <a:ext cx="105156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1D1D21"/>
                </a:solidFill>
                <a:latin typeface="Arial"/>
                <a:ea typeface="Arial"/>
                <a:cs typeface="Arial"/>
                <a:sym typeface="Arial"/>
              </a:rPr>
              <a:t>See it run, end-to-end, on a real receipt</a:t>
            </a:r>
            <a:endParaRPr/>
          </a:p>
        </p:txBody>
      </p:sp>
      <p:sp>
        <p:nvSpPr>
          <p:cNvPr id="531" name="Google Shape;531;p7"/>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7"/>
          <p:cNvSpPr/>
          <p:nvPr/>
        </p:nvSpPr>
        <p:spPr>
          <a:xfrm>
            <a:off x="822960" y="1920240"/>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7"/>
          <p:cNvSpPr txBox="1"/>
          <p:nvPr/>
        </p:nvSpPr>
        <p:spPr>
          <a:xfrm>
            <a:off x="822960" y="1901952"/>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1</a:t>
            </a:r>
            <a:endParaRPr/>
          </a:p>
        </p:txBody>
      </p:sp>
      <p:sp>
        <p:nvSpPr>
          <p:cNvPr id="534" name="Google Shape;534;p7"/>
          <p:cNvSpPr txBox="1"/>
          <p:nvPr/>
        </p:nvSpPr>
        <p:spPr>
          <a:xfrm>
            <a:off x="1463040" y="1883664"/>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Chat onboarding</a:t>
            </a:r>
            <a:r>
              <a:rPr b="0" i="0" lang="en-US" sz="1150" u="none" cap="none" strike="noStrike">
                <a:solidFill>
                  <a:srgbClr val="6E6F74"/>
                </a:solidFill>
                <a:latin typeface="Arial"/>
                <a:ea typeface="Arial"/>
                <a:cs typeface="Arial"/>
                <a:sym typeface="Arial"/>
              </a:rPr>
              <a:t>   —  goal, needs, exclusions</a:t>
            </a:r>
            <a:endParaRPr/>
          </a:p>
        </p:txBody>
      </p:sp>
      <p:sp>
        <p:nvSpPr>
          <p:cNvPr id="535" name="Google Shape;535;p7"/>
          <p:cNvSpPr/>
          <p:nvPr/>
        </p:nvSpPr>
        <p:spPr>
          <a:xfrm>
            <a:off x="1033272" y="2377440"/>
            <a:ext cx="27432" cy="201168"/>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6" name="Google Shape;536;p7"/>
          <p:cNvSpPr/>
          <p:nvPr/>
        </p:nvSpPr>
        <p:spPr>
          <a:xfrm>
            <a:off x="822960" y="2578608"/>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7"/>
          <p:cNvSpPr txBox="1"/>
          <p:nvPr/>
        </p:nvSpPr>
        <p:spPr>
          <a:xfrm>
            <a:off x="822960" y="2560320"/>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2</a:t>
            </a:r>
            <a:endParaRPr/>
          </a:p>
        </p:txBody>
      </p:sp>
      <p:sp>
        <p:nvSpPr>
          <p:cNvPr id="538" name="Google Shape;538;p7"/>
          <p:cNvSpPr txBox="1"/>
          <p:nvPr/>
        </p:nvSpPr>
        <p:spPr>
          <a:xfrm>
            <a:off x="1463040" y="2542032"/>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Upload receipt</a:t>
            </a:r>
            <a:r>
              <a:rPr b="0" i="0" lang="en-US" sz="1150" u="none" cap="none" strike="noStrike">
                <a:solidFill>
                  <a:srgbClr val="6E6F74"/>
                </a:solidFill>
                <a:latin typeface="Arial"/>
                <a:ea typeface="Arial"/>
                <a:cs typeface="Arial"/>
                <a:sym typeface="Arial"/>
              </a:rPr>
              <a:t>   —  on-device OCR — private, offline</a:t>
            </a:r>
            <a:endParaRPr/>
          </a:p>
        </p:txBody>
      </p:sp>
      <p:sp>
        <p:nvSpPr>
          <p:cNvPr id="539" name="Google Shape;539;p7"/>
          <p:cNvSpPr/>
          <p:nvPr/>
        </p:nvSpPr>
        <p:spPr>
          <a:xfrm>
            <a:off x="1033272" y="3035808"/>
            <a:ext cx="27432" cy="201168"/>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7"/>
          <p:cNvSpPr/>
          <p:nvPr/>
        </p:nvSpPr>
        <p:spPr>
          <a:xfrm>
            <a:off x="822960" y="3236976"/>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7"/>
          <p:cNvSpPr txBox="1"/>
          <p:nvPr/>
        </p:nvSpPr>
        <p:spPr>
          <a:xfrm>
            <a:off x="822960" y="3218688"/>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3</a:t>
            </a:r>
            <a:endParaRPr/>
          </a:p>
        </p:txBody>
      </p:sp>
      <p:sp>
        <p:nvSpPr>
          <p:cNvPr id="542" name="Google Shape;542;p7"/>
          <p:cNvSpPr txBox="1"/>
          <p:nvPr/>
        </p:nvSpPr>
        <p:spPr>
          <a:xfrm>
            <a:off x="1463040" y="3200400"/>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Your Pantry</a:t>
            </a:r>
            <a:r>
              <a:rPr b="0" i="0" lang="en-US" sz="1150" u="none" cap="none" strike="noStrike">
                <a:solidFill>
                  <a:srgbClr val="6E6F74"/>
                </a:solidFill>
                <a:latin typeface="Arial"/>
                <a:ea typeface="Arial"/>
                <a:cs typeface="Arial"/>
                <a:sym typeface="Arial"/>
              </a:rPr>
              <a:t>   —  what's in the house, expiry-aware</a:t>
            </a:r>
            <a:endParaRPr/>
          </a:p>
        </p:txBody>
      </p:sp>
      <p:sp>
        <p:nvSpPr>
          <p:cNvPr id="543" name="Google Shape;543;p7"/>
          <p:cNvSpPr/>
          <p:nvPr/>
        </p:nvSpPr>
        <p:spPr>
          <a:xfrm>
            <a:off x="1033272" y="3694176"/>
            <a:ext cx="27432" cy="201168"/>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7"/>
          <p:cNvSpPr/>
          <p:nvPr/>
        </p:nvSpPr>
        <p:spPr>
          <a:xfrm>
            <a:off x="822960" y="3895344"/>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7"/>
          <p:cNvSpPr txBox="1"/>
          <p:nvPr/>
        </p:nvSpPr>
        <p:spPr>
          <a:xfrm>
            <a:off x="822960" y="387705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4</a:t>
            </a:r>
            <a:endParaRPr/>
          </a:p>
        </p:txBody>
      </p:sp>
      <p:sp>
        <p:nvSpPr>
          <p:cNvPr id="546" name="Google Shape;546;p7"/>
          <p:cNvSpPr txBox="1"/>
          <p:nvPr/>
        </p:nvSpPr>
        <p:spPr>
          <a:xfrm>
            <a:off x="1463040" y="3858768"/>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Daily log</a:t>
            </a:r>
            <a:r>
              <a:rPr b="0" i="0" lang="en-US" sz="1150" u="none" cap="none" strike="noStrike">
                <a:solidFill>
                  <a:srgbClr val="6E6F74"/>
                </a:solidFill>
                <a:latin typeface="Arial"/>
                <a:ea typeface="Arial"/>
                <a:cs typeface="Arial"/>
                <a:sym typeface="Arial"/>
              </a:rPr>
              <a:t>   —  one tap = what you ate</a:t>
            </a:r>
            <a:endParaRPr/>
          </a:p>
        </p:txBody>
      </p:sp>
      <p:sp>
        <p:nvSpPr>
          <p:cNvPr id="547" name="Google Shape;547;p7"/>
          <p:cNvSpPr/>
          <p:nvPr/>
        </p:nvSpPr>
        <p:spPr>
          <a:xfrm>
            <a:off x="1033272" y="4352544"/>
            <a:ext cx="27432" cy="201168"/>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7"/>
          <p:cNvSpPr/>
          <p:nvPr/>
        </p:nvSpPr>
        <p:spPr>
          <a:xfrm>
            <a:off x="822960" y="4553712"/>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7"/>
          <p:cNvSpPr txBox="1"/>
          <p:nvPr/>
        </p:nvSpPr>
        <p:spPr>
          <a:xfrm>
            <a:off x="822960" y="4535424"/>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5</a:t>
            </a:r>
            <a:endParaRPr/>
          </a:p>
        </p:txBody>
      </p:sp>
      <p:sp>
        <p:nvSpPr>
          <p:cNvPr id="550" name="Google Shape;550;p7"/>
          <p:cNvSpPr txBox="1"/>
          <p:nvPr/>
        </p:nvSpPr>
        <p:spPr>
          <a:xfrm>
            <a:off x="1463040" y="4517136"/>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Insights</a:t>
            </a:r>
            <a:r>
              <a:rPr b="0" i="0" lang="en-US" sz="1150" u="none" cap="none" strike="noStrike">
                <a:solidFill>
                  <a:srgbClr val="6E6F74"/>
                </a:solidFill>
                <a:latin typeface="Arial"/>
                <a:ea typeface="Arial"/>
                <a:cs typeface="Arial"/>
                <a:sym typeface="Arial"/>
              </a:rPr>
              <a:t>   —  weekly gaps + “use what you have” + Next Cart</a:t>
            </a:r>
            <a:endParaRPr/>
          </a:p>
        </p:txBody>
      </p:sp>
      <p:sp>
        <p:nvSpPr>
          <p:cNvPr id="551" name="Google Shape;551;p7"/>
          <p:cNvSpPr/>
          <p:nvPr/>
        </p:nvSpPr>
        <p:spPr>
          <a:xfrm>
            <a:off x="1033272" y="5010912"/>
            <a:ext cx="27432" cy="201168"/>
          </a:xfrm>
          <a:prstGeom prst="rect">
            <a:avLst/>
          </a:prstGeom>
          <a:solidFill>
            <a:srgbClr val="B7C9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7"/>
          <p:cNvSpPr/>
          <p:nvPr/>
        </p:nvSpPr>
        <p:spPr>
          <a:xfrm>
            <a:off x="822960" y="5212079"/>
            <a:ext cx="457200" cy="457200"/>
          </a:xfrm>
          <a:prstGeom prst="ellipse">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7"/>
          <p:cNvSpPr txBox="1"/>
          <p:nvPr/>
        </p:nvSpPr>
        <p:spPr>
          <a:xfrm>
            <a:off x="822960" y="5193792"/>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6</a:t>
            </a:r>
            <a:endParaRPr/>
          </a:p>
        </p:txBody>
      </p:sp>
      <p:sp>
        <p:nvSpPr>
          <p:cNvPr id="554" name="Google Shape;554;p7"/>
          <p:cNvSpPr txBox="1"/>
          <p:nvPr/>
        </p:nvSpPr>
        <p:spPr>
          <a:xfrm>
            <a:off x="1463040" y="5175503"/>
            <a:ext cx="521208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Nutri-Coach + erase</a:t>
            </a:r>
            <a:r>
              <a:rPr b="0" i="0" lang="en-US" sz="1150" u="none" cap="none" strike="noStrike">
                <a:solidFill>
                  <a:srgbClr val="6E6F74"/>
                </a:solidFill>
                <a:latin typeface="Arial"/>
                <a:ea typeface="Arial"/>
                <a:cs typeface="Arial"/>
                <a:sym typeface="Arial"/>
              </a:rPr>
              <a:t>   —  plain-language why · GDPR erase</a:t>
            </a:r>
            <a:endParaRPr/>
          </a:p>
        </p:txBody>
      </p:sp>
      <p:sp>
        <p:nvSpPr>
          <p:cNvPr id="555" name="Google Shape;555;p7"/>
          <p:cNvSpPr txBox="1"/>
          <p:nvPr/>
        </p:nvSpPr>
        <p:spPr>
          <a:xfrm>
            <a:off x="548640" y="6428232"/>
            <a:ext cx="4572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 u="none" cap="none" strike="noStrike">
                <a:solidFill>
                  <a:srgbClr val="6E6F74"/>
                </a:solidFill>
                <a:latin typeface="Arial"/>
                <a:ea typeface="Arial"/>
                <a:cs typeface="Arial"/>
                <a:sym typeface="Arial"/>
              </a:rPr>
              <a:t>NutriWise</a:t>
            </a:r>
            <a:r>
              <a:rPr b="0" i="0" lang="en-US" sz="900" u="none" cap="none" strike="noStrike">
                <a:solidFill>
                  <a:srgbClr val="6E6F74"/>
                </a:solidFill>
                <a:latin typeface="Arial"/>
                <a:ea typeface="Arial"/>
                <a:cs typeface="Arial"/>
                <a:sym typeface="Arial"/>
              </a:rPr>
              <a:t>  ·  </a:t>
            </a:r>
            <a:endParaRPr/>
          </a:p>
        </p:txBody>
      </p:sp>
      <p:sp>
        <p:nvSpPr>
          <p:cNvPr id="556" name="Google Shape;556;p7"/>
          <p:cNvSpPr txBox="1"/>
          <p:nvPr/>
        </p:nvSpPr>
        <p:spPr>
          <a:xfrm>
            <a:off x="9875520" y="6428232"/>
            <a:ext cx="1737300" cy="138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lang="en-US" sz="900">
                <a:solidFill>
                  <a:srgbClr val="6E6F74"/>
                </a:solidFill>
              </a:rPr>
              <a:t>12</a:t>
            </a:r>
            <a:r>
              <a:rPr b="0" i="0" lang="en-US" sz="900" u="none" cap="none" strike="noStrike">
                <a:solidFill>
                  <a:srgbClr val="6E6F74"/>
                </a:solidFill>
                <a:latin typeface="Arial"/>
                <a:ea typeface="Arial"/>
                <a:cs typeface="Arial"/>
                <a:sym typeface="Arial"/>
              </a:rPr>
              <a:t> / 13</a:t>
            </a:r>
            <a:endParaRPr/>
          </a:p>
        </p:txBody>
      </p:sp>
      <p:pic>
        <p:nvPicPr>
          <p:cNvPr descr="Player solid icon. Video play interface button in film frame symbol, glyph style pictogram on white background. Multimedia sign for mobile concept and web design. Vector graphics. (von Getty Images)" id="557" name="Google Shape;557;p7"/>
          <p:cNvPicPr preferRelativeResize="0"/>
          <p:nvPr/>
        </p:nvPicPr>
        <p:blipFill>
          <a:blip r:embed="rId3">
            <a:alphaModFix/>
          </a:blip>
          <a:stretch>
            <a:fillRect/>
          </a:stretch>
        </p:blipFill>
        <p:spPr>
          <a:xfrm>
            <a:off x="7240674" y="1882138"/>
            <a:ext cx="3825198" cy="382522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62" name="Shape 562"/>
        <p:cNvGrpSpPr/>
        <p:nvPr/>
      </p:nvGrpSpPr>
      <p:grpSpPr>
        <a:xfrm>
          <a:off x="0" y="0"/>
          <a:ext cx="0" cy="0"/>
          <a:chOff x="0" y="0"/>
          <a:chExt cx="0" cy="0"/>
        </a:xfrm>
      </p:grpSpPr>
      <p:sp>
        <p:nvSpPr>
          <p:cNvPr id="563" name="Google Shape;563;p13"/>
          <p:cNvSpPr/>
          <p:nvPr/>
        </p:nvSpPr>
        <p:spPr>
          <a:xfrm>
            <a:off x="0" y="0"/>
            <a:ext cx="12191695" cy="128016"/>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13"/>
          <p:cNvSpPr/>
          <p:nvPr/>
        </p:nvSpPr>
        <p:spPr>
          <a:xfrm>
            <a:off x="0" y="6729984"/>
            <a:ext cx="12191695" cy="128016"/>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13"/>
          <p:cNvSpPr/>
          <p:nvPr/>
        </p:nvSpPr>
        <p:spPr>
          <a:xfrm>
            <a:off x="822960" y="822960"/>
            <a:ext cx="310896" cy="310896"/>
          </a:xfrm>
          <a:prstGeom prst="roundRect">
            <a:avLst>
              <a:gd fmla="val 30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13"/>
          <p:cNvSpPr txBox="1"/>
          <p:nvPr/>
        </p:nvSpPr>
        <p:spPr>
          <a:xfrm>
            <a:off x="1243584" y="795528"/>
            <a:ext cx="3657600"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1D1D21"/>
                </a:solidFill>
                <a:latin typeface="Arial"/>
                <a:ea typeface="Arial"/>
                <a:cs typeface="Arial"/>
                <a:sym typeface="Arial"/>
              </a:rPr>
              <a:t>NUTRIWISE</a:t>
            </a:r>
            <a:endParaRPr/>
          </a:p>
        </p:txBody>
      </p:sp>
      <p:sp>
        <p:nvSpPr>
          <p:cNvPr id="567" name="Google Shape;567;p13"/>
          <p:cNvSpPr txBox="1"/>
          <p:nvPr/>
        </p:nvSpPr>
        <p:spPr>
          <a:xfrm>
            <a:off x="822960" y="2286000"/>
            <a:ext cx="10515600" cy="10972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000" u="none" cap="none" strike="noStrike">
                <a:solidFill>
                  <a:srgbClr val="1D1D21"/>
                </a:solidFill>
                <a:latin typeface="Arial"/>
                <a:ea typeface="Arial"/>
                <a:cs typeface="Arial"/>
                <a:sym typeface="Arial"/>
              </a:rPr>
              <a:t>Thank you.</a:t>
            </a:r>
            <a:endParaRPr/>
          </a:p>
        </p:txBody>
      </p:sp>
      <p:sp>
        <p:nvSpPr>
          <p:cNvPr id="568" name="Google Shape;568;p13"/>
          <p:cNvSpPr/>
          <p:nvPr/>
        </p:nvSpPr>
        <p:spPr>
          <a:xfrm>
            <a:off x="841248" y="3383280"/>
            <a:ext cx="310896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13"/>
          <p:cNvSpPr txBox="1"/>
          <p:nvPr/>
        </p:nvSpPr>
        <p:spPr>
          <a:xfrm>
            <a:off x="841248" y="3611880"/>
            <a:ext cx="100584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800" u="none" cap="none" strike="noStrike">
                <a:solidFill>
                  <a:srgbClr val="5F7B4F"/>
                </a:solidFill>
                <a:latin typeface="Arial"/>
                <a:ea typeface="Arial"/>
                <a:cs typeface="Arial"/>
                <a:sym typeface="Arial"/>
              </a:rPr>
              <a:t>Upload a grocery receipt. Get one smarter thing to buy next time.</a:t>
            </a:r>
            <a:endParaRPr/>
          </a:p>
        </p:txBody>
      </p:sp>
      <p:sp>
        <p:nvSpPr>
          <p:cNvPr id="570" name="Google Shape;570;p13"/>
          <p:cNvSpPr txBox="1"/>
          <p:nvPr/>
        </p:nvSpPr>
        <p:spPr>
          <a:xfrm>
            <a:off x="822960" y="4526280"/>
            <a:ext cx="10515600" cy="525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D1D21"/>
                </a:solidFill>
                <a:latin typeface="Arial"/>
                <a:ea typeface="Arial"/>
                <a:cs typeface="Arial"/>
                <a:sym typeface="Arial"/>
              </a:rPr>
              <a:t>Jennifer Rake</a:t>
            </a:r>
            <a:r>
              <a:rPr b="0" i="0" lang="en-US" sz="1500" u="none" cap="none" strike="noStrike">
                <a:solidFill>
                  <a:srgbClr val="6E6F74"/>
                </a:solidFill>
                <a:latin typeface="Arial"/>
                <a:ea typeface="Arial"/>
                <a:cs typeface="Arial"/>
                <a:sym typeface="Arial"/>
              </a:rPr>
              <a:t>   &amp;   </a:t>
            </a:r>
            <a:r>
              <a:rPr b="1" i="0" lang="en-US" sz="1500" u="none" cap="none" strike="noStrike">
                <a:solidFill>
                  <a:srgbClr val="1D1D21"/>
                </a:solidFill>
                <a:latin typeface="Arial"/>
                <a:ea typeface="Arial"/>
                <a:cs typeface="Arial"/>
                <a:sym typeface="Arial"/>
              </a:rPr>
              <a:t>Stuart Kasemeier</a:t>
            </a:r>
            <a:endParaRPr/>
          </a:p>
          <a:p>
            <a:pPr indent="0" lvl="0" marL="0" marR="0" rtl="0" algn="l">
              <a:lnSpc>
                <a:spcPct val="100000"/>
              </a:lnSpc>
              <a:spcBef>
                <a:spcPts val="800"/>
              </a:spcBef>
              <a:spcAft>
                <a:spcPts val="0"/>
              </a:spcAft>
              <a:buNone/>
            </a:pPr>
            <a:r>
              <a:rPr b="0" i="0" lang="en-US" sz="1250" u="none" cap="none" strike="noStrike">
                <a:solidFill>
                  <a:srgbClr val="6E6F74"/>
                </a:solidFill>
                <a:latin typeface="Arial"/>
                <a:ea typeface="Arial"/>
                <a:cs typeface="Arial"/>
                <a:sym typeface="Arial"/>
              </a:rPr>
              <a:t>NutriWise  ·  AI PM Capstone  ·  Midterm V</a:t>
            </a:r>
            <a:r>
              <a:rPr lang="en-US" sz="1250">
                <a:solidFill>
                  <a:srgbClr val="6E6F74"/>
                </a:solidFill>
              </a:rPr>
              <a:t>0</a:t>
            </a:r>
            <a:r>
              <a:rPr b="0" i="0" lang="en-US" sz="1250" u="none" cap="none" strike="noStrike">
                <a:solidFill>
                  <a:srgbClr val="6E6F74"/>
                </a:solidFill>
                <a:latin typeface="Arial"/>
                <a:ea typeface="Arial"/>
                <a:cs typeface="Arial"/>
                <a:sym typeface="Arial"/>
              </a:rPr>
              <a:t>  —  Questions &amp; feedback welcome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75" name="Shape 575"/>
        <p:cNvGrpSpPr/>
        <p:nvPr/>
      </p:nvGrpSpPr>
      <p:grpSpPr>
        <a:xfrm>
          <a:off x="0" y="0"/>
          <a:ext cx="0" cy="0"/>
          <a:chOff x="0" y="0"/>
          <a:chExt cx="0" cy="0"/>
        </a:xfrm>
      </p:grpSpPr>
      <p:sp>
        <p:nvSpPr>
          <p:cNvPr id="576" name="Google Shape;576;p14"/>
          <p:cNvSpPr txBox="1"/>
          <p:nvPr/>
        </p:nvSpPr>
        <p:spPr>
          <a:xfrm>
            <a:off x="822960" y="548640"/>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5F7B4F"/>
                </a:solidFill>
                <a:latin typeface="Arial"/>
                <a:ea typeface="Arial"/>
                <a:cs typeface="Arial"/>
                <a:sym typeface="Arial"/>
              </a:rPr>
              <a:t>BACKUP — EARLIER PILOT MEASUREMENT</a:t>
            </a:r>
            <a:endParaRPr/>
          </a:p>
        </p:txBody>
      </p:sp>
      <p:sp>
        <p:nvSpPr>
          <p:cNvPr id="577" name="Google Shape;577;p14"/>
          <p:cNvSpPr txBox="1"/>
          <p:nvPr/>
        </p:nvSpPr>
        <p:spPr>
          <a:xfrm>
            <a:off x="822960" y="841248"/>
            <a:ext cx="1069848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D1D21"/>
                </a:solidFill>
                <a:latin typeface="Arial"/>
                <a:ea typeface="Arial"/>
                <a:cs typeface="Arial"/>
                <a:sym typeface="Arial"/>
              </a:rPr>
              <a:t>Pilot: OFF vs BLS, judged head-to-head</a:t>
            </a:r>
            <a:endParaRPr/>
          </a:p>
        </p:txBody>
      </p:sp>
      <p:sp>
        <p:nvSpPr>
          <p:cNvPr id="578" name="Google Shape;578;p14"/>
          <p:cNvSpPr/>
          <p:nvPr/>
        </p:nvSpPr>
        <p:spPr>
          <a:xfrm>
            <a:off x="841248" y="1481328"/>
            <a:ext cx="1371600" cy="4114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9" name="Google Shape;579;p14"/>
          <p:cNvSpPr txBox="1"/>
          <p:nvPr/>
        </p:nvSpPr>
        <p:spPr>
          <a:xfrm>
            <a:off x="822960" y="1536192"/>
            <a:ext cx="105156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200" u="none" cap="none" strike="noStrike">
                <a:solidFill>
                  <a:srgbClr val="6E6F74"/>
                </a:solidFill>
                <a:latin typeface="Arial"/>
                <a:ea typeface="Arial"/>
                <a:cs typeface="Arial"/>
                <a:sym typeface="Arial"/>
              </a:rPr>
              <a:t>Different method than Recall@5 — an earlier LLM-judge pilot on 76 items. Not directly comparable; kept for context.</a:t>
            </a:r>
            <a:endParaRPr/>
          </a:p>
        </p:txBody>
      </p:sp>
      <p:sp>
        <p:nvSpPr>
          <p:cNvPr id="580" name="Google Shape;580;p14"/>
          <p:cNvSpPr/>
          <p:nvPr/>
        </p:nvSpPr>
        <p:spPr>
          <a:xfrm>
            <a:off x="822960" y="1965960"/>
            <a:ext cx="6903720" cy="3200400"/>
          </a:xfrm>
          <a:prstGeom prst="roundRect">
            <a:avLst>
              <a:gd fmla="val 4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aseline.png" id="581" name="Google Shape;581;p14"/>
          <p:cNvPicPr preferRelativeResize="0"/>
          <p:nvPr/>
        </p:nvPicPr>
        <p:blipFill rotWithShape="1">
          <a:blip r:embed="rId3">
            <a:alphaModFix/>
          </a:blip>
          <a:srcRect b="0" l="0" r="0" t="0"/>
          <a:stretch/>
        </p:blipFill>
        <p:spPr>
          <a:xfrm>
            <a:off x="960120" y="2148840"/>
            <a:ext cx="6629400" cy="2393847"/>
          </a:xfrm>
          <a:prstGeom prst="rect">
            <a:avLst/>
          </a:prstGeom>
          <a:noFill/>
          <a:ln>
            <a:noFill/>
          </a:ln>
        </p:spPr>
      </p:pic>
      <p:sp>
        <p:nvSpPr>
          <p:cNvPr id="582" name="Google Shape;582;p14"/>
          <p:cNvSpPr/>
          <p:nvPr/>
        </p:nvSpPr>
        <p:spPr>
          <a:xfrm>
            <a:off x="8001000" y="1965960"/>
            <a:ext cx="3364992" cy="96012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14"/>
          <p:cNvSpPr/>
          <p:nvPr/>
        </p:nvSpPr>
        <p:spPr>
          <a:xfrm>
            <a:off x="8001000" y="2093976"/>
            <a:ext cx="73152" cy="70408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14"/>
          <p:cNvSpPr txBox="1"/>
          <p:nvPr/>
        </p:nvSpPr>
        <p:spPr>
          <a:xfrm>
            <a:off x="8275320" y="2093976"/>
            <a:ext cx="2980944" cy="72237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66%</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OFF usable (pilot)</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correct + partial, LLM-judged</a:t>
            </a:r>
            <a:endParaRPr/>
          </a:p>
        </p:txBody>
      </p:sp>
      <p:sp>
        <p:nvSpPr>
          <p:cNvPr id="585" name="Google Shape;585;p14"/>
          <p:cNvSpPr/>
          <p:nvPr/>
        </p:nvSpPr>
        <p:spPr>
          <a:xfrm>
            <a:off x="8001000" y="3035808"/>
            <a:ext cx="3364992" cy="96012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14"/>
          <p:cNvSpPr/>
          <p:nvPr/>
        </p:nvSpPr>
        <p:spPr>
          <a:xfrm>
            <a:off x="8001000" y="3163824"/>
            <a:ext cx="73152" cy="704088"/>
          </a:xfrm>
          <a:prstGeom prst="rect">
            <a:avLst/>
          </a:prstGeom>
          <a:solidFill>
            <a:srgbClr val="5F7B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14"/>
          <p:cNvSpPr txBox="1"/>
          <p:nvPr/>
        </p:nvSpPr>
        <p:spPr>
          <a:xfrm>
            <a:off x="8275320" y="3163824"/>
            <a:ext cx="2980944" cy="72237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5F7B4F"/>
                </a:solidFill>
                <a:latin typeface="Arial"/>
                <a:ea typeface="Arial"/>
                <a:cs typeface="Arial"/>
                <a:sym typeface="Arial"/>
              </a:rPr>
              <a:t>2×</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OFF beats BLS</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54% vs 32% correct on identity</a:t>
            </a:r>
            <a:endParaRPr/>
          </a:p>
        </p:txBody>
      </p:sp>
      <p:sp>
        <p:nvSpPr>
          <p:cNvPr id="588" name="Google Shape;588;p14"/>
          <p:cNvSpPr/>
          <p:nvPr/>
        </p:nvSpPr>
        <p:spPr>
          <a:xfrm>
            <a:off x="8001000" y="4105656"/>
            <a:ext cx="3364992" cy="960120"/>
          </a:xfrm>
          <a:prstGeom prst="roundRect">
            <a:avLst>
              <a:gd fmla="val 6000" name="adj"/>
            </a:avLst>
          </a:prstGeom>
          <a:solidFill>
            <a:srgbClr val="FFFFFF"/>
          </a:solidFill>
          <a:ln cap="flat" cmpd="sng" w="9525">
            <a:solidFill>
              <a:srgbClr val="E5E4E0"/>
            </a:solidFill>
            <a:prstDash val="solid"/>
            <a:round/>
            <a:headEnd len="sm" w="sm" type="none"/>
            <a:tailEnd len="sm" w="sm" type="none"/>
          </a:ln>
          <a:effectLst>
            <a:outerShdw blurRad="80000" rotWithShape="0" dir="5400000" dist="30000">
              <a:srgbClr val="1D1D21">
                <a:alpha val="1215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14"/>
          <p:cNvSpPr/>
          <p:nvPr/>
        </p:nvSpPr>
        <p:spPr>
          <a:xfrm>
            <a:off x="8001000" y="4233672"/>
            <a:ext cx="73152" cy="704088"/>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0" name="Google Shape;590;p14"/>
          <p:cNvSpPr txBox="1"/>
          <p:nvPr/>
        </p:nvSpPr>
        <p:spPr>
          <a:xfrm>
            <a:off x="8275320" y="4233672"/>
            <a:ext cx="2980944" cy="722376"/>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1" i="0" lang="en-US" sz="2900" u="none" cap="none" strike="noStrike">
                <a:solidFill>
                  <a:srgbClr val="7C9A6A"/>
                </a:solidFill>
                <a:latin typeface="Arial"/>
                <a:ea typeface="Arial"/>
                <a:cs typeface="Arial"/>
                <a:sym typeface="Arial"/>
              </a:rPr>
              <a:t>96%</a:t>
            </a:r>
            <a:endParaRPr/>
          </a:p>
          <a:p>
            <a:pPr indent="0" lvl="0" marL="0" marR="0" rtl="0" algn="l">
              <a:lnSpc>
                <a:spcPct val="102000"/>
              </a:lnSpc>
              <a:spcBef>
                <a:spcPts val="300"/>
              </a:spcBef>
              <a:spcAft>
                <a:spcPts val="0"/>
              </a:spcAft>
              <a:buNone/>
            </a:pPr>
            <a:r>
              <a:rPr b="1" i="0" lang="en-US" sz="1250" u="none" cap="none" strike="noStrike">
                <a:solidFill>
                  <a:srgbClr val="1D1D21"/>
                </a:solidFill>
                <a:latin typeface="Arial"/>
                <a:ea typeface="Arial"/>
                <a:cs typeface="Arial"/>
                <a:sym typeface="Arial"/>
              </a:rPr>
              <a:t>Judge agreement</a:t>
            </a:r>
            <a:endParaRPr/>
          </a:p>
          <a:p>
            <a:pPr indent="0" lvl="0" marL="0" marR="0" rtl="0" algn="l">
              <a:lnSpc>
                <a:spcPct val="102000"/>
              </a:lnSpc>
              <a:spcBef>
                <a:spcPts val="300"/>
              </a:spcBef>
              <a:spcAft>
                <a:spcPts val="0"/>
              </a:spcAft>
              <a:buNone/>
            </a:pPr>
            <a:r>
              <a:rPr b="0" i="0" lang="en-US" sz="1050" u="none" cap="none" strike="noStrike">
                <a:solidFill>
                  <a:srgbClr val="6E6F74"/>
                </a:solidFill>
                <a:latin typeface="Arial"/>
                <a:ea typeface="Arial"/>
                <a:cs typeface="Arial"/>
                <a:sym typeface="Arial"/>
              </a:rPr>
              <a:t>3/3 unanimous — pilot metric</a:t>
            </a:r>
            <a:endParaRPr/>
          </a:p>
        </p:txBody>
      </p:sp>
      <p:sp>
        <p:nvSpPr>
          <p:cNvPr id="591" name="Google Shape;591;p14"/>
          <p:cNvSpPr txBox="1"/>
          <p:nvPr/>
        </p:nvSpPr>
        <p:spPr>
          <a:xfrm>
            <a:off x="822960" y="5349240"/>
            <a:ext cx="10515600"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250" u="none" cap="none" strike="noStrike">
                <a:solidFill>
                  <a:srgbClr val="5F7B4F"/>
                </a:solidFill>
                <a:latin typeface="Arial"/>
                <a:ea typeface="Arial"/>
                <a:cs typeface="Arial"/>
                <a:sym typeface="Arial"/>
              </a:rPr>
              <a:t>Why it still matters:  </a:t>
            </a:r>
            <a:r>
              <a:rPr b="0" i="0" lang="en-US" sz="1250" u="none" cap="none" strike="noStrike">
                <a:solidFill>
                  <a:srgbClr val="1D1D21"/>
                </a:solidFill>
                <a:latin typeface="Arial"/>
                <a:ea typeface="Arial"/>
                <a:cs typeface="Arial"/>
                <a:sym typeface="Arial"/>
              </a:rPr>
              <a:t>it's why BLS leads and OFF is only a fallback — and why we moved to the stricter, human-verified Recall@5.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g3f54b91471f_0_5"/>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NUTRIWISE · MIDTERM · ML STEP 2</a:t>
            </a:r>
            <a:endParaRPr/>
          </a:p>
        </p:txBody>
      </p:sp>
      <p:sp>
        <p:nvSpPr>
          <p:cNvPr id="597" name="Google Shape;597;g3f54b91471f_0_5"/>
          <p:cNvSpPr txBox="1"/>
          <p:nvPr/>
        </p:nvSpPr>
        <p:spPr>
          <a:xfrm>
            <a:off x="685800" y="1234440"/>
            <a:ext cx="10820100" cy="12438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4000" u="none" cap="none" strike="noStrike">
                <a:solidFill>
                  <a:srgbClr val="1B1E17"/>
                </a:solidFill>
                <a:latin typeface="Arial"/>
                <a:ea typeface="Arial"/>
                <a:cs typeface="Arial"/>
                <a:sym typeface="Arial"/>
              </a:rPr>
              <a:t>From cryptic receipt text to a </a:t>
            </a:r>
            <a:endParaRPr/>
          </a:p>
          <a:p>
            <a:pPr indent="0" lvl="0" marL="0" marR="0" rtl="0" algn="l">
              <a:lnSpc>
                <a:spcPct val="102000"/>
              </a:lnSpc>
              <a:spcBef>
                <a:spcPts val="0"/>
              </a:spcBef>
              <a:spcAft>
                <a:spcPts val="0"/>
              </a:spcAft>
              <a:buNone/>
            </a:pPr>
            <a:r>
              <a:rPr b="1" i="0" lang="en-US" sz="4000" u="none" cap="none" strike="noStrike">
                <a:solidFill>
                  <a:srgbClr val="5D7A49"/>
                </a:solidFill>
                <a:latin typeface="Arial"/>
                <a:ea typeface="Arial"/>
                <a:cs typeface="Arial"/>
                <a:sym typeface="Arial"/>
              </a:rPr>
              <a:t>verified gold set</a:t>
            </a:r>
            <a:endParaRPr/>
          </a:p>
        </p:txBody>
      </p:sp>
      <p:sp>
        <p:nvSpPr>
          <p:cNvPr id="598" name="Google Shape;598;g3f54b91471f_0_5"/>
          <p:cNvSpPr txBox="1"/>
          <p:nvPr/>
        </p:nvSpPr>
        <p:spPr>
          <a:xfrm>
            <a:off x="685800" y="2880360"/>
            <a:ext cx="9448500" cy="5541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600" u="none" cap="none" strike="noStrike">
                <a:solidFill>
                  <a:srgbClr val="5F6854"/>
                </a:solidFill>
                <a:latin typeface="Arial"/>
                <a:ea typeface="Arial"/>
                <a:cs typeface="Arial"/>
                <a:sym typeface="Arial"/>
              </a:rPr>
              <a:t>Matching test set extended from 45 curated pairs to the real receipts — every line judged against the full BLS corpus, then human spot-checked. No trained model, but an honestly measured rule/hybrid pipeline.</a:t>
            </a:r>
            <a:endParaRPr/>
          </a:p>
        </p:txBody>
      </p:sp>
      <p:sp>
        <p:nvSpPr>
          <p:cNvPr id="599" name="Google Shape;599;g3f54b91471f_0_5"/>
          <p:cNvSpPr/>
          <p:nvPr/>
        </p:nvSpPr>
        <p:spPr>
          <a:xfrm>
            <a:off x="685800" y="4297680"/>
            <a:ext cx="3423900" cy="16002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g3f54b91471f_0_5"/>
          <p:cNvSpPr txBox="1"/>
          <p:nvPr/>
        </p:nvSpPr>
        <p:spPr>
          <a:xfrm>
            <a:off x="941832" y="4526280"/>
            <a:ext cx="29667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5D7A49"/>
                </a:solidFill>
                <a:latin typeface="Arial"/>
                <a:ea typeface="Arial"/>
                <a:cs typeface="Arial"/>
                <a:sym typeface="Arial"/>
              </a:rPr>
              <a:t>178 / 180</a:t>
            </a:r>
            <a:endParaRPr/>
          </a:p>
        </p:txBody>
      </p:sp>
      <p:sp>
        <p:nvSpPr>
          <p:cNvPr id="601" name="Google Shape;601;g3f54b91471f_0_5"/>
          <p:cNvSpPr txBox="1"/>
          <p:nvPr/>
        </p:nvSpPr>
        <p:spPr>
          <a:xfrm>
            <a:off x="941832" y="5257800"/>
            <a:ext cx="2966700" cy="40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50" u="none" cap="none" strike="noStrike">
                <a:solidFill>
                  <a:srgbClr val="5F6854"/>
                </a:solidFill>
                <a:latin typeface="Arial"/>
                <a:ea typeface="Arial"/>
                <a:cs typeface="Arial"/>
                <a:sym typeface="Arial"/>
              </a:rPr>
              <a:t>Receipt lines with a verified match (99% coverage)</a:t>
            </a:r>
            <a:endParaRPr/>
          </a:p>
        </p:txBody>
      </p:sp>
      <p:sp>
        <p:nvSpPr>
          <p:cNvPr id="602" name="Google Shape;602;g3f54b91471f_0_5"/>
          <p:cNvSpPr/>
          <p:nvPr/>
        </p:nvSpPr>
        <p:spPr>
          <a:xfrm>
            <a:off x="4383938" y="4297680"/>
            <a:ext cx="3423900" cy="16002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g3f54b91471f_0_5"/>
          <p:cNvSpPr txBox="1"/>
          <p:nvPr/>
        </p:nvSpPr>
        <p:spPr>
          <a:xfrm>
            <a:off x="4639970" y="4526280"/>
            <a:ext cx="29667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5D7A49"/>
                </a:solidFill>
                <a:latin typeface="Arial"/>
                <a:ea typeface="Arial"/>
                <a:cs typeface="Arial"/>
                <a:sym typeface="Arial"/>
              </a:rPr>
              <a:t>3 %</a:t>
            </a:r>
            <a:endParaRPr/>
          </a:p>
        </p:txBody>
      </p:sp>
      <p:sp>
        <p:nvSpPr>
          <p:cNvPr id="604" name="Google Shape;604;g3f54b91471f_0_5"/>
          <p:cNvSpPr txBox="1"/>
          <p:nvPr/>
        </p:nvSpPr>
        <p:spPr>
          <a:xfrm>
            <a:off x="4639970" y="5257800"/>
            <a:ext cx="2966700" cy="19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50" u="none" cap="none" strike="noStrike">
                <a:solidFill>
                  <a:srgbClr val="5F6854"/>
                </a:solidFill>
                <a:latin typeface="Arial"/>
                <a:ea typeface="Arial"/>
                <a:cs typeface="Arial"/>
                <a:sym typeface="Arial"/>
              </a:rPr>
              <a:t>Label-error rate (1 / 29 human-checked)</a:t>
            </a:r>
            <a:endParaRPr/>
          </a:p>
        </p:txBody>
      </p:sp>
      <p:sp>
        <p:nvSpPr>
          <p:cNvPr id="605" name="Google Shape;605;g3f54b91471f_0_5"/>
          <p:cNvSpPr/>
          <p:nvPr/>
        </p:nvSpPr>
        <p:spPr>
          <a:xfrm>
            <a:off x="8082076" y="4297680"/>
            <a:ext cx="3423900" cy="16002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g3f54b91471f_0_5"/>
          <p:cNvSpPr txBox="1"/>
          <p:nvPr/>
        </p:nvSpPr>
        <p:spPr>
          <a:xfrm>
            <a:off x="8338108" y="4526280"/>
            <a:ext cx="29667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5D7A49"/>
                </a:solidFill>
                <a:latin typeface="Arial"/>
                <a:ea typeface="Arial"/>
                <a:cs typeface="Arial"/>
                <a:sym typeface="Arial"/>
              </a:rPr>
              <a:t>45 → 180</a:t>
            </a:r>
            <a:endParaRPr/>
          </a:p>
        </p:txBody>
      </p:sp>
      <p:sp>
        <p:nvSpPr>
          <p:cNvPr id="607" name="Google Shape;607;g3f54b91471f_0_5"/>
          <p:cNvSpPr txBox="1"/>
          <p:nvPr/>
        </p:nvSpPr>
        <p:spPr>
          <a:xfrm>
            <a:off x="8338108" y="5257800"/>
            <a:ext cx="2966700" cy="40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50" u="none" cap="none" strike="noStrike">
                <a:solidFill>
                  <a:srgbClr val="5F6854"/>
                </a:solidFill>
                <a:latin typeface="Arial"/>
                <a:ea typeface="Arial"/>
                <a:cs typeface="Arial"/>
                <a:sym typeface="Arial"/>
              </a:rPr>
              <a:t>Gold set nearly quadrupled (152 unique queries)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g3f54b91471f_0_71"/>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THE EXTENDED GOLD SET</a:t>
            </a:r>
            <a:endParaRPr/>
          </a:p>
        </p:txBody>
      </p:sp>
      <p:sp>
        <p:nvSpPr>
          <p:cNvPr id="613" name="Google Shape;613;g3f54b91471f_0_71"/>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Labeled against the full corpus — not inflated</a:t>
            </a:r>
            <a:endParaRPr/>
          </a:p>
        </p:txBody>
      </p:sp>
      <p:sp>
        <p:nvSpPr>
          <p:cNvPr id="614" name="Google Shape;614;g3f54b91471f_0_71"/>
          <p:cNvSpPr txBox="1"/>
          <p:nvPr/>
        </p:nvSpPr>
        <p:spPr>
          <a:xfrm>
            <a:off x="685800" y="1600200"/>
            <a:ext cx="99057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5F6854"/>
                </a:solidFill>
                <a:latin typeface="Arial"/>
                <a:ea typeface="Arial"/>
                <a:cs typeface="Arial"/>
                <a:sym typeface="Arial"/>
              </a:rPr>
              <a:t>The hybrid ranker proposes the Top-5; we find the correct label in the entire 7,140-name corpus — otherwise the gold would sit in the shortlist by construction and recall would be an artificial 100%.</a:t>
            </a:r>
            <a:endParaRPr/>
          </a:p>
        </p:txBody>
      </p:sp>
      <p:sp>
        <p:nvSpPr>
          <p:cNvPr id="615" name="Google Shape;615;g3f54b91471f_0_71"/>
          <p:cNvSpPr/>
          <p:nvPr/>
        </p:nvSpPr>
        <p:spPr>
          <a:xfrm>
            <a:off x="685800" y="2880360"/>
            <a:ext cx="10459500" cy="502800"/>
          </a:xfrm>
          <a:prstGeom prst="rect">
            <a:avLst/>
          </a:prstGeom>
          <a:solidFill>
            <a:srgbClr val="5D7A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g3f54b91471f_0_71"/>
          <p:cNvSpPr/>
          <p:nvPr/>
        </p:nvSpPr>
        <p:spPr>
          <a:xfrm>
            <a:off x="11172657" y="2880360"/>
            <a:ext cx="240300" cy="5028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7" name="Google Shape;617;g3f54b91471f_0_71"/>
          <p:cNvSpPr/>
          <p:nvPr/>
        </p:nvSpPr>
        <p:spPr>
          <a:xfrm>
            <a:off x="11440535" y="2880360"/>
            <a:ext cx="120300" cy="502800"/>
          </a:xfrm>
          <a:prstGeom prst="rect">
            <a:avLst/>
          </a:prstGeom>
          <a:solidFill>
            <a:srgbClr val="C08A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8" name="Google Shape;618;g3f54b91471f_0_71"/>
          <p:cNvSpPr/>
          <p:nvPr/>
        </p:nvSpPr>
        <p:spPr>
          <a:xfrm>
            <a:off x="685800" y="3685032"/>
            <a:ext cx="183000" cy="183000"/>
          </a:xfrm>
          <a:prstGeom prst="roundRect">
            <a:avLst>
              <a:gd fmla="val 6000" name="adj"/>
            </a:avLst>
          </a:prstGeom>
          <a:solidFill>
            <a:srgbClr val="5D7A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g3f54b91471f_0_71"/>
          <p:cNvSpPr txBox="1"/>
          <p:nvPr/>
        </p:nvSpPr>
        <p:spPr>
          <a:xfrm>
            <a:off x="978408" y="3657600"/>
            <a:ext cx="10820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F6854"/>
                </a:solidFill>
                <a:latin typeface="Arial"/>
                <a:ea typeface="Arial"/>
                <a:cs typeface="Arial"/>
                <a:sym typeface="Arial"/>
              </a:rPr>
              <a:t>BLS · reliable German nutrition — 174</a:t>
            </a:r>
            <a:endParaRPr/>
          </a:p>
        </p:txBody>
      </p:sp>
      <p:sp>
        <p:nvSpPr>
          <p:cNvPr id="620" name="Google Shape;620;g3f54b91471f_0_71"/>
          <p:cNvSpPr/>
          <p:nvPr/>
        </p:nvSpPr>
        <p:spPr>
          <a:xfrm>
            <a:off x="685800" y="4069080"/>
            <a:ext cx="1830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1" name="Google Shape;621;g3f54b91471f_0_71"/>
          <p:cNvSpPr txBox="1"/>
          <p:nvPr/>
        </p:nvSpPr>
        <p:spPr>
          <a:xfrm>
            <a:off x="978408" y="4041648"/>
            <a:ext cx="10820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F6854"/>
                </a:solidFill>
                <a:latin typeface="Arial"/>
                <a:ea typeface="Arial"/>
                <a:cs typeface="Arial"/>
                <a:sym typeface="Arial"/>
              </a:rPr>
              <a:t>Open Food Facts · branded fallback — 4</a:t>
            </a:r>
            <a:endParaRPr/>
          </a:p>
        </p:txBody>
      </p:sp>
      <p:sp>
        <p:nvSpPr>
          <p:cNvPr id="622" name="Google Shape;622;g3f54b91471f_0_71"/>
          <p:cNvSpPr/>
          <p:nvPr/>
        </p:nvSpPr>
        <p:spPr>
          <a:xfrm>
            <a:off x="685800" y="4453128"/>
            <a:ext cx="183000" cy="183000"/>
          </a:xfrm>
          <a:prstGeom prst="roundRect">
            <a:avLst>
              <a:gd fmla="val 6000" name="adj"/>
            </a:avLst>
          </a:prstGeom>
          <a:solidFill>
            <a:srgbClr val="C08A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3" name="Google Shape;623;g3f54b91471f_0_71"/>
          <p:cNvSpPr txBox="1"/>
          <p:nvPr/>
        </p:nvSpPr>
        <p:spPr>
          <a:xfrm>
            <a:off x="978408" y="4425696"/>
            <a:ext cx="108201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5F6854"/>
                </a:solidFill>
                <a:latin typeface="Arial"/>
                <a:ea typeface="Arial"/>
                <a:cs typeface="Arial"/>
                <a:sym typeface="Arial"/>
              </a:rPr>
              <a:t>unresolved (counter fish, ambiguous) — 2</a:t>
            </a:r>
            <a:endParaRPr/>
          </a:p>
        </p:txBody>
      </p:sp>
      <p:sp>
        <p:nvSpPr>
          <p:cNvPr id="624" name="Google Shape;624;g3f54b91471f_0_71"/>
          <p:cNvSpPr/>
          <p:nvPr/>
        </p:nvSpPr>
        <p:spPr>
          <a:xfrm>
            <a:off x="685800" y="5212080"/>
            <a:ext cx="54900" cy="5670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g3f54b91471f_0_71"/>
          <p:cNvSpPr txBox="1"/>
          <p:nvPr/>
        </p:nvSpPr>
        <p:spPr>
          <a:xfrm>
            <a:off x="886968" y="5212080"/>
            <a:ext cx="10545900" cy="2001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300" u="none" cap="none" strike="noStrike">
                <a:solidFill>
                  <a:srgbClr val="1B1E17"/>
                </a:solidFill>
                <a:latin typeface="Arial"/>
                <a:ea typeface="Arial"/>
                <a:cs typeface="Arial"/>
                <a:sym typeface="Arial"/>
              </a:rPr>
              <a:t>Process: </a:t>
            </a:r>
            <a:r>
              <a:rPr b="1" i="0" lang="en-US" sz="1300" u="none" cap="none" strike="noStrike">
                <a:solidFill>
                  <a:srgbClr val="5D7A49"/>
                </a:solidFill>
                <a:latin typeface="Arial"/>
                <a:ea typeface="Arial"/>
                <a:cs typeface="Arial"/>
                <a:sym typeface="Arial"/>
              </a:rPr>
              <a:t>Proposal</a:t>
            </a:r>
            <a:r>
              <a:rPr b="0" i="0" lang="en-US" sz="1300" u="none" cap="none" strike="noStrike">
                <a:solidFill>
                  <a:srgbClr val="1B1E17"/>
                </a:solidFill>
                <a:latin typeface="Arial"/>
                <a:ea typeface="Arial"/>
                <a:cs typeface="Arial"/>
                <a:sym typeface="Arial"/>
              </a:rPr>
              <a:t> (deterministic hybrid ranker) → </a:t>
            </a:r>
            <a:r>
              <a:rPr b="1" i="0" lang="en-US" sz="1300" u="none" cap="none" strike="noStrike">
                <a:solidFill>
                  <a:srgbClr val="5D7A49"/>
                </a:solidFill>
                <a:latin typeface="Arial"/>
                <a:ea typeface="Arial"/>
                <a:cs typeface="Arial"/>
                <a:sym typeface="Arial"/>
              </a:rPr>
              <a:t>Judgment</a:t>
            </a:r>
            <a:r>
              <a:rPr b="0" i="0" lang="en-US" sz="1300" u="none" cap="none" strike="noStrike">
                <a:solidFill>
                  <a:srgbClr val="1B1E17"/>
                </a:solidFill>
                <a:latin typeface="Arial"/>
                <a:ea typeface="Arial"/>
                <a:cs typeface="Arial"/>
                <a:sym typeface="Arial"/>
              </a:rPr>
              <a:t> (independent, full corpus) → </a:t>
            </a:r>
            <a:r>
              <a:rPr b="1" i="0" lang="en-US" sz="1300" u="none" cap="none" strike="noStrike">
                <a:solidFill>
                  <a:srgbClr val="5D7A49"/>
                </a:solidFill>
                <a:latin typeface="Arial"/>
                <a:ea typeface="Arial"/>
                <a:cs typeface="Arial"/>
                <a:sym typeface="Arial"/>
              </a:rPr>
              <a:t>Spot-check</a:t>
            </a:r>
            <a:r>
              <a:rPr b="0" i="0" lang="en-US" sz="1300" u="none" cap="none" strike="noStrike">
                <a:solidFill>
                  <a:srgbClr val="1B1E17"/>
                </a:solidFill>
                <a:latin typeface="Arial"/>
                <a:ea typeface="Arial"/>
                <a:cs typeface="Arial"/>
                <a:sym typeface="Arial"/>
              </a:rPr>
              <a:t> (human) → honest error rate.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g3f54b91471f_0_88"/>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THE CLEANUP EFFECT</a:t>
            </a:r>
            <a:endParaRPr/>
          </a:p>
        </p:txBody>
      </p:sp>
      <p:sp>
        <p:nvSpPr>
          <p:cNvPr id="631" name="Google Shape;631;g3f54b91471f_0_88"/>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Cleaning the receipt line first pays off measurably</a:t>
            </a:r>
            <a:endParaRPr/>
          </a:p>
        </p:txBody>
      </p:sp>
      <p:sp>
        <p:nvSpPr>
          <p:cNvPr id="632" name="Google Shape;632;g3f54b91471f_0_88"/>
          <p:cNvSpPr txBox="1"/>
          <p:nvPr/>
        </p:nvSpPr>
        <p:spPr>
          <a:xfrm>
            <a:off x="685800" y="1600200"/>
            <a:ext cx="99057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5F6854"/>
                </a:solidFill>
                <a:latin typeface="Arial"/>
                <a:ea typeface="Arial"/>
                <a:cs typeface="Arial"/>
                <a:sym typeface="Arial"/>
              </a:rPr>
              <a:t>Same hybrid pipeline with raw (name_original) vs. cleaned (name_standard) query — against the same gold. Quantifies the value of OCR post-processing.</a:t>
            </a:r>
            <a:endParaRPr/>
          </a:p>
        </p:txBody>
      </p:sp>
      <p:sp>
        <p:nvSpPr>
          <p:cNvPr id="633" name="Google Shape;633;g3f54b91471f_0_88"/>
          <p:cNvSpPr/>
          <p:nvPr/>
        </p:nvSpPr>
        <p:spPr>
          <a:xfrm>
            <a:off x="685800" y="2377440"/>
            <a:ext cx="183000" cy="183000"/>
          </a:xfrm>
          <a:prstGeom prst="roundRect">
            <a:avLst>
              <a:gd fmla="val 6000" name="adj"/>
            </a:avLst>
          </a:prstGeom>
          <a:solidFill>
            <a:srgbClr val="C2C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g3f54b91471f_0_88"/>
          <p:cNvSpPr txBox="1"/>
          <p:nvPr/>
        </p:nvSpPr>
        <p:spPr>
          <a:xfrm>
            <a:off x="960120" y="2331720"/>
            <a:ext cx="2286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F6854"/>
                </a:solidFill>
                <a:latin typeface="Arial"/>
                <a:ea typeface="Arial"/>
                <a:cs typeface="Arial"/>
                <a:sym typeface="Arial"/>
              </a:rPr>
              <a:t>raw (name_original)</a:t>
            </a:r>
            <a:endParaRPr/>
          </a:p>
        </p:txBody>
      </p:sp>
      <p:sp>
        <p:nvSpPr>
          <p:cNvPr id="635" name="Google Shape;635;g3f54b91471f_0_88"/>
          <p:cNvSpPr/>
          <p:nvPr/>
        </p:nvSpPr>
        <p:spPr>
          <a:xfrm>
            <a:off x="3611880" y="2377440"/>
            <a:ext cx="1830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g3f54b91471f_0_88"/>
          <p:cNvSpPr txBox="1"/>
          <p:nvPr/>
        </p:nvSpPr>
        <p:spPr>
          <a:xfrm>
            <a:off x="3886200" y="2331720"/>
            <a:ext cx="27432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5F6854"/>
                </a:solidFill>
                <a:latin typeface="Arial"/>
                <a:ea typeface="Arial"/>
                <a:cs typeface="Arial"/>
                <a:sym typeface="Arial"/>
              </a:rPr>
              <a:t>cleaned (name_standard)</a:t>
            </a:r>
            <a:endParaRPr/>
          </a:p>
        </p:txBody>
      </p:sp>
      <p:sp>
        <p:nvSpPr>
          <p:cNvPr id="637" name="Google Shape;637;g3f54b91471f_0_88"/>
          <p:cNvSpPr/>
          <p:nvPr/>
        </p:nvSpPr>
        <p:spPr>
          <a:xfrm>
            <a:off x="2019223" y="4864608"/>
            <a:ext cx="914400" cy="987600"/>
          </a:xfrm>
          <a:prstGeom prst="roundRect">
            <a:avLst>
              <a:gd fmla="val 6000" name="adj"/>
            </a:avLst>
          </a:prstGeom>
          <a:solidFill>
            <a:srgbClr val="C2C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g3f54b91471f_0_88"/>
          <p:cNvSpPr txBox="1"/>
          <p:nvPr/>
        </p:nvSpPr>
        <p:spPr>
          <a:xfrm>
            <a:off x="1927783" y="4498848"/>
            <a:ext cx="10974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1B1E17"/>
                </a:solidFill>
                <a:latin typeface="Arial"/>
                <a:ea typeface="Arial"/>
                <a:cs typeface="Arial"/>
                <a:sym typeface="Arial"/>
              </a:rPr>
              <a:t>18%</a:t>
            </a:r>
            <a:endParaRPr/>
          </a:p>
        </p:txBody>
      </p:sp>
      <p:sp>
        <p:nvSpPr>
          <p:cNvPr id="639" name="Google Shape;639;g3f54b91471f_0_88"/>
          <p:cNvSpPr/>
          <p:nvPr/>
        </p:nvSpPr>
        <p:spPr>
          <a:xfrm>
            <a:off x="3390823" y="4480560"/>
            <a:ext cx="914400" cy="13716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g3f54b91471f_0_88"/>
          <p:cNvSpPr txBox="1"/>
          <p:nvPr/>
        </p:nvSpPr>
        <p:spPr>
          <a:xfrm>
            <a:off x="3299383" y="4114800"/>
            <a:ext cx="10974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1B1E17"/>
                </a:solidFill>
                <a:latin typeface="Arial"/>
                <a:ea typeface="Arial"/>
                <a:cs typeface="Arial"/>
                <a:sym typeface="Arial"/>
              </a:rPr>
              <a:t>25%</a:t>
            </a:r>
            <a:endParaRPr/>
          </a:p>
        </p:txBody>
      </p:sp>
      <p:sp>
        <p:nvSpPr>
          <p:cNvPr id="641" name="Google Shape;641;g3f54b91471f_0_88"/>
          <p:cNvSpPr txBox="1"/>
          <p:nvPr/>
        </p:nvSpPr>
        <p:spPr>
          <a:xfrm>
            <a:off x="685800" y="5989320"/>
            <a:ext cx="49527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5F6854"/>
                </a:solidFill>
                <a:latin typeface="Arial"/>
                <a:ea typeface="Arial"/>
                <a:cs typeface="Arial"/>
                <a:sym typeface="Arial"/>
              </a:rPr>
              <a:t>ExpTop-1 (fair auto-pick)</a:t>
            </a:r>
            <a:endParaRPr/>
          </a:p>
        </p:txBody>
      </p:sp>
      <p:sp>
        <p:nvSpPr>
          <p:cNvPr id="642" name="Google Shape;642;g3f54b91471f_0_88"/>
          <p:cNvSpPr/>
          <p:nvPr/>
        </p:nvSpPr>
        <p:spPr>
          <a:xfrm>
            <a:off x="7886471" y="4096512"/>
            <a:ext cx="914400" cy="1755600"/>
          </a:xfrm>
          <a:prstGeom prst="roundRect">
            <a:avLst>
              <a:gd fmla="val 6000" name="adj"/>
            </a:avLst>
          </a:prstGeom>
          <a:solidFill>
            <a:srgbClr val="C2C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3" name="Google Shape;643;g3f54b91471f_0_88"/>
          <p:cNvSpPr txBox="1"/>
          <p:nvPr/>
        </p:nvSpPr>
        <p:spPr>
          <a:xfrm>
            <a:off x="7795031" y="3730752"/>
            <a:ext cx="10974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1B1E17"/>
                </a:solidFill>
                <a:latin typeface="Arial"/>
                <a:ea typeface="Arial"/>
                <a:cs typeface="Arial"/>
                <a:sym typeface="Arial"/>
              </a:rPr>
              <a:t>32%</a:t>
            </a:r>
            <a:endParaRPr/>
          </a:p>
        </p:txBody>
      </p:sp>
      <p:sp>
        <p:nvSpPr>
          <p:cNvPr id="644" name="Google Shape;644;g3f54b91471f_0_88"/>
          <p:cNvSpPr/>
          <p:nvPr/>
        </p:nvSpPr>
        <p:spPr>
          <a:xfrm>
            <a:off x="9258071" y="3273552"/>
            <a:ext cx="914400" cy="25785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5" name="Google Shape;645;g3f54b91471f_0_88"/>
          <p:cNvSpPr txBox="1"/>
          <p:nvPr/>
        </p:nvSpPr>
        <p:spPr>
          <a:xfrm>
            <a:off x="9166631" y="2907792"/>
            <a:ext cx="10974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400" u="none" cap="none" strike="noStrike">
                <a:solidFill>
                  <a:srgbClr val="1B1E17"/>
                </a:solidFill>
                <a:latin typeface="Arial"/>
                <a:ea typeface="Arial"/>
                <a:cs typeface="Arial"/>
                <a:sym typeface="Arial"/>
              </a:rPr>
              <a:t>47%</a:t>
            </a:r>
            <a:endParaRPr/>
          </a:p>
        </p:txBody>
      </p:sp>
      <p:sp>
        <p:nvSpPr>
          <p:cNvPr id="646" name="Google Shape;646;g3f54b91471f_0_88"/>
          <p:cNvSpPr txBox="1"/>
          <p:nvPr/>
        </p:nvSpPr>
        <p:spPr>
          <a:xfrm>
            <a:off x="6553047" y="5989320"/>
            <a:ext cx="49527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5F6854"/>
                </a:solidFill>
                <a:latin typeface="Arial"/>
                <a:ea typeface="Arial"/>
                <a:cs typeface="Arial"/>
                <a:sym typeface="Arial"/>
              </a:rPr>
              <a:t>Recall@5 (shortlist)</a:t>
            </a:r>
            <a:endParaRPr/>
          </a:p>
        </p:txBody>
      </p:sp>
      <p:sp>
        <p:nvSpPr>
          <p:cNvPr id="647" name="Google Shape;647;g3f54b91471f_0_88"/>
          <p:cNvSpPr/>
          <p:nvPr/>
        </p:nvSpPr>
        <p:spPr>
          <a:xfrm>
            <a:off x="685800" y="6355080"/>
            <a:ext cx="54900" cy="5670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g3f54b91471f_0_88"/>
          <p:cNvSpPr txBox="1"/>
          <p:nvPr/>
        </p:nvSpPr>
        <p:spPr>
          <a:xfrm>
            <a:off x="886968" y="6355080"/>
            <a:ext cx="10545900" cy="192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250" u="none" cap="none" strike="noStrike">
                <a:solidFill>
                  <a:srgbClr val="1B1E17"/>
                </a:solidFill>
                <a:latin typeface="Arial"/>
                <a:ea typeface="Arial"/>
                <a:cs typeface="Arial"/>
                <a:sym typeface="Arial"/>
              </a:rPr>
              <a:t>Cleaning lifts ExpTop-1 </a:t>
            </a:r>
            <a:r>
              <a:rPr b="1" i="0" lang="en-US" sz="1250" u="none" cap="none" strike="noStrike">
                <a:solidFill>
                  <a:srgbClr val="5D7A49"/>
                </a:solidFill>
                <a:latin typeface="Arial"/>
                <a:ea typeface="Arial"/>
                <a:cs typeface="Arial"/>
                <a:sym typeface="Arial"/>
              </a:rPr>
              <a:t>18% → 25%</a:t>
            </a:r>
            <a:r>
              <a:rPr b="0" i="0" lang="en-US" sz="1250" u="none" cap="none" strike="noStrike">
                <a:solidFill>
                  <a:srgbClr val="1B1E17"/>
                </a:solidFill>
                <a:latin typeface="Arial"/>
                <a:ea typeface="Arial"/>
                <a:cs typeface="Arial"/>
                <a:sym typeface="Arial"/>
              </a:rPr>
              <a:t> and Recall@5 </a:t>
            </a:r>
            <a:r>
              <a:rPr b="1" i="0" lang="en-US" sz="1250" u="none" cap="none" strike="noStrike">
                <a:solidFill>
                  <a:srgbClr val="5D7A49"/>
                </a:solidFill>
                <a:latin typeface="Arial"/>
                <a:ea typeface="Arial"/>
                <a:cs typeface="Arial"/>
                <a:sym typeface="Arial"/>
              </a:rPr>
              <a:t>32% → 47%</a:t>
            </a:r>
            <a:r>
              <a:rPr b="0" i="0" lang="en-US" sz="1250" u="none" cap="none" strike="noStrike">
                <a:solidFill>
                  <a:srgbClr val="1B1E17"/>
                </a:solidFill>
                <a:latin typeface="Arial"/>
                <a:ea typeface="Arial"/>
                <a:cs typeface="Arial"/>
                <a:sym typeface="Arial"/>
              </a:rPr>
              <a:t> — but doesn't close the gap alone.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g3f54b91471f_0_110"/>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THE HONEST FINDING</a:t>
            </a:r>
            <a:endParaRPr/>
          </a:p>
        </p:txBody>
      </p:sp>
      <p:sp>
        <p:nvSpPr>
          <p:cNvPr id="654" name="Google Shape;654;g3f54b91471f_0_110"/>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The embedding is a tie-breaker, not the main matcher</a:t>
            </a:r>
            <a:endParaRPr/>
          </a:p>
        </p:txBody>
      </p:sp>
      <p:sp>
        <p:nvSpPr>
          <p:cNvPr id="655" name="Google Shape;655;g3f54b91471f_0_110"/>
          <p:cNvSpPr txBox="1"/>
          <p:nvPr/>
        </p:nvSpPr>
        <p:spPr>
          <a:xfrm>
            <a:off x="685800" y="1691640"/>
            <a:ext cx="509010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5F6854"/>
                </a:solidFill>
                <a:latin typeface="Arial"/>
                <a:ea typeface="Arial"/>
                <a:cs typeface="Arial"/>
                <a:sym typeface="Arial"/>
              </a:rPr>
              <a:t>On raw receipt lines, pure fuzzy beats the hybrid. Noise tokens (brand, “organic”, “500 g”) mislead the embedding.</a:t>
            </a:r>
            <a:endParaRPr/>
          </a:p>
        </p:txBody>
      </p:sp>
      <p:sp>
        <p:nvSpPr>
          <p:cNvPr id="656" name="Google Shape;656;g3f54b91471f_0_110"/>
          <p:cNvSpPr txBox="1"/>
          <p:nvPr/>
        </p:nvSpPr>
        <p:spPr>
          <a:xfrm>
            <a:off x="685800" y="2862072"/>
            <a:ext cx="13716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Hybrid (raw)</a:t>
            </a:r>
            <a:endParaRPr/>
          </a:p>
        </p:txBody>
      </p:sp>
      <p:sp>
        <p:nvSpPr>
          <p:cNvPr id="657" name="Google Shape;657;g3f54b91471f_0_110"/>
          <p:cNvSpPr/>
          <p:nvPr/>
        </p:nvSpPr>
        <p:spPr>
          <a:xfrm>
            <a:off x="2167128" y="2898648"/>
            <a:ext cx="30327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g3f54b91471f_0_110"/>
          <p:cNvSpPr/>
          <p:nvPr/>
        </p:nvSpPr>
        <p:spPr>
          <a:xfrm>
            <a:off x="2167128" y="2898648"/>
            <a:ext cx="2183400" cy="183000"/>
          </a:xfrm>
          <a:prstGeom prst="roundRect">
            <a:avLst>
              <a:gd fmla="val 6000" name="adj"/>
            </a:avLst>
          </a:prstGeom>
          <a:solidFill>
            <a:srgbClr val="C2C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9" name="Google Shape;659;g3f54b91471f_0_110"/>
          <p:cNvSpPr txBox="1"/>
          <p:nvPr/>
        </p:nvSpPr>
        <p:spPr>
          <a:xfrm>
            <a:off x="5272887" y="2862072"/>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18%</a:t>
            </a:r>
            <a:endParaRPr/>
          </a:p>
        </p:txBody>
      </p:sp>
      <p:sp>
        <p:nvSpPr>
          <p:cNvPr id="660" name="Google Shape;660;g3f54b91471f_0_110"/>
          <p:cNvSpPr txBox="1"/>
          <p:nvPr/>
        </p:nvSpPr>
        <p:spPr>
          <a:xfrm>
            <a:off x="685800" y="3291840"/>
            <a:ext cx="13716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Fuzzy (raw)</a:t>
            </a:r>
            <a:endParaRPr/>
          </a:p>
        </p:txBody>
      </p:sp>
      <p:sp>
        <p:nvSpPr>
          <p:cNvPr id="661" name="Google Shape;661;g3f54b91471f_0_110"/>
          <p:cNvSpPr/>
          <p:nvPr/>
        </p:nvSpPr>
        <p:spPr>
          <a:xfrm>
            <a:off x="2167128" y="3328416"/>
            <a:ext cx="30327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g3f54b91471f_0_110"/>
          <p:cNvSpPr/>
          <p:nvPr/>
        </p:nvSpPr>
        <p:spPr>
          <a:xfrm>
            <a:off x="2167128" y="3328416"/>
            <a:ext cx="26688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3" name="Google Shape;663;g3f54b91471f_0_110"/>
          <p:cNvSpPr txBox="1"/>
          <p:nvPr/>
        </p:nvSpPr>
        <p:spPr>
          <a:xfrm>
            <a:off x="5272887" y="3291840"/>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22%</a:t>
            </a:r>
            <a:endParaRPr/>
          </a:p>
        </p:txBody>
      </p:sp>
      <p:sp>
        <p:nvSpPr>
          <p:cNvPr id="664" name="Google Shape;664;g3f54b91471f_0_110"/>
          <p:cNvSpPr txBox="1"/>
          <p:nvPr/>
        </p:nvSpPr>
        <p:spPr>
          <a:xfrm>
            <a:off x="685800" y="3749039"/>
            <a:ext cx="50901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8B937D"/>
                </a:solidFill>
                <a:latin typeface="Arial"/>
                <a:ea typeface="Arial"/>
                <a:cs typeface="Arial"/>
                <a:sym typeface="Arial"/>
              </a:rPr>
              <a:t>ExpTop-1 on raw queries — higher is better.</a:t>
            </a:r>
            <a:endParaRPr/>
          </a:p>
        </p:txBody>
      </p:sp>
      <p:sp>
        <p:nvSpPr>
          <p:cNvPr id="665" name="Google Shape;665;g3f54b91471f_0_110"/>
          <p:cNvSpPr txBox="1"/>
          <p:nvPr/>
        </p:nvSpPr>
        <p:spPr>
          <a:xfrm>
            <a:off x="6415887" y="1691640"/>
            <a:ext cx="5090100" cy="7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50" u="none" cap="none" strike="noStrike">
                <a:solidFill>
                  <a:srgbClr val="5F6854"/>
                </a:solidFill>
                <a:latin typeface="Arial"/>
                <a:ea typeface="Arial"/>
                <a:cs typeface="Arial"/>
                <a:sym typeface="Arial"/>
              </a:rPr>
              <a:t>Real receipts are harder than the curated 45. Brand/quantity/organic tokens + raw-vs-prepared granularity push down the rate.</a:t>
            </a:r>
            <a:endParaRPr/>
          </a:p>
        </p:txBody>
      </p:sp>
      <p:sp>
        <p:nvSpPr>
          <p:cNvPr id="666" name="Google Shape;666;g3f54b91471f_0_110"/>
          <p:cNvSpPr txBox="1"/>
          <p:nvPr/>
        </p:nvSpPr>
        <p:spPr>
          <a:xfrm>
            <a:off x="6415887" y="2862072"/>
            <a:ext cx="14631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Curated 45</a:t>
            </a:r>
            <a:endParaRPr/>
          </a:p>
        </p:txBody>
      </p:sp>
      <p:sp>
        <p:nvSpPr>
          <p:cNvPr id="667" name="Google Shape;667;g3f54b91471f_0_110"/>
          <p:cNvSpPr/>
          <p:nvPr/>
        </p:nvSpPr>
        <p:spPr>
          <a:xfrm>
            <a:off x="7988655" y="2898648"/>
            <a:ext cx="29412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g3f54b91471f_0_110"/>
          <p:cNvSpPr/>
          <p:nvPr/>
        </p:nvSpPr>
        <p:spPr>
          <a:xfrm>
            <a:off x="7988655" y="2898648"/>
            <a:ext cx="2745000" cy="183000"/>
          </a:xfrm>
          <a:prstGeom prst="roundRect">
            <a:avLst>
              <a:gd fmla="val 6000" name="adj"/>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9" name="Google Shape;669;g3f54b91471f_0_110"/>
          <p:cNvSpPr txBox="1"/>
          <p:nvPr/>
        </p:nvSpPr>
        <p:spPr>
          <a:xfrm>
            <a:off x="11002975" y="2862072"/>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56%</a:t>
            </a:r>
            <a:endParaRPr/>
          </a:p>
        </p:txBody>
      </p:sp>
      <p:sp>
        <p:nvSpPr>
          <p:cNvPr id="670" name="Google Shape;670;g3f54b91471f_0_110"/>
          <p:cNvSpPr txBox="1"/>
          <p:nvPr/>
        </p:nvSpPr>
        <p:spPr>
          <a:xfrm>
            <a:off x="6415887" y="3291840"/>
            <a:ext cx="14631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250" u="none" cap="none" strike="noStrike">
                <a:solidFill>
                  <a:srgbClr val="5F6854"/>
                </a:solidFill>
                <a:latin typeface="Arial"/>
                <a:ea typeface="Arial"/>
                <a:cs typeface="Arial"/>
                <a:sym typeface="Arial"/>
              </a:rPr>
              <a:t>Real receipts</a:t>
            </a:r>
            <a:endParaRPr/>
          </a:p>
        </p:txBody>
      </p:sp>
      <p:sp>
        <p:nvSpPr>
          <p:cNvPr id="671" name="Google Shape;671;g3f54b91471f_0_110"/>
          <p:cNvSpPr/>
          <p:nvPr/>
        </p:nvSpPr>
        <p:spPr>
          <a:xfrm>
            <a:off x="7988655" y="3328416"/>
            <a:ext cx="2941200" cy="183000"/>
          </a:xfrm>
          <a:prstGeom prst="roundRect">
            <a:avLst>
              <a:gd fmla="val 6000" name="adj"/>
            </a:avLst>
          </a:prstGeom>
          <a:solidFill>
            <a:srgbClr val="E9EF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g3f54b91471f_0_110"/>
          <p:cNvSpPr/>
          <p:nvPr/>
        </p:nvSpPr>
        <p:spPr>
          <a:xfrm>
            <a:off x="7988655" y="3328416"/>
            <a:ext cx="2304000" cy="183000"/>
          </a:xfrm>
          <a:prstGeom prst="roundRect">
            <a:avLst>
              <a:gd fmla="val 6000" name="adj"/>
            </a:avLst>
          </a:prstGeom>
          <a:solidFill>
            <a:srgbClr val="C2C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g3f54b91471f_0_110"/>
          <p:cNvSpPr txBox="1"/>
          <p:nvPr/>
        </p:nvSpPr>
        <p:spPr>
          <a:xfrm>
            <a:off x="11002975" y="3291840"/>
            <a:ext cx="548700" cy="19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1B1E17"/>
                </a:solidFill>
                <a:latin typeface="Arial"/>
                <a:ea typeface="Arial"/>
                <a:cs typeface="Arial"/>
                <a:sym typeface="Arial"/>
              </a:rPr>
              <a:t>47%</a:t>
            </a:r>
            <a:endParaRPr/>
          </a:p>
        </p:txBody>
      </p:sp>
      <p:sp>
        <p:nvSpPr>
          <p:cNvPr id="674" name="Google Shape;674;g3f54b91471f_0_110"/>
          <p:cNvSpPr txBox="1"/>
          <p:nvPr/>
        </p:nvSpPr>
        <p:spPr>
          <a:xfrm>
            <a:off x="6415887" y="3749039"/>
            <a:ext cx="50901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8B937D"/>
                </a:solidFill>
                <a:latin typeface="Arial"/>
                <a:ea typeface="Arial"/>
                <a:cs typeface="Arial"/>
                <a:sym typeface="Arial"/>
              </a:rPr>
              <a:t>Recall@5, hybrid — reported separately, never mixed.</a:t>
            </a:r>
            <a:endParaRPr/>
          </a:p>
        </p:txBody>
      </p:sp>
      <p:sp>
        <p:nvSpPr>
          <p:cNvPr id="675" name="Google Shape;675;g3f54b91471f_0_110"/>
          <p:cNvSpPr/>
          <p:nvPr/>
        </p:nvSpPr>
        <p:spPr>
          <a:xfrm>
            <a:off x="685800" y="4709160"/>
            <a:ext cx="54900" cy="567000"/>
          </a:xfrm>
          <a:prstGeom prst="rect">
            <a:avLst/>
          </a:prstGeom>
          <a:solidFill>
            <a:srgbClr val="7C9A6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g3f54b91471f_0_110"/>
          <p:cNvSpPr txBox="1"/>
          <p:nvPr/>
        </p:nvSpPr>
        <p:spPr>
          <a:xfrm>
            <a:off x="886968" y="4709160"/>
            <a:ext cx="10545900" cy="2001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300" u="none" cap="none" strike="noStrike">
                <a:solidFill>
                  <a:srgbClr val="1B1E17"/>
                </a:solidFill>
                <a:latin typeface="Arial"/>
                <a:ea typeface="Arial"/>
                <a:cs typeface="Arial"/>
                <a:sym typeface="Arial"/>
              </a:rPr>
              <a:t>Product consequence: </a:t>
            </a:r>
            <a:r>
              <a:rPr b="1" i="0" lang="en-US" sz="1300" u="none" cap="none" strike="noStrike">
                <a:solidFill>
                  <a:srgbClr val="5D7A49"/>
                </a:solidFill>
                <a:latin typeface="Arial"/>
                <a:ea typeface="Arial"/>
                <a:cs typeface="Arial"/>
                <a:sym typeface="Arial"/>
              </a:rPr>
              <a:t>a shortlist (Top-3/5) + learned, confirmed matches</a:t>
            </a:r>
            <a:r>
              <a:rPr b="0" i="0" lang="en-US" sz="1300" u="none" cap="none" strike="noStrike">
                <a:solidFill>
                  <a:srgbClr val="1B1E17"/>
                </a:solidFill>
                <a:latin typeface="Arial"/>
                <a:ea typeface="Arial"/>
                <a:cs typeface="Arial"/>
                <a:sym typeface="Arial"/>
              </a:rPr>
              <a:t> beat any single auto-pick on noisy lines.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0" name="Shape 680"/>
        <p:cNvGrpSpPr/>
        <p:nvPr/>
      </p:nvGrpSpPr>
      <p:grpSpPr>
        <a:xfrm>
          <a:off x="0" y="0"/>
          <a:ext cx="0" cy="0"/>
          <a:chOff x="0" y="0"/>
          <a:chExt cx="0" cy="0"/>
        </a:xfrm>
      </p:grpSpPr>
      <p:sp>
        <p:nvSpPr>
          <p:cNvPr id="681" name="Google Shape;681;g3f54b91471f_0_137"/>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TIERED MATCHING</a:t>
            </a:r>
            <a:endParaRPr/>
          </a:p>
        </p:txBody>
      </p:sp>
      <p:sp>
        <p:nvSpPr>
          <p:cNvPr id="682" name="Google Shape;682;g3f54b91471f_0_137"/>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Cheap &amp; safe first, fallback last</a:t>
            </a:r>
            <a:endParaRPr/>
          </a:p>
        </p:txBody>
      </p:sp>
      <p:sp>
        <p:nvSpPr>
          <p:cNvPr id="683" name="Google Shape;683;g3f54b91471f_0_137"/>
          <p:cNvSpPr txBox="1"/>
          <p:nvPr/>
        </p:nvSpPr>
        <p:spPr>
          <a:xfrm>
            <a:off x="685800" y="1600200"/>
            <a:ext cx="9905700" cy="47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00" u="none" cap="none" strike="noStrike">
                <a:solidFill>
                  <a:srgbClr val="5F6854"/>
                </a:solidFill>
                <a:latin typeface="Arial"/>
                <a:ea typeface="Arial"/>
                <a:cs typeface="Arial"/>
                <a:sym typeface="Arial"/>
              </a:rPr>
              <a:t>Architecture actually implemented and cleanly separated via gold_source — OFF crowd nutrition is never silently mixed with the BLS lab data.</a:t>
            </a:r>
            <a:endParaRPr/>
          </a:p>
        </p:txBody>
      </p:sp>
      <p:sp>
        <p:nvSpPr>
          <p:cNvPr id="684" name="Google Shape;684;g3f54b91471f_0_137"/>
          <p:cNvSpPr/>
          <p:nvPr/>
        </p:nvSpPr>
        <p:spPr>
          <a:xfrm>
            <a:off x="685800" y="2651760"/>
            <a:ext cx="3363000" cy="28347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5" name="Google Shape;685;g3f54b91471f_0_137"/>
          <p:cNvSpPr txBox="1"/>
          <p:nvPr/>
        </p:nvSpPr>
        <p:spPr>
          <a:xfrm>
            <a:off x="960120" y="2880360"/>
            <a:ext cx="28143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5D7A49"/>
                </a:solidFill>
                <a:latin typeface="Arial"/>
                <a:ea typeface="Arial"/>
                <a:cs typeface="Arial"/>
                <a:sym typeface="Arial"/>
              </a:rPr>
              <a:t>174</a:t>
            </a:r>
            <a:endParaRPr/>
          </a:p>
        </p:txBody>
      </p:sp>
      <p:sp>
        <p:nvSpPr>
          <p:cNvPr id="686" name="Google Shape;686;g3f54b91471f_0_137"/>
          <p:cNvSpPr txBox="1"/>
          <p:nvPr/>
        </p:nvSpPr>
        <p:spPr>
          <a:xfrm>
            <a:off x="960120" y="3703320"/>
            <a:ext cx="2814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B1E17"/>
                </a:solidFill>
                <a:latin typeface="Arial"/>
                <a:ea typeface="Arial"/>
                <a:cs typeface="Arial"/>
                <a:sym typeface="Arial"/>
              </a:rPr>
              <a:t>1 · BLS 4.0</a:t>
            </a:r>
            <a:endParaRPr/>
          </a:p>
        </p:txBody>
      </p:sp>
      <p:sp>
        <p:nvSpPr>
          <p:cNvPr id="687" name="Google Shape;687;g3f54b91471f_0_137"/>
          <p:cNvSpPr txBox="1"/>
          <p:nvPr/>
        </p:nvSpPr>
        <p:spPr>
          <a:xfrm>
            <a:off x="960120" y="4206240"/>
            <a:ext cx="2814300" cy="43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5F6854"/>
                </a:solidFill>
                <a:latin typeface="Arial"/>
                <a:ea typeface="Arial"/>
                <a:cs typeface="Arial"/>
                <a:sym typeface="Arial"/>
              </a:rPr>
              <a:t>Reliable German nutrition (lab data). First choice.</a:t>
            </a:r>
            <a:endParaRPr/>
          </a:p>
        </p:txBody>
      </p:sp>
      <p:sp>
        <p:nvSpPr>
          <p:cNvPr id="688" name="Google Shape;688;g3f54b91471f_0_137"/>
          <p:cNvSpPr/>
          <p:nvPr/>
        </p:nvSpPr>
        <p:spPr>
          <a:xfrm>
            <a:off x="4414418" y="2651760"/>
            <a:ext cx="3363000" cy="28347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9" name="Google Shape;689;g3f54b91471f_0_137"/>
          <p:cNvSpPr txBox="1"/>
          <p:nvPr/>
        </p:nvSpPr>
        <p:spPr>
          <a:xfrm>
            <a:off x="4688738" y="2880360"/>
            <a:ext cx="28143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5D7A49"/>
                </a:solidFill>
                <a:latin typeface="Arial"/>
                <a:ea typeface="Arial"/>
                <a:cs typeface="Arial"/>
                <a:sym typeface="Arial"/>
              </a:rPr>
              <a:t>4</a:t>
            </a:r>
            <a:endParaRPr/>
          </a:p>
        </p:txBody>
      </p:sp>
      <p:sp>
        <p:nvSpPr>
          <p:cNvPr id="690" name="Google Shape;690;g3f54b91471f_0_137"/>
          <p:cNvSpPr txBox="1"/>
          <p:nvPr/>
        </p:nvSpPr>
        <p:spPr>
          <a:xfrm>
            <a:off x="4688738" y="3703320"/>
            <a:ext cx="2814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B1E17"/>
                </a:solidFill>
                <a:latin typeface="Arial"/>
                <a:ea typeface="Arial"/>
                <a:cs typeface="Arial"/>
                <a:sym typeface="Arial"/>
              </a:rPr>
              <a:t>2 · Open Food Facts</a:t>
            </a:r>
            <a:endParaRPr/>
          </a:p>
        </p:txBody>
      </p:sp>
      <p:sp>
        <p:nvSpPr>
          <p:cNvPr id="691" name="Google Shape;691;g3f54b91471f_0_137"/>
          <p:cNvSpPr txBox="1"/>
          <p:nvPr/>
        </p:nvSpPr>
        <p:spPr>
          <a:xfrm>
            <a:off x="4688738" y="4206240"/>
            <a:ext cx="2814300" cy="660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5F6854"/>
                </a:solidFill>
                <a:latin typeface="Arial"/>
                <a:ea typeface="Arial"/>
                <a:cs typeface="Arial"/>
                <a:sym typeface="Arial"/>
              </a:rPr>
              <a:t>Branded/barcode coverage for products the BLS lacks (chewing gum, spices).</a:t>
            </a:r>
            <a:endParaRPr/>
          </a:p>
        </p:txBody>
      </p:sp>
      <p:sp>
        <p:nvSpPr>
          <p:cNvPr id="692" name="Google Shape;692;g3f54b91471f_0_137"/>
          <p:cNvSpPr/>
          <p:nvPr/>
        </p:nvSpPr>
        <p:spPr>
          <a:xfrm>
            <a:off x="8143036" y="2651760"/>
            <a:ext cx="3363000" cy="2834700"/>
          </a:xfrm>
          <a:prstGeom prst="roundRect">
            <a:avLst>
              <a:gd fmla="val 6000" name="adj"/>
            </a:avLst>
          </a:prstGeom>
          <a:solidFill>
            <a:srgbClr val="FBFCF9"/>
          </a:solidFill>
          <a:ln cap="flat" cmpd="sng" w="12700">
            <a:solidFill>
              <a:srgbClr val="E4E9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3" name="Google Shape;693;g3f54b91471f_0_137"/>
          <p:cNvSpPr txBox="1"/>
          <p:nvPr/>
        </p:nvSpPr>
        <p:spPr>
          <a:xfrm>
            <a:off x="8417356" y="2880360"/>
            <a:ext cx="28143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5D7A49"/>
                </a:solidFill>
                <a:latin typeface="Arial"/>
                <a:ea typeface="Arial"/>
                <a:cs typeface="Arial"/>
                <a:sym typeface="Arial"/>
              </a:rPr>
              <a:t>∞</a:t>
            </a:r>
            <a:endParaRPr/>
          </a:p>
        </p:txBody>
      </p:sp>
      <p:sp>
        <p:nvSpPr>
          <p:cNvPr id="694" name="Google Shape;694;g3f54b91471f_0_137"/>
          <p:cNvSpPr txBox="1"/>
          <p:nvPr/>
        </p:nvSpPr>
        <p:spPr>
          <a:xfrm>
            <a:off x="8417356" y="3703320"/>
            <a:ext cx="28143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B1E17"/>
                </a:solidFill>
                <a:latin typeface="Arial"/>
                <a:ea typeface="Arial"/>
                <a:cs typeface="Arial"/>
                <a:sym typeface="Arial"/>
              </a:rPr>
              <a:t>3 · Learned matches</a:t>
            </a:r>
            <a:endParaRPr/>
          </a:p>
        </p:txBody>
      </p:sp>
      <p:sp>
        <p:nvSpPr>
          <p:cNvPr id="695" name="Google Shape;695;g3f54b91471f_0_137"/>
          <p:cNvSpPr txBox="1"/>
          <p:nvPr/>
        </p:nvSpPr>
        <p:spPr>
          <a:xfrm>
            <a:off x="8417356" y="4206240"/>
            <a:ext cx="2814300" cy="660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5F6854"/>
                </a:solidFill>
                <a:latin typeface="Arial"/>
                <a:ea typeface="Arial"/>
                <a:cs typeface="Arial"/>
                <a:sym typeface="Arial"/>
              </a:rPr>
              <a:t>User confirmations become verified pairs — path to real training (1k–10k pairs).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g3f54b91471f_0_155"/>
          <p:cNvSpPr txBox="1"/>
          <p:nvPr/>
        </p:nvSpPr>
        <p:spPr>
          <a:xfrm>
            <a:off x="685800" y="457200"/>
            <a:ext cx="108201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5D7A49"/>
                </a:solidFill>
                <a:latin typeface="Arial"/>
                <a:ea typeface="Arial"/>
                <a:cs typeface="Arial"/>
                <a:sym typeface="Arial"/>
              </a:rPr>
              <a:t>HONESTY AS A FEATURE</a:t>
            </a:r>
            <a:endParaRPr/>
          </a:p>
        </p:txBody>
      </p:sp>
      <p:sp>
        <p:nvSpPr>
          <p:cNvPr id="701" name="Google Shape;701;g3f54b91471f_0_155"/>
          <p:cNvSpPr txBox="1"/>
          <p:nvPr/>
        </p:nvSpPr>
        <p:spPr>
          <a:xfrm>
            <a:off x="685800" y="749808"/>
            <a:ext cx="10820100" cy="4155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2700" u="none" cap="none" strike="noStrike">
                <a:solidFill>
                  <a:srgbClr val="1B1E17"/>
                </a:solidFill>
                <a:latin typeface="Arial"/>
                <a:ea typeface="Arial"/>
                <a:cs typeface="Arial"/>
                <a:sym typeface="Arial"/>
              </a:rPr>
              <a:t>What we deliberately did not do</a:t>
            </a:r>
            <a:endParaRPr/>
          </a:p>
        </p:txBody>
      </p:sp>
      <p:sp>
        <p:nvSpPr>
          <p:cNvPr id="702" name="Google Shape;702;g3f54b91471f_0_155"/>
          <p:cNvSpPr/>
          <p:nvPr/>
        </p:nvSpPr>
        <p:spPr>
          <a:xfrm>
            <a:off x="685800" y="1783080"/>
            <a:ext cx="310800" cy="310800"/>
          </a:xfrm>
          <a:prstGeom prst="ellipse">
            <a:avLst/>
          </a:prstGeom>
          <a:solidFill>
            <a:srgbClr val="E9EFE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u="none" cap="none" strike="noStrike">
                <a:solidFill>
                  <a:srgbClr val="5D7A49"/>
                </a:solidFill>
                <a:latin typeface="Arial"/>
                <a:ea typeface="Arial"/>
                <a:cs typeface="Arial"/>
                <a:sym typeface="Arial"/>
              </a:rPr>
              <a:t>✓</a:t>
            </a:r>
            <a:endParaRPr/>
          </a:p>
        </p:txBody>
      </p:sp>
      <p:sp>
        <p:nvSpPr>
          <p:cNvPr id="703" name="Google Shape;703;g3f54b91471f_0_155"/>
          <p:cNvSpPr txBox="1"/>
          <p:nvPr/>
        </p:nvSpPr>
        <p:spPr>
          <a:xfrm>
            <a:off x="1188720" y="1737360"/>
            <a:ext cx="10271400" cy="2154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400" u="none" cap="none" strike="noStrike">
                <a:solidFill>
                  <a:srgbClr val="1B1E17"/>
                </a:solidFill>
                <a:latin typeface="Arial"/>
                <a:ea typeface="Arial"/>
                <a:cs typeface="Arial"/>
                <a:sym typeface="Arial"/>
              </a:rPr>
              <a:t>Didn't guess.</a:t>
            </a:r>
            <a:r>
              <a:rPr b="0" i="0" lang="en-US" sz="1400" u="none" cap="none" strike="noStrike">
                <a:solidFill>
                  <a:srgbClr val="5F6854"/>
                </a:solidFill>
                <a:latin typeface="Arial"/>
                <a:ea typeface="Arial"/>
                <a:cs typeface="Arial"/>
                <a:sym typeface="Arial"/>
              </a:rPr>
              <a:t> 2 lines (unspecified counter fish) stay open — ambiguity, not a database gap.</a:t>
            </a:r>
            <a:endParaRPr/>
          </a:p>
        </p:txBody>
      </p:sp>
      <p:sp>
        <p:nvSpPr>
          <p:cNvPr id="704" name="Google Shape;704;g3f54b91471f_0_155"/>
          <p:cNvSpPr/>
          <p:nvPr/>
        </p:nvSpPr>
        <p:spPr>
          <a:xfrm>
            <a:off x="685800" y="2679191"/>
            <a:ext cx="310800" cy="310800"/>
          </a:xfrm>
          <a:prstGeom prst="ellipse">
            <a:avLst/>
          </a:prstGeom>
          <a:solidFill>
            <a:srgbClr val="E9EFE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u="none" cap="none" strike="noStrike">
                <a:solidFill>
                  <a:srgbClr val="5D7A49"/>
                </a:solidFill>
                <a:latin typeface="Arial"/>
                <a:ea typeface="Arial"/>
                <a:cs typeface="Arial"/>
                <a:sym typeface="Arial"/>
              </a:rPr>
              <a:t>✓</a:t>
            </a:r>
            <a:endParaRPr/>
          </a:p>
        </p:txBody>
      </p:sp>
      <p:sp>
        <p:nvSpPr>
          <p:cNvPr id="705" name="Google Shape;705;g3f54b91471f_0_155"/>
          <p:cNvSpPr txBox="1"/>
          <p:nvPr/>
        </p:nvSpPr>
        <p:spPr>
          <a:xfrm>
            <a:off x="1188720" y="2633472"/>
            <a:ext cx="10271400" cy="2154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400" u="none" cap="none" strike="noStrike">
                <a:solidFill>
                  <a:srgbClr val="1B1E17"/>
                </a:solidFill>
                <a:latin typeface="Arial"/>
                <a:ea typeface="Arial"/>
                <a:cs typeface="Arial"/>
                <a:sym typeface="Arial"/>
              </a:rPr>
              <a:t>Sources separated.</a:t>
            </a:r>
            <a:r>
              <a:rPr b="0" i="0" lang="en-US" sz="1400" u="none" cap="none" strike="noStrike">
                <a:solidFill>
                  <a:srgbClr val="5F6854"/>
                </a:solidFill>
                <a:latin typeface="Arial"/>
                <a:ea typeface="Arial"/>
                <a:cs typeface="Arial"/>
                <a:sym typeface="Arial"/>
              </a:rPr>
              <a:t> BLS and OFF matches tagged; differing nutrient quality isn't mixed.</a:t>
            </a:r>
            <a:endParaRPr/>
          </a:p>
        </p:txBody>
      </p:sp>
      <p:sp>
        <p:nvSpPr>
          <p:cNvPr id="706" name="Google Shape;706;g3f54b91471f_0_155"/>
          <p:cNvSpPr/>
          <p:nvPr/>
        </p:nvSpPr>
        <p:spPr>
          <a:xfrm>
            <a:off x="685800" y="3575303"/>
            <a:ext cx="310800" cy="310800"/>
          </a:xfrm>
          <a:prstGeom prst="ellipse">
            <a:avLst/>
          </a:prstGeom>
          <a:solidFill>
            <a:srgbClr val="E9EFE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u="none" cap="none" strike="noStrike">
                <a:solidFill>
                  <a:srgbClr val="5D7A49"/>
                </a:solidFill>
                <a:latin typeface="Arial"/>
                <a:ea typeface="Arial"/>
                <a:cs typeface="Arial"/>
                <a:sym typeface="Arial"/>
              </a:rPr>
              <a:t>✓</a:t>
            </a:r>
            <a:endParaRPr/>
          </a:p>
        </p:txBody>
      </p:sp>
      <p:sp>
        <p:nvSpPr>
          <p:cNvPr id="707" name="Google Shape;707;g3f54b91471f_0_155"/>
          <p:cNvSpPr txBox="1"/>
          <p:nvPr/>
        </p:nvSpPr>
        <p:spPr>
          <a:xfrm>
            <a:off x="1188720" y="3529584"/>
            <a:ext cx="10271400" cy="4569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400" u="none" cap="none" strike="noStrike">
                <a:solidFill>
                  <a:srgbClr val="1B1E17"/>
                </a:solidFill>
                <a:latin typeface="Arial"/>
                <a:ea typeface="Arial"/>
                <a:cs typeface="Arial"/>
                <a:sym typeface="Arial"/>
              </a:rPr>
              <a:t>Alternative tested &amp; rejected.</a:t>
            </a:r>
            <a:r>
              <a:rPr b="0" i="0" lang="en-US" sz="1400" u="none" cap="none" strike="noStrike">
                <a:solidFill>
                  <a:srgbClr val="5F6854"/>
                </a:solidFill>
                <a:latin typeface="Arial"/>
                <a:ea typeface="Arial"/>
                <a:cs typeface="Arial"/>
                <a:sym typeface="Arial"/>
              </a:rPr>
              <a:t> USDA: strong on generic English foods (BLS covers them), blind to German products (Quark, Schmand, Bergkäse → 0 hits).</a:t>
            </a:r>
            <a:endParaRPr/>
          </a:p>
        </p:txBody>
      </p:sp>
      <p:sp>
        <p:nvSpPr>
          <p:cNvPr id="708" name="Google Shape;708;g3f54b91471f_0_155"/>
          <p:cNvSpPr/>
          <p:nvPr/>
        </p:nvSpPr>
        <p:spPr>
          <a:xfrm>
            <a:off x="685800" y="4471416"/>
            <a:ext cx="310800" cy="310800"/>
          </a:xfrm>
          <a:prstGeom prst="ellipse">
            <a:avLst/>
          </a:prstGeom>
          <a:solidFill>
            <a:srgbClr val="E9EFE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u="none" cap="none" strike="noStrike">
                <a:solidFill>
                  <a:srgbClr val="5D7A49"/>
                </a:solidFill>
                <a:latin typeface="Arial"/>
                <a:ea typeface="Arial"/>
                <a:cs typeface="Arial"/>
                <a:sym typeface="Arial"/>
              </a:rPr>
              <a:t>✓</a:t>
            </a:r>
            <a:endParaRPr/>
          </a:p>
        </p:txBody>
      </p:sp>
      <p:sp>
        <p:nvSpPr>
          <p:cNvPr id="709" name="Google Shape;709;g3f54b91471f_0_155"/>
          <p:cNvSpPr txBox="1"/>
          <p:nvPr/>
        </p:nvSpPr>
        <p:spPr>
          <a:xfrm>
            <a:off x="1188720" y="4425696"/>
            <a:ext cx="10271400" cy="2154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400" u="none" cap="none" strike="noStrike">
                <a:solidFill>
                  <a:srgbClr val="1B1E17"/>
                </a:solidFill>
                <a:latin typeface="Arial"/>
                <a:ea typeface="Arial"/>
                <a:cs typeface="Arial"/>
                <a:sym typeface="Arial"/>
              </a:rPr>
              <a:t>Limits named.</a:t>
            </a:r>
            <a:r>
              <a:rPr b="0" i="0" lang="en-US" sz="1400" u="none" cap="none" strike="noStrike">
                <a:solidFill>
                  <a:srgbClr val="5F6854"/>
                </a:solidFill>
                <a:latin typeface="Arial"/>
                <a:ea typeface="Arial"/>
                <a:cs typeface="Arial"/>
                <a:sym typeface="Arial"/>
              </a:rPr>
              <a:t> Error rate open, α-overfitting stated, real receipts kept separate from the 45.</a:t>
            </a:r>
            <a:endParaRPr/>
          </a:p>
        </p:txBody>
      </p:sp>
      <p:sp>
        <p:nvSpPr>
          <p:cNvPr id="710" name="Google Shape;710;g3f54b91471f_0_155"/>
          <p:cNvSpPr/>
          <p:nvPr/>
        </p:nvSpPr>
        <p:spPr>
          <a:xfrm>
            <a:off x="685800" y="5367527"/>
            <a:ext cx="310800" cy="310800"/>
          </a:xfrm>
          <a:prstGeom prst="ellipse">
            <a:avLst/>
          </a:prstGeom>
          <a:solidFill>
            <a:srgbClr val="E9EFE2"/>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00" u="none" cap="none" strike="noStrike">
                <a:solidFill>
                  <a:srgbClr val="5D7A49"/>
                </a:solidFill>
                <a:latin typeface="Arial"/>
                <a:ea typeface="Arial"/>
                <a:cs typeface="Arial"/>
                <a:sym typeface="Arial"/>
              </a:rPr>
              <a:t>✓</a:t>
            </a:r>
            <a:endParaRPr/>
          </a:p>
        </p:txBody>
      </p:sp>
      <p:sp>
        <p:nvSpPr>
          <p:cNvPr id="711" name="Google Shape;711;g3f54b91471f_0_155"/>
          <p:cNvSpPr txBox="1"/>
          <p:nvPr/>
        </p:nvSpPr>
        <p:spPr>
          <a:xfrm>
            <a:off x="1188720" y="5321807"/>
            <a:ext cx="10271400" cy="2154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1400" u="none" cap="none" strike="noStrike">
                <a:solidFill>
                  <a:srgbClr val="1B1E17"/>
                </a:solidFill>
                <a:latin typeface="Arial"/>
                <a:ea typeface="Arial"/>
                <a:cs typeface="Arial"/>
                <a:sym typeface="Arial"/>
              </a:rPr>
              <a:t>No trained model faked.</a:t>
            </a:r>
            <a:r>
              <a:rPr b="0" i="0" lang="en-US" sz="1400" u="none" cap="none" strike="noStrike">
                <a:solidFill>
                  <a:srgbClr val="5F6854"/>
                </a:solidFill>
                <a:latin typeface="Arial"/>
                <a:ea typeface="Arial"/>
                <a:cs typeface="Arial"/>
                <a:sym typeface="Arial"/>
              </a:rPr>
              <a:t> Inference with a pre-trained embedding + rules — no more, no less.</a:t>
            </a:r>
            <a:endParaRPr/>
          </a:p>
        </p:txBody>
      </p:sp>
      <p:sp>
        <p:nvSpPr>
          <p:cNvPr id="712" name="Google Shape;712;g3f54b91471f_0_155"/>
          <p:cNvSpPr txBox="1"/>
          <p:nvPr/>
        </p:nvSpPr>
        <p:spPr>
          <a:xfrm>
            <a:off x="685800" y="6446520"/>
            <a:ext cx="108201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8B937D"/>
                </a:solidFill>
                <a:latin typeface="Arial"/>
                <a:ea typeface="Arial"/>
                <a:cs typeface="Arial"/>
                <a:sym typeface="Arial"/>
              </a:rPr>
              <a:t>ANutriWise · AI PM Capstone · Midterm · Jennifer Rake &amp; Stuart Kasemeier · 2026-07-17</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