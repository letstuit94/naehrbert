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[Both — Stuart opens]</a:t>
            </a:r>
          </a:p>
          <a:p>
            <a:r>
              <a:t>Open the PM meeting: quick status update on Supermarket Optimizer / NutriWise. Six blocks: business idea, timeline, product breakdown, challenges (solved + upcoming), team collaboration, and priorities for this and next week. Main headline for today: we want to get to live testing on our phones.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[Stuart]</a:t>
            </a:r>
          </a:p>
          <a:p>
            <a:r>
              <a:t>The core idea in one line: upload a receipt, get smarter nutrition for the next trip. The wedge is effort — the receipt is a passive proxy for what was really eaten, so no manual food logging. Goal: better nutrition with minimal user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[Stuart]</a:t>
            </a:r>
          </a:p>
          <a:p>
            <a:r>
              <a:t>Three-phase plan. Week 1 was MVP trials — probing Claude, a first local build, spotting gaps, tightening docs. Weeks 2–3 are the deeper pass: clean documentation and a structured rework of the MVP, back to swapping partners per Epic. Week 3 closes with deployment, live testing, and GDPR.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[Stuart / Jenny]</a:t>
            </a:r>
          </a:p>
          <a:p>
            <a:r>
              <a:t>Six blocks, end to end: login, chat onboarding, receipt upload (PDF/image today, camera next), extraction &amp; matching, dashboard with gaps + recommendations, recipe generation. Extraction now runs fully on-device.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[Stuart / Jenny]</a:t>
            </a:r>
          </a:p>
          <a:p>
            <a:r>
              <a:t>The big one we hit was product matching — we didn't put enough logic in up front. Fix: enable manual matching now so we collect labelled data, then train a smarter matcher that needs no user interaction. We also rewrote docs and reworked the MVP. Upcoming: deployment, GDPR, and extraction robustness — important reconciliation: we've ALREADY moved extraction on-device (Tesseract/PyMuPDF), so Gemini is out of the extraction path; the remaining work is generalizing across supermarket formats. Plus in-app camera capture next to PDF/image upload.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[Both]</a:t>
            </a:r>
          </a:p>
          <a:p>
            <a:r>
              <a:t>Four things we're heads-down on now: (1) Supabase load time — caching &amp; leaner queries; (2) recipe &amp; recommendation generation — better prompts + ranking; (3) pantry portion/quantity tracking (e.g. 3× milk); (4) training OCR + DB matching for reliable nutrients. All feed the live-testing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[Both]</a:t>
            </a:r>
          </a:p>
          <a:p>
            <a:r>
              <a:t>Split: Jenny owns UI and MVP refinement, Stuart owns backend and documentation — but we're back to switching partners per Epic so ownership stays shared. Rhythm: daily stand-ups, focused silent work sessions, and frequent reviews and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[Both]</a:t>
            </a:r>
          </a:p>
          <a:p>
            <a:r>
              <a:t>Priority for this and next week is live testing on our own phones. Focus areas: a stable end-to-end workflow, better onboarding and user flow, higher-quality recommendations, an extra-value feature like recommendation ranking, and overall demo readiness. Getting it on real devices is how we find the rough edges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[Both]</a:t>
            </a:r>
          </a:p>
          <a:p>
            <a:r>
              <a:t>Close on the one-liner and open for questions. Headline to leave in the room: the core loop works, matching is the honest challenge we're actively de-risking, and the near-term goal is live testing on our phones toward demo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128016"/>
            <a:ext cx="4053535" cy="6729984"/>
          </a:xfrm>
          <a:prstGeom prst="rect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7724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43584" y="749808"/>
            <a:ext cx="3657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NUTRIWISE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70408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700" b="1" i="0">
                <a:solidFill>
                  <a:srgbClr val="1D1D21"/>
                </a:solidFill>
                <a:latin typeface="Arial"/>
              </a:rPr>
              <a:t>Supermarket Optimizer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700" b="1" i="0">
                <a:solidFill>
                  <a:srgbClr val="5F7B4F"/>
                </a:solidFill>
                <a:latin typeface="Arial"/>
              </a:rPr>
              <a:t>Project status &amp;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700" b="1" i="0">
                <a:solidFill>
                  <a:srgbClr val="5F7B4F"/>
                </a:solidFill>
                <a:latin typeface="Arial"/>
              </a:rPr>
              <a:t>priorities.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069080"/>
            <a:ext cx="310896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29768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6E6F74"/>
                </a:solidFill>
                <a:latin typeface="Arial"/>
              </a:rPr>
              <a:t>Where we are, what we've solved, and what ships next — a receipt-based nutrition assistant.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66360"/>
            <a:ext cx="7132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Jennifer Rake</a:t>
            </a:r>
            <a:r>
              <a:rPr sz="1300" b="1" i="0">
                <a:solidFill>
                  <a:srgbClr val="5F7B4F"/>
                </a:solidFill>
                <a:latin typeface="Arial"/>
              </a:rPr>
              <a:t>  ·  UI / MVP      </a:t>
            </a:r>
            <a:r>
              <a:rPr sz="1500" b="1" i="0">
                <a:solidFill>
                  <a:srgbClr val="1D1D21"/>
                </a:solidFill>
                <a:latin typeface="Arial"/>
              </a:rPr>
              <a:t>Stuart Kasemeier</a:t>
            </a:r>
            <a:r>
              <a:rPr sz="1300" b="1" i="0">
                <a:solidFill>
                  <a:srgbClr val="6E6F74"/>
                </a:solidFill>
                <a:latin typeface="Arial"/>
              </a:rPr>
              <a:t>  ·  Backend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AI Product Management Capstone  ·  PM Meeting 3  ·  July 21,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7830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F7B4F"/>
                </a:solidFill>
                <a:latin typeface="Arial"/>
              </a:rPr>
              <a:t>TODAY'S AGENDA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0" y="2286000"/>
            <a:ext cx="237744" cy="237744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231136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Business Idea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96528" y="2560320"/>
            <a:ext cx="18288" cy="384048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0" y="2944368"/>
            <a:ext cx="237744" cy="237744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2889503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Project Timeline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96528" y="3218687"/>
            <a:ext cx="18288" cy="384048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0" y="3602736"/>
            <a:ext cx="237744" cy="237744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3547872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Product Breakdown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96528" y="3877056"/>
            <a:ext cx="18288" cy="384048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0" y="4261104"/>
            <a:ext cx="237744" cy="237744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420624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Challenges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96528" y="4535424"/>
            <a:ext cx="18288" cy="384048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86800" y="4919472"/>
            <a:ext cx="237744" cy="237744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4864608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Team Collaboration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96528" y="5193792"/>
            <a:ext cx="18288" cy="384048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86800" y="5577840"/>
            <a:ext cx="237744" cy="237744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5522976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Priorities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BUSINESS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Better nutrition with minimal user effort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615184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>
            <a:off x="822960" y="1874519"/>
            <a:ext cx="2615184" cy="64008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2615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79191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D1D21"/>
                </a:solidFill>
                <a:latin typeface="Arial"/>
              </a:rPr>
              <a:t>Upload a receipt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46120"/>
            <a:ext cx="215798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Snap or drop a grocery receipt — no manual food diary.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9856" y="2834639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599" y="1874519"/>
            <a:ext cx="2615184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3657599" y="1874519"/>
            <a:ext cx="2615184" cy="64008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599" y="1929384"/>
            <a:ext cx="2615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679191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D1D21"/>
                </a:solidFill>
                <a:latin typeface="Arial"/>
              </a:rPr>
              <a:t>AI analyzes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246120"/>
            <a:ext cx="215798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Products and their nutrition are extracted automatically.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2834639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874519"/>
            <a:ext cx="2615184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492240" y="1874519"/>
            <a:ext cx="2615184" cy="64008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929384"/>
            <a:ext cx="2615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679191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D1D21"/>
                </a:solidFill>
                <a:latin typeface="Arial"/>
              </a:rPr>
              <a:t>Find the gaps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246120"/>
            <a:ext cx="215798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We spot the nutrients the week is missing.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2834639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1874519"/>
            <a:ext cx="2615184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9326880" y="1874519"/>
            <a:ext cx="2615184" cy="64008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1929384"/>
            <a:ext cx="2615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2679191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D1D21"/>
                </a:solidFill>
                <a:latin typeface="Arial"/>
              </a:rPr>
              <a:t>Recommend next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3246120"/>
            <a:ext cx="215798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Healthier picks for the next shopping trip, with a reason.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800600"/>
            <a:ext cx="10543032" cy="914400"/>
          </a:xfrm>
          <a:prstGeom prst="roundRect">
            <a:avLst>
              <a:gd name="adj" fmla="val 8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937760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5F7B4F"/>
                </a:solidFill>
                <a:latin typeface="Arial"/>
              </a:rPr>
              <a:t>Why the receipt?  </a:t>
            </a:r>
            <a:r>
              <a:rPr sz="1350" b="0" i="0">
                <a:solidFill>
                  <a:srgbClr val="1D1D21"/>
                </a:solidFill>
                <a:latin typeface="Arial"/>
              </a:rPr>
              <a:t>It's a passive, honest record of what people actually buy — so users get personalized nutrition guidance without the manual logging that kills every other diet app.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PM Meeting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PROJECT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Three phases, one shipping MVP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3182112"/>
            <a:ext cx="10241280" cy="45720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46604" y="3072384"/>
            <a:ext cx="274320" cy="274320"/>
          </a:xfrm>
          <a:prstGeom prst="ellipse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240280"/>
            <a:ext cx="1659636" cy="402336"/>
          </a:xfrm>
          <a:prstGeom prst="roundRect">
            <a:avLst>
              <a:gd name="adj" fmla="val 50000"/>
            </a:avLst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58568"/>
            <a:ext cx="16596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5054" y="2267712"/>
            <a:ext cx="16596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E6F74"/>
                </a:solidFill>
                <a:latin typeface="Arial"/>
              </a:rPr>
              <a:t>MVP trials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657600"/>
            <a:ext cx="3319272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91363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F7B4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895344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Checked Claude's capabilities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44398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F7B4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425696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Ran our first local MVP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97433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F7B4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956048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Identified shortcomings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50468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F7B4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486400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Refined documentation</a:t>
            </a:r>
          </a:p>
        </p:txBody>
      </p:sp>
      <p:sp>
        <p:nvSpPr>
          <p:cNvPr id="19" name="Oval 18"/>
          <p:cNvSpPr/>
          <p:nvPr/>
        </p:nvSpPr>
        <p:spPr>
          <a:xfrm>
            <a:off x="6085332" y="3072384"/>
            <a:ext cx="274320" cy="27432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44568" y="2240280"/>
            <a:ext cx="1659636" cy="402336"/>
          </a:xfrm>
          <a:prstGeom prst="roundRect">
            <a:avLst>
              <a:gd name="adj" fmla="val 50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258568"/>
            <a:ext cx="16596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WEEK 2+3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3782" y="2267712"/>
            <a:ext cx="16596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E6F74"/>
                </a:solidFill>
                <a:latin typeface="Arial"/>
              </a:rPr>
              <a:t>In-depth work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44568" y="3657600"/>
            <a:ext cx="3319272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18888" y="391363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C9A6A"/>
                </a:solidFill>
                <a:latin typeface="Arial"/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4648" y="3895344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Clear, structured documentation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18888" y="444398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C9A6A"/>
                </a:solidFill>
                <a:latin typeface="Arial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4648" y="4425696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Structured rework of the current MVP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8888" y="497433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C9A6A"/>
                </a:solidFill>
                <a:latin typeface="Arial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4648" y="4956048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Switching partners per Epic again</a:t>
            </a:r>
          </a:p>
        </p:txBody>
      </p:sp>
      <p:sp>
        <p:nvSpPr>
          <p:cNvPr id="30" name="Oval 29"/>
          <p:cNvSpPr/>
          <p:nvPr/>
        </p:nvSpPr>
        <p:spPr>
          <a:xfrm>
            <a:off x="9624059" y="3072384"/>
            <a:ext cx="274320" cy="274320"/>
          </a:xfrm>
          <a:prstGeom prst="ellipse">
            <a:avLst/>
          </a:prstGeom>
          <a:solidFill>
            <a:srgbClr val="6E6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83296" y="2240280"/>
            <a:ext cx="1659636" cy="402336"/>
          </a:xfrm>
          <a:prstGeom prst="roundRect">
            <a:avLst>
              <a:gd name="adj" fmla="val 50000"/>
            </a:avLst>
          </a:prstGeom>
          <a:solidFill>
            <a:srgbClr val="6E6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83296" y="2258568"/>
            <a:ext cx="16596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WEEK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42510" y="2267712"/>
            <a:ext cx="16596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E6F74"/>
                </a:solidFill>
                <a:latin typeface="Arial"/>
              </a:rPr>
              <a:t>Testing &amp; polish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83296" y="3657600"/>
            <a:ext cx="3319272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57616" y="391363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E6F74"/>
                </a:solidFill>
                <a:latin typeface="Arial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23376" y="3895344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Deployment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7616" y="444398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E6F74"/>
                </a:solidFill>
                <a:latin typeface="Arial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23376" y="4425696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Live testing on real devices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7616" y="497433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E6F74"/>
                </a:solidFill>
                <a:latin typeface="Arial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23376" y="4956048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GDPR compliance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PM Meeting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PRODUCT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Six building blocks,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40156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" y="2066543"/>
            <a:ext cx="457200" cy="45720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0482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084832"/>
            <a:ext cx="23957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D1D21"/>
                </a:solidFill>
                <a:latin typeface="Arial"/>
              </a:rPr>
              <a:t>Login / 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78608"/>
            <a:ext cx="23500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E6F74"/>
                </a:solidFill>
                <a:latin typeface="Arial"/>
              </a:rPr>
              <a:t>Secure sign-in and account handling.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340156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36592" y="2066543"/>
            <a:ext cx="457200" cy="45720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20482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084832"/>
            <a:ext cx="23957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D1D21"/>
                </a:solidFill>
                <a:latin typeface="Arial"/>
              </a:rPr>
              <a:t>Onboarding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578608"/>
            <a:ext cx="23500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E6F74"/>
                </a:solidFill>
                <a:latin typeface="Arial"/>
              </a:rPr>
              <a:t>Chat-style profile generation — goal, needs, exclusions.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40156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94192" y="2066543"/>
            <a:ext cx="457200" cy="45720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20482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084832"/>
            <a:ext cx="23957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D1D21"/>
                </a:solidFill>
                <a:latin typeface="Arial"/>
              </a:rPr>
              <a:t>Receipt Upload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578608"/>
            <a:ext cx="23500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E6F74"/>
                </a:solidFill>
                <a:latin typeface="Arial"/>
              </a:rPr>
              <a:t>PDF, image, and (soon) camera capture.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77056"/>
            <a:ext cx="340156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8992" y="4114800"/>
            <a:ext cx="457200" cy="45720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0965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133088"/>
            <a:ext cx="23957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D1D21"/>
                </a:solidFill>
                <a:latin typeface="Arial"/>
              </a:rPr>
              <a:t>Extraction &amp; Matching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626864"/>
            <a:ext cx="23500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E6F74"/>
                </a:solidFill>
                <a:latin typeface="Arial"/>
              </a:rPr>
              <a:t>On-device OCR → items → nutrition (rule/LLM hybrid).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877056"/>
            <a:ext cx="340156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36592" y="4114800"/>
            <a:ext cx="457200" cy="45720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6592" y="40965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4133088"/>
            <a:ext cx="23957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D1D21"/>
                </a:solidFill>
                <a:latin typeface="Arial"/>
              </a:rPr>
              <a:t>Dashboard &amp; Recs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4626864"/>
            <a:ext cx="23500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E6F74"/>
                </a:solidFill>
                <a:latin typeface="Arial"/>
              </a:rPr>
              <a:t>Nutrient gaps + healthier next-trip recommendations.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877056"/>
            <a:ext cx="340156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94192" y="4114800"/>
            <a:ext cx="457200" cy="457200"/>
          </a:xfrm>
          <a:prstGeom prst="ellipse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2" y="40965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4133088"/>
            <a:ext cx="23957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D1D21"/>
                </a:solidFill>
                <a:latin typeface="Arial"/>
              </a:rPr>
              <a:t>Recipe Generation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4626864"/>
            <a:ext cx="23500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E6F74"/>
                </a:solidFill>
                <a:latin typeface="Arial"/>
              </a:rPr>
              <a:t>Turns improvements into concrete, intuitive meals.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PM Meeting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What we hit, how we solved it, 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074920" cy="39776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36A4A"/>
                </a:solidFill>
                <a:latin typeface="Arial"/>
              </a:rPr>
              <a:t>ENCOUNTERED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331720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36A4A"/>
                </a:solidFill>
                <a:latin typeface="Arial"/>
              </a:rPr>
              <a:t>•  </a:t>
            </a:r>
            <a:r>
              <a:rPr sz="1300" b="0" i="0">
                <a:solidFill>
                  <a:srgbClr val="1D1D21"/>
                </a:solidFill>
                <a:latin typeface="Arial"/>
              </a:rPr>
              <a:t>Product matching was the hard part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715768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36A4A"/>
                </a:solidFill>
                <a:latin typeface="Arial"/>
              </a:rPr>
              <a:t>•  </a:t>
            </a:r>
            <a:r>
              <a:rPr sz="1300" b="0" i="0">
                <a:solidFill>
                  <a:srgbClr val="1D1D21"/>
                </a:solidFill>
                <a:latin typeface="Arial"/>
              </a:rPr>
              <a:t>Too little matching logic up front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3200400"/>
            <a:ext cx="4434840" cy="18288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310128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F7B4F"/>
                </a:solidFill>
                <a:latin typeface="Arial"/>
              </a:rPr>
              <a:t>SOLUTIONS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694175"/>
            <a:ext cx="292608" cy="292608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657599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648456"/>
            <a:ext cx="39776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Enabled manual matching — collect data now, train a smart matcher that needs no interaction later</a:t>
            </a:r>
          </a:p>
        </p:txBody>
      </p:sp>
      <p:sp>
        <p:nvSpPr>
          <p:cNvPr id="14" name="Oval 13"/>
          <p:cNvSpPr/>
          <p:nvPr/>
        </p:nvSpPr>
        <p:spPr>
          <a:xfrm>
            <a:off x="1143000" y="4517136"/>
            <a:ext cx="292608" cy="292608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48056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4471416"/>
            <a:ext cx="39776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Rewrote the documentation and reworked the MVP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783080"/>
            <a:ext cx="5193792" cy="3977639"/>
          </a:xfrm>
          <a:prstGeom prst="roundRect">
            <a:avLst>
              <a:gd name="adj" fmla="val 4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965960"/>
            <a:ext cx="4645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F7B4F"/>
                </a:solidFill>
                <a:latin typeface="Arial"/>
              </a:rPr>
              <a:t>UPCOMING CHALLENGES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423160"/>
            <a:ext cx="292608" cy="292608"/>
          </a:xfrm>
          <a:prstGeom prst="ellipse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38658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2368296"/>
            <a:ext cx="409651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Deployment  —  </a:t>
            </a:r>
            <a:r>
              <a:rPr sz="1200" b="0" i="0">
                <a:solidFill>
                  <a:srgbClr val="6E6F74"/>
                </a:solidFill>
                <a:latin typeface="Arial"/>
              </a:rPr>
              <a:t>Ship a stable hosted build.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246120"/>
            <a:ext cx="292608" cy="292608"/>
          </a:xfrm>
          <a:prstGeom prst="ellipse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2095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8" y="3191256"/>
            <a:ext cx="409651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GDPR compliance  —  </a:t>
            </a:r>
            <a:r>
              <a:rPr sz="1200" b="0" i="0">
                <a:solidFill>
                  <a:srgbClr val="6E6F74"/>
                </a:solidFill>
                <a:latin typeface="Arial"/>
              </a:rPr>
              <a:t>Export / delete, privacy by design.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4069080"/>
            <a:ext cx="292608" cy="292608"/>
          </a:xfrm>
          <a:prstGeom prst="ellipse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03250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4014215"/>
            <a:ext cx="409651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Extraction robustness  —  </a:t>
            </a:r>
            <a:r>
              <a:rPr sz="1200" b="0" i="0">
                <a:solidFill>
                  <a:srgbClr val="6E6F74"/>
                </a:solidFill>
                <a:latin typeface="Arial"/>
              </a:rPr>
              <a:t>On-device OCR already replaced Gemini — next: make it reliable across every supermarket format.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892040"/>
            <a:ext cx="292608" cy="292608"/>
          </a:xfrm>
          <a:prstGeom prst="ellipse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8554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2008" y="4837176"/>
            <a:ext cx="409651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Camera capture  —  </a:t>
            </a:r>
            <a:r>
              <a:rPr sz="1200" b="0" i="0">
                <a:solidFill>
                  <a:srgbClr val="6E6F74"/>
                </a:solidFill>
                <a:latin typeface="Arial"/>
              </a:rPr>
              <a:t>Take a photo in-app, alongside PDF &amp; image upload.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PM Meeting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CURRENT FOCUS — OPEN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What we're actively working on right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25780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56816"/>
            <a:ext cx="73152" cy="1481328"/>
          </a:xfrm>
          <a:prstGeom prst="rect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084832"/>
            <a:ext cx="457200" cy="457200"/>
          </a:xfrm>
          <a:prstGeom prst="ellipse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6654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5F7B4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04825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D1D21"/>
                </a:solidFill>
                <a:latin typeface="Arial"/>
              </a:rPr>
              <a:t>Supabase load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45059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6E6F74"/>
                </a:solidFill>
                <a:latin typeface="Arial"/>
              </a:rPr>
              <a:t>App data loads too slowly.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852928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→  </a:t>
            </a:r>
            <a:r>
              <a:rPr sz="1250" b="0" i="0">
                <a:solidFill>
                  <a:srgbClr val="1D1D21"/>
                </a:solidFill>
                <a:latin typeface="Arial"/>
              </a:rPr>
              <a:t>Caching, leaner queries &amp; lazy loading to cut wait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828800"/>
            <a:ext cx="525780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956816"/>
            <a:ext cx="73152" cy="148132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3952" y="2084832"/>
            <a:ext cx="457200" cy="457200"/>
          </a:xfrm>
          <a:prstGeom prst="ellipse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06654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5F7B4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204825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D1D21"/>
                </a:solidFill>
                <a:latin typeface="Arial"/>
              </a:rPr>
              <a:t>Recipes &amp; recommendations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8312" y="245059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6E6F74"/>
                </a:solidFill>
                <a:latin typeface="Arial"/>
              </a:rPr>
              <a:t>Generation quality and speed.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8312" y="2852928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→  </a:t>
            </a:r>
            <a:r>
              <a:rPr sz="1250" b="0" i="0">
                <a:solidFill>
                  <a:srgbClr val="1D1D21"/>
                </a:solidFill>
                <a:latin typeface="Arial"/>
              </a:rPr>
              <a:t>Sharper prompts + ranking so picks are faster and more relevant.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822191"/>
            <a:ext cx="525780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3950207"/>
            <a:ext cx="73152" cy="148132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7280" y="4078224"/>
            <a:ext cx="457200" cy="457200"/>
          </a:xfrm>
          <a:prstGeom prst="ellipse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059935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5F7B4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04164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D1D21"/>
                </a:solidFill>
                <a:latin typeface="Arial"/>
              </a:rPr>
              <a:t>Portion &amp; quantity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443983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6E6F74"/>
                </a:solidFill>
                <a:latin typeface="Arial"/>
              </a:rPr>
              <a:t>Pantry counts pack sizes (e.g. 3× milk).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846320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→  </a:t>
            </a:r>
            <a:r>
              <a:rPr sz="1250" b="0" i="0">
                <a:solidFill>
                  <a:srgbClr val="1D1D21"/>
                </a:solidFill>
                <a:latin typeface="Arial"/>
              </a:rPr>
              <a:t>Track quantities so stock and gaps stay accurate over the week.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3822191"/>
            <a:ext cx="525780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9632" y="3950207"/>
            <a:ext cx="73152" cy="148132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73952" y="4078224"/>
            <a:ext cx="457200" cy="457200"/>
          </a:xfrm>
          <a:prstGeom prst="ellipse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059935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5F7B4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68312" y="404164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D1D21"/>
                </a:solidFill>
                <a:latin typeface="Arial"/>
              </a:rPr>
              <a:t>Image→text &amp; DB matching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68312" y="4443983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6E6F74"/>
                </a:solidFill>
                <a:latin typeface="Arial"/>
              </a:rPr>
              <a:t>Reliably turn a receipt into nutrients.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68312" y="4846320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→  </a:t>
            </a:r>
            <a:r>
              <a:rPr sz="1250" b="0" i="0">
                <a:solidFill>
                  <a:srgbClr val="1D1D21"/>
                </a:solidFill>
                <a:latin typeface="Arial"/>
              </a:rPr>
              <a:t>Train &amp; tune on-device OCR and product→nutrition matching.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PM Meeting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TEAM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How we work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525780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>
            <a:off x="822960" y="1874519"/>
            <a:ext cx="5257800" cy="640080"/>
          </a:xfrm>
          <a:prstGeom prst="round2SameRect">
            <a:avLst>
              <a:gd name="adj1" fmla="val 6000"/>
              <a:gd name="adj2" fmla="val 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9384"/>
            <a:ext cx="4800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TASK DISTRIBUTION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2834639"/>
            <a:ext cx="548640" cy="548640"/>
          </a:xfrm>
          <a:prstGeom prst="ellipse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834639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5F7B4F"/>
                </a:solidFill>
                <a:latin typeface="Arial"/>
              </a:rPr>
              <a:t>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852927"/>
            <a:ext cx="39776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Jenny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6E6F74"/>
                </a:solidFill>
                <a:latin typeface="Arial"/>
              </a:rPr>
              <a:t>UI expert · MVP refinement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749039"/>
            <a:ext cx="548640" cy="548640"/>
          </a:xfrm>
          <a:prstGeom prst="ellipse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749039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5F7B4F"/>
                </a:solidFill>
                <a:latin typeface="Arial"/>
              </a:rP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767327"/>
            <a:ext cx="39776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Stuart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6E6F74"/>
                </a:solidFill>
                <a:latin typeface="Arial"/>
              </a:rPr>
              <a:t>Backend expert · documentation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754879"/>
            <a:ext cx="4617720" cy="777240"/>
          </a:xfrm>
          <a:prstGeom prst="roundRect">
            <a:avLst>
              <a:gd name="adj" fmla="val 10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873752"/>
            <a:ext cx="4251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Now back to switching partners for each Epic</a:t>
            </a:r>
            <a:r>
              <a:rPr sz="1250" b="0" i="0">
                <a:solidFill>
                  <a:srgbClr val="1D1D21"/>
                </a:solidFill>
                <a:latin typeface="Arial"/>
              </a:rPr>
              <a:t> — shared ownership across the stack.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874519"/>
            <a:ext cx="5056632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6309360" y="1874519"/>
            <a:ext cx="5056632" cy="640080"/>
          </a:xfrm>
          <a:prstGeom prst="round2SameRect">
            <a:avLst>
              <a:gd name="adj1" fmla="val 6000"/>
              <a:gd name="adj2" fmla="val 0"/>
            </a:avLst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29384"/>
            <a:ext cx="45994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COMMUNICATION</a:t>
            </a:r>
          </a:p>
        </p:txBody>
      </p:sp>
      <p:sp>
        <p:nvSpPr>
          <p:cNvPr id="19" name="Oval 18"/>
          <p:cNvSpPr/>
          <p:nvPr/>
        </p:nvSpPr>
        <p:spPr>
          <a:xfrm>
            <a:off x="6629400" y="2862071"/>
            <a:ext cx="310896" cy="310896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82549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807208"/>
            <a:ext cx="395935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D1D21"/>
                </a:solidFill>
                <a:latin typeface="Arial"/>
              </a:rPr>
              <a:t>Daily stand-ups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6E6F74"/>
                </a:solidFill>
                <a:latin typeface="Arial"/>
              </a:rPr>
              <a:t>Quick sync, unblock fast.</a:t>
            </a:r>
          </a:p>
        </p:txBody>
      </p:sp>
      <p:sp>
        <p:nvSpPr>
          <p:cNvPr id="22" name="Oval 21"/>
          <p:cNvSpPr/>
          <p:nvPr/>
        </p:nvSpPr>
        <p:spPr>
          <a:xfrm>
            <a:off x="6629400" y="3776472"/>
            <a:ext cx="310896" cy="310896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73989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721607"/>
            <a:ext cx="395935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D1D21"/>
                </a:solidFill>
                <a:latin typeface="Arial"/>
              </a:rPr>
              <a:t>Focused silent work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6E6F74"/>
                </a:solidFill>
                <a:latin typeface="Arial"/>
              </a:rPr>
              <a:t>Deep-work sessions, no noise.</a:t>
            </a:r>
          </a:p>
        </p:txBody>
      </p:sp>
      <p:sp>
        <p:nvSpPr>
          <p:cNvPr id="25" name="Oval 24"/>
          <p:cNvSpPr/>
          <p:nvPr/>
        </p:nvSpPr>
        <p:spPr>
          <a:xfrm>
            <a:off x="6629400" y="4690872"/>
            <a:ext cx="310896" cy="310896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465429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636007"/>
            <a:ext cx="395935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D1D21"/>
                </a:solidFill>
                <a:latin typeface="Arial"/>
              </a:rPr>
              <a:t>Frequent reviews &amp; testing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6E6F74"/>
                </a:solidFill>
                <a:latin typeface="Arial"/>
              </a:rPr>
              <a:t>Catch issues early, together.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PM Meeting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PRIORITIES — THIS &amp; NEXT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Main goal: live testing on our phones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6E6F74"/>
                </a:solidFill>
                <a:latin typeface="Arial"/>
              </a:rPr>
              <a:t>Everything this sprint points at one thing: </a:t>
            </a:r>
            <a:r>
              <a:rPr sz="1400" b="1" i="0">
                <a:solidFill>
                  <a:srgbClr val="1D1D21"/>
                </a:solidFill>
                <a:latin typeface="Arial"/>
              </a:rPr>
              <a:t>getting the full flow onto real devices and demo-ready.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414016"/>
            <a:ext cx="73152" cy="1572768"/>
          </a:xfrm>
          <a:prstGeom prst="rect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14016"/>
            <a:ext cx="2231136" cy="1591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5F7B4F"/>
                </a:solidFill>
                <a:latin typeface="Arial"/>
              </a:rPr>
              <a:t>End-to-end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Stable workflow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Upload → gaps → recs, no breaks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599" y="228600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599" y="2414016"/>
            <a:ext cx="73152" cy="157276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414016"/>
            <a:ext cx="2231136" cy="1591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7C9A6A"/>
                </a:solidFill>
                <a:latin typeface="Arial"/>
              </a:rPr>
              <a:t>Onboarding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Better user flow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Smoother first-run experience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28600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2414016"/>
            <a:ext cx="73152" cy="157276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59" y="2414016"/>
            <a:ext cx="2231136" cy="1591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7C9A6A"/>
                </a:solidFill>
                <a:latin typeface="Arial"/>
              </a:rPr>
              <a:t>Quality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Higher-quality recs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More relevant, better reasons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228600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26880" y="2414016"/>
            <a:ext cx="73152" cy="157276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2414016"/>
            <a:ext cx="2231136" cy="1591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7C9A6A"/>
                </a:solidFill>
                <a:latin typeface="Arial"/>
              </a:rPr>
              <a:t>Extra value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Recommendation ranking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Order picks by impact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434840"/>
            <a:ext cx="10543032" cy="1234440"/>
          </a:xfrm>
          <a:prstGeom prst="roundRect">
            <a:avLst>
              <a:gd name="adj" fmla="val 6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590288"/>
            <a:ext cx="100584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5F7B4F"/>
                </a:solidFill>
                <a:latin typeface="Arial"/>
              </a:rPr>
              <a:t>Demo readiness is the finish line.  </a:t>
            </a:r>
            <a:r>
              <a:rPr sz="1350" b="0" i="0">
                <a:solidFill>
                  <a:srgbClr val="1D1D21"/>
                </a:solidFill>
                <a:latin typeface="Arial"/>
              </a:rPr>
              <a:t>We want to run the whole loop from our own phones — that's the fastest way to feel the rough edges, validate the recommendations, and get the product ready to show.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PM Meeting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43584" y="795528"/>
            <a:ext cx="3657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NUTRIWISE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1D1D21"/>
                </a:solidFill>
                <a:latin typeface="Arial"/>
              </a:rPr>
              <a:t>Thank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383280"/>
            <a:ext cx="310896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611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5F7B4F"/>
                </a:solidFill>
                <a:latin typeface="Arial"/>
              </a:rPr>
              <a:t>Upload your receipt. Get a smarter next shopping trip.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Jennifer Rake</a:t>
            </a:r>
            <a:r>
              <a:rPr sz="1500" b="0" i="0">
                <a:solidFill>
                  <a:srgbClr val="6E6F74"/>
                </a:solidFill>
                <a:latin typeface="Arial"/>
              </a:rPr>
              <a:t>   &amp;   </a:t>
            </a:r>
            <a:r>
              <a:rPr sz="1500" b="1" i="0">
                <a:solidFill>
                  <a:srgbClr val="1D1D21"/>
                </a:solidFill>
                <a:latin typeface="Arial"/>
              </a:rPr>
              <a:t>Stuart Kasemeier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NutriWise  ·  AI PM Capstone  ·  PM Meeting 3  —  questions &amp;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