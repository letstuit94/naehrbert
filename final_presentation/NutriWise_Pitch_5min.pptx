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 — Jennifer opens]</a:t>
            </a:r>
          </a:p>
          <a:p>
            <a:r>
              <a:t>Open on the slogan. Introduce the two of you. 5-minute version; personas &amp; business model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[Jennifer]</a:t>
            </a:r>
          </a:p>
          <a:p>
            <a:r>
              <a:t>Problem: manual logging → people quit. Solution: the receipt logs for you — snap, tap, get gaps + one pick. Vision &amp; mission stacked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[Jennifer]</a:t>
            </a:r>
          </a:p>
          <a:p>
            <a:r>
              <a:t>One core group, three flavours. Restrictor wants proof; professional wants no friction; early adopter is design-led. Full personas in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[Stuart]</a:t>
            </a:r>
          </a:p>
          <a:p>
            <a:r>
              <a:t>One flow: capture → extract (on-device Tesseract) → tiered match (verified→BLS→OFF) → advise. Rule-based; AI only breaks 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[Stuart]</a:t>
            </a:r>
          </a:p>
          <a:p>
            <a:r>
              <a:t>Live today: the loop runs. Next product: multilingual, dark mode, MHD sorting, offer-matched shopping list. Growth: retailers, insurers, employers.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</a:t>
            </a:r>
          </a:p>
          <a:p>
            <a:r>
              <a:t>Close on the slogan, give contact + repo, invite questions. Appendix has personas, tech stack, BMC.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— persona 1]</a:t>
            </a:r>
          </a:p>
          <a:p>
            <a:r>
              <a:t>Sara, the dietary restrictor. Vegan by values; wants proof she's healthy; hates preachy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— persona 2]</a:t>
            </a:r>
          </a:p>
          <a:p>
            <a:r>
              <a:t>Tobias, the busy professional. No time, responds to systems. Secret: scared of getting sick like his 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— persona 3]</a:t>
            </a:r>
          </a:p>
          <a:p>
            <a:r>
              <a:t>Lena, the early adopter. Design-led; nutrition feels shameful. Secret: stop feeling guilty, feel she's doing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— tech stack]</a:t>
            </a:r>
          </a:p>
          <a:p>
            <a:r>
              <a:t>React/Vite front, FastAPI back, on-device Tesseract, tiered resolver over BLS+OFF, Supabase Postgres w/ RLS, Gemini only for recipes/coach.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— business model]</a:t>
            </a:r>
          </a:p>
          <a:p>
            <a:r>
              <a:t>Value: personalized, privacy-first nutrition from the receipt. Revenue: freemium, B2B insurer licensing, grocery affiliate, corporate wellness.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128016"/>
            <a:ext cx="4053535" cy="6729984"/>
          </a:xfrm>
          <a:prstGeom prst="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4980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766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1D1D21"/>
                </a:solidFill>
                <a:latin typeface="Arial"/>
              </a:rPr>
              <a:t>Upload a grocery receipt.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5F7B4F"/>
                </a:solidFill>
                <a:latin typeface="Arial"/>
              </a:rPr>
              <a:t>Get one smarter 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5F7B4F"/>
                </a:solidFill>
                <a:latin typeface="Arial"/>
              </a:rPr>
              <a:t>to buy next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114800"/>
            <a:ext cx="3108960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3434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1">
                <a:solidFill>
                  <a:srgbClr val="6E6F74"/>
                </a:solidFill>
                <a:latin typeface="Arial"/>
              </a:rPr>
              <a:t>A receipt-first nutrition assistant.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AI Product Management Capstone · Pitch · 5 minutes</a:t>
            </a:r>
          </a:p>
        </p:txBody>
      </p:sp>
      <p:sp>
        <p:nvSpPr>
          <p:cNvPr id="10" name="Oval 9"/>
          <p:cNvSpPr/>
          <p:nvPr/>
        </p:nvSpPr>
        <p:spPr>
          <a:xfrm>
            <a:off x="8595360" y="2148840"/>
            <a:ext cx="914400" cy="914400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JR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276856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Jennifer Rake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Product &amp; business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0" y="3474720"/>
            <a:ext cx="914400" cy="914400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4747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3602736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D21"/>
                </a:solidFill>
                <a:latin typeface="Arial"/>
              </a:rPr>
              <a:t>Stuart Kasemeier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Data &amp;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074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E6F74"/>
                </a:solidFill>
                <a:latin typeface="Arial"/>
              </a:rPr>
              <a:t>Placeholder avatars — send photos to drop 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D1D21"/>
                </a:solidFill>
                <a:latin typeface="Arial"/>
              </a:rPr>
              <a:t>The gap we close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417320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520440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148839"/>
            <a:ext cx="548640" cy="548640"/>
          </a:xfrm>
          <a:prstGeom prst="roundRect">
            <a:avLst>
              <a:gd name="adj" fmla="val 14000"/>
            </a:avLst>
          </a:prstGeom>
          <a:solidFill>
            <a:srgbClr val="EEF2EA"/>
          </a:solidFill>
          <a:ln w="15875">
            <a:solidFill>
              <a:srgbClr val="B7C9A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3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1">
                <a:solidFill>
                  <a:srgbClr val="5F7B4F"/>
                </a:solidFill>
                <a:latin typeface="Arial"/>
              </a:rPr>
              <a:t>Bild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39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D1D21"/>
                </a:solidFill>
                <a:latin typeface="Arial"/>
              </a:rPr>
              <a:t>Logging kills the habit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22191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3840479"/>
            <a:ext cx="2715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Every app = type in every meal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51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4169663"/>
            <a:ext cx="2715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Habit dies in weeks → people quit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48055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4498847"/>
            <a:ext cx="2715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No effortless record of eating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874519"/>
            <a:ext cx="3520440" cy="3566160"/>
          </a:xfrm>
          <a:prstGeom prst="roundRect">
            <a:avLst>
              <a:gd name="adj" fmla="val 4500"/>
            </a:avLst>
          </a:prstGeom>
          <a:solidFill>
            <a:srgbClr val="EEF2EA"/>
          </a:solidFill>
          <a:ln w="9525">
            <a:solidFill>
              <a:srgbClr val="EEF2EA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92040" y="2148839"/>
            <a:ext cx="548640" cy="548640"/>
          </a:xfrm>
          <a:prstGeom prst="roundRect">
            <a:avLst>
              <a:gd name="adj" fmla="val 14000"/>
            </a:avLst>
          </a:prstGeom>
          <a:solidFill>
            <a:srgbClr val="EEF2EA"/>
          </a:solidFill>
          <a:ln w="15875">
            <a:solidFill>
              <a:srgbClr val="B7C9A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14883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1">
                <a:solidFill>
                  <a:srgbClr val="5F7B4F"/>
                </a:solidFill>
                <a:latin typeface="Arial"/>
              </a:rPr>
              <a:t>Bild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834639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1089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D1D21"/>
                </a:solidFill>
                <a:latin typeface="Arial"/>
              </a:rPr>
              <a:t>The receipt logs for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77647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3794760"/>
            <a:ext cx="2715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Snap receipt → pantry auto-fills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17880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4197096"/>
            <a:ext cx="2715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Tap what you ate — 1 tap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58114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4599432"/>
            <a:ext cx="2715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Weekly gaps + 1 smart pick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9834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5001768"/>
            <a:ext cx="2715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Honest estimates, not medical advice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1874519"/>
            <a:ext cx="3063240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2057400"/>
            <a:ext cx="73152" cy="1335024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2130552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9A6A"/>
                </a:solidFill>
                <a:latin typeface="Arial"/>
              </a:rPr>
              <a:t>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2478024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Eating better, zero extra effort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3739896"/>
            <a:ext cx="3063240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40" y="3922776"/>
            <a:ext cx="73152" cy="1335024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13648" y="3995928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F7B4F"/>
                </a:solidFill>
                <a:latin typeface="Arial"/>
              </a:rPr>
              <a:t>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434340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D1D21"/>
                </a:solidFill>
                <a:latin typeface="Arial"/>
              </a:rPr>
              <a:t>Turn the receipt into one kind nudge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644652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6419088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641908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TARGET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D1D21"/>
                </a:solidFill>
                <a:latin typeface="Arial"/>
              </a:rPr>
              <a:t>Who it's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417320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502152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12140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3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>
                <a:solidFill>
                  <a:srgbClr val="1D1D21"/>
                </a:solidFill>
                <a:latin typeface="Arial"/>
              </a:rPr>
              <a:t>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85292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3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62072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B36A4A"/>
                </a:solidFill>
                <a:latin typeface="Arial"/>
              </a:rPr>
              <a:t>DIETARY RESTRICTOR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73552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D1D21"/>
                </a:solidFill>
                <a:latin typeface="Arial"/>
              </a:rPr>
              <a:t>Proof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57600"/>
            <a:ext cx="2953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Sara, 25 · vegan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965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36A4A"/>
                </a:solidFill>
                <a:latin typeface="Arial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41148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Vegan/veggie/allergies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46227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36A4A"/>
                </a:solidFill>
                <a:latin typeface="Arial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4480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"Vegan = default, not checkbox"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8280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36A4A"/>
                </a:solidFill>
                <a:latin typeface="Arial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48463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Unsure on iron, omega-3, B12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1828800"/>
            <a:ext cx="3502152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82312" y="212140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>
                <a:solidFill>
                  <a:srgbClr val="1D1D21"/>
                </a:solidFill>
                <a:latin typeface="Arial"/>
              </a:rPr>
              <a:t>⏱️</a:t>
            </a:r>
          </a:p>
        </p:txBody>
      </p:sp>
      <p:sp>
        <p:nvSpPr>
          <p:cNvPr id="21" name="Oval 20"/>
          <p:cNvSpPr/>
          <p:nvPr/>
        </p:nvSpPr>
        <p:spPr>
          <a:xfrm>
            <a:off x="7095744" y="21031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7C9A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1">
                <a:solidFill>
                  <a:srgbClr val="5F7B4F"/>
                </a:solidFill>
                <a:latin typeface="Arial"/>
              </a:rPr>
              <a:t>Bild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82312" y="285292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2862072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5F7B4F"/>
                </a:solidFill>
                <a:latin typeface="Arial"/>
              </a:rPr>
              <a:t>BUSY PROFESSIONAL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3273552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D1D21"/>
                </a:solidFill>
                <a:latin typeface="Arial"/>
              </a:rPr>
              <a:t>No time, low friction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3657600"/>
            <a:ext cx="2953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Tobias, 38 · 2 kids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40965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8344" y="41148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"Just tell me what to do"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446227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8344" y="4480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Hates daily 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48280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38344" y="48463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Pays for time, not complexity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3" y="1828800"/>
            <a:ext cx="3502152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21624" y="212140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E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 i="0">
                <a:solidFill>
                  <a:srgbClr val="1D1D21"/>
                </a:solidFill>
                <a:latin typeface="Arial"/>
              </a:rPr>
              <a:t>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21624" y="285292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1624" y="2862072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6B62C4"/>
                </a:solidFill>
                <a:latin typeface="Arial"/>
              </a:rPr>
              <a:t>EARLY ADOPTER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3273552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D1D21"/>
                </a:solidFill>
                <a:latin typeface="Arial"/>
              </a:rPr>
              <a:t>Feel "enough"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1624" y="3657600"/>
            <a:ext cx="2953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E6F74"/>
                </a:solidFill>
                <a:latin typeface="Arial"/>
              </a:rPr>
              <a:t>Lena, 29 · gym 3×/wk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40965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2C4"/>
                </a:solidFill>
                <a:latin typeface="Arial"/>
              </a:rP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77655" y="411480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Design quality = dealbreaker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1624" y="446227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2C4"/>
                </a:solidFill>
                <a:latin typeface="Arial"/>
              </a:rP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77655" y="4480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Hates calorie counting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21624" y="48280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2C4"/>
                </a:solidFill>
                <a:latin typeface="Arial"/>
              </a:rP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77655" y="484632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D1D21"/>
                </a:solidFill>
                <a:latin typeface="Arial"/>
              </a:rPr>
              <a:t>Wants control, not a 2nd job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8704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5F7B4F"/>
                </a:solidFill>
                <a:latin typeface="Arial"/>
              </a:rPr>
              <a:t>Core: </a:t>
            </a:r>
            <a:r>
              <a:rPr sz="1400" b="0" i="0">
                <a:solidFill>
                  <a:srgbClr val="1D1D21"/>
                </a:solidFill>
                <a:latin typeface="Arial"/>
              </a:rPr>
              <a:t>health-minded adults, 25–45, in Germany.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44652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8" y="6419088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641908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D1D21"/>
                </a:solidFill>
                <a:latin typeface="Arial"/>
              </a:rPr>
              <a:t>From a photo to one smart pick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417320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468880" cy="2926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377439"/>
            <a:ext cx="1920240" cy="777240"/>
          </a:xfrm>
          <a:prstGeom prst="roundRect">
            <a:avLst>
              <a:gd name="adj" fmla="val 14000"/>
            </a:avLst>
          </a:prstGeom>
          <a:solidFill>
            <a:srgbClr val="EEF2EA"/>
          </a:solidFill>
          <a:ln w="15875">
            <a:solidFill>
              <a:srgbClr val="B7C9A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39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5F7B4F"/>
                </a:solidFill>
                <a:latin typeface="Arial"/>
              </a:rPr>
              <a:t>Bild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D1D21"/>
                </a:solidFill>
                <a:latin typeface="Arial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6E6F74"/>
                </a:solidFill>
                <a:latin typeface="Arial"/>
              </a:rPr>
              <a:t>Receipt photo or PDF.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480560"/>
            <a:ext cx="1920240" cy="329184"/>
          </a:xfrm>
          <a:prstGeom prst="roundRect">
            <a:avLst>
              <a:gd name="adj" fmla="val 3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920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5F7B4F"/>
                </a:solidFill>
                <a:latin typeface="Arial"/>
              </a:rPr>
              <a:t>React · PWA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20040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2103120"/>
            <a:ext cx="2468880" cy="2926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22192" y="2377439"/>
            <a:ext cx="1920240" cy="777240"/>
          </a:xfrm>
          <a:prstGeom prst="roundRect">
            <a:avLst>
              <a:gd name="adj" fmla="val 14000"/>
            </a:avLst>
          </a:prstGeom>
          <a:solidFill>
            <a:srgbClr val="EEF2EA"/>
          </a:solidFill>
          <a:ln w="15875">
            <a:solidFill>
              <a:srgbClr val="B7C9A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2" y="2377439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5F7B4F"/>
                </a:solidFill>
                <a:latin typeface="Arial"/>
              </a:rPr>
              <a:t>Bild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33375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D1D21"/>
                </a:solidFill>
                <a:latin typeface="Arial"/>
              </a:rPr>
              <a:t>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3794760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6E6F74"/>
                </a:solidFill>
                <a:latin typeface="Arial"/>
              </a:rPr>
              <a:t>Read text on-device — offline.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22192" y="4480560"/>
            <a:ext cx="1920240" cy="329184"/>
          </a:xfrm>
          <a:prstGeom prst="roundRect">
            <a:avLst>
              <a:gd name="adj" fmla="val 3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2" y="4480560"/>
            <a:ext cx="1920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5F7B4F"/>
                </a:solidFill>
                <a:latin typeface="Arial"/>
              </a:rPr>
              <a:t>FastAPI · Tesseract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320040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2103120"/>
            <a:ext cx="2468880" cy="2926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47104" y="2377439"/>
            <a:ext cx="1920240" cy="777240"/>
          </a:xfrm>
          <a:prstGeom prst="roundRect">
            <a:avLst>
              <a:gd name="adj" fmla="val 14000"/>
            </a:avLst>
          </a:prstGeom>
          <a:solidFill>
            <a:srgbClr val="EEF2EA"/>
          </a:solidFill>
          <a:ln w="15875">
            <a:solidFill>
              <a:srgbClr val="B7C9A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2377439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5F7B4F"/>
                </a:solidFill>
                <a:latin typeface="Arial"/>
              </a:rPr>
              <a:t>Bild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3375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D1D21"/>
                </a:solidFill>
                <a:latin typeface="Arial"/>
              </a:rPr>
              <a:t>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3794760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6E6F74"/>
                </a:solidFill>
                <a:latin typeface="Arial"/>
              </a:rPr>
              <a:t>Safest match first.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47104" y="4480560"/>
            <a:ext cx="1920240" cy="329184"/>
          </a:xfrm>
          <a:prstGeom prst="roundRect">
            <a:avLst>
              <a:gd name="adj" fmla="val 3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4480560"/>
            <a:ext cx="1920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5F7B4F"/>
                </a:solidFill>
                <a:latin typeface="Arial"/>
              </a:rPr>
              <a:t>verified→BLS→OFF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3376" y="320040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7C9A6A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97696" y="2103120"/>
            <a:ext cx="2468880" cy="2926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  <a:effectLst>
            <a:outerShdw blurRad="80000" dist="30000" dir="5400000" rotWithShape="0">
              <a:srgbClr val="1D1D21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72016" y="2377439"/>
            <a:ext cx="1920240" cy="777240"/>
          </a:xfrm>
          <a:prstGeom prst="roundRect">
            <a:avLst>
              <a:gd name="adj" fmla="val 14000"/>
            </a:avLst>
          </a:prstGeom>
          <a:solidFill>
            <a:srgbClr val="EEF2EA"/>
          </a:solidFill>
          <a:ln w="15875">
            <a:solidFill>
              <a:srgbClr val="B7C9A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6" y="2377439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5F7B4F"/>
                </a:solidFill>
                <a:latin typeface="Arial"/>
              </a:rPr>
              <a:t>Bild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33375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D1D21"/>
                </a:solidFill>
                <a:latin typeface="Arial"/>
              </a:rPr>
              <a:t>Advise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6" y="3794760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6E6F74"/>
                </a:solidFill>
                <a:latin typeface="Arial"/>
              </a:rPr>
              <a:t>Weekly gaps + next pick.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72016" y="4480560"/>
            <a:ext cx="1920240" cy="329184"/>
          </a:xfrm>
          <a:prstGeom prst="roundRect">
            <a:avLst>
              <a:gd name="adj" fmla="val 3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4480560"/>
            <a:ext cx="1920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5F7B4F"/>
                </a:solidFill>
                <a:latin typeface="Arial"/>
              </a:rPr>
              <a:t>nutrition engine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394960"/>
            <a:ext cx="10543032" cy="777240"/>
          </a:xfrm>
          <a:prstGeom prst="roundRect">
            <a:avLst>
              <a:gd name="adj" fmla="val 8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504688"/>
            <a:ext cx="10058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Privacy by design:  </a:t>
            </a:r>
            <a:r>
              <a:rPr sz="1300" b="0" i="0">
                <a:solidFill>
                  <a:srgbClr val="1D1D21"/>
                </a:solidFill>
                <a:latin typeface="Arial"/>
              </a:rPr>
              <a:t>on-device OCR · per-user row-level security · GDPR export &amp; erase. Rule-based — the AI only breaks ties.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644652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6419088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641908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D1D21"/>
                </a:solidFill>
                <a:latin typeface="Arial"/>
              </a:rPr>
              <a:t>What runs today — and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417320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2862072"/>
            <a:ext cx="3319272" cy="45720"/>
          </a:xfrm>
          <a:prstGeom prst="rect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788920"/>
            <a:ext cx="219456" cy="219456"/>
          </a:xfrm>
          <a:prstGeom prst="ellipse">
            <a:avLst/>
          </a:prstGeom>
          <a:solidFill>
            <a:srgbClr val="5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LIVE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3319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D1D21"/>
                </a:solidFill>
                <a:latin typeface="Arial"/>
              </a:rPr>
              <a:t>The loop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278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2461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Receipt → pantry → gaps → pick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850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7033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Daily check-off · expiry pantry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41605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Recipes &amp; Nutri-Coach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994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5F7B4F"/>
                </a:solidFill>
                <a:latin typeface="Arial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46177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Multi-user · GDPR export/erase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2862072"/>
            <a:ext cx="3319272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98848" y="2788920"/>
            <a:ext cx="219456" cy="219456"/>
          </a:xfrm>
          <a:prstGeom prst="ellipse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196596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NEXT ·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258568"/>
            <a:ext cx="3319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D1D21"/>
                </a:solidFill>
                <a:latin typeface="Arial"/>
              </a:rPr>
              <a:t>Broaden &amp; sharpen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2278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461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Multilingual + English food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36850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7033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Timezone-aware dates · dark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1422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1605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Best-before (MHD) sorting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5994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6177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Shopping list from offers/flyers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7576" y="2862072"/>
            <a:ext cx="3319272" cy="457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37576" y="2788920"/>
            <a:ext cx="219456" cy="219456"/>
          </a:xfrm>
          <a:prstGeom prst="ellipse">
            <a:avLst/>
          </a:prstGeom>
          <a:solidFill>
            <a:srgbClr val="6E6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37576" y="196596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E6F74"/>
                </a:solidFill>
                <a:latin typeface="Arial"/>
              </a:rPr>
              <a:t>NEXT ·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7576" y="2258568"/>
            <a:ext cx="3319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D1D21"/>
                </a:solidFill>
                <a:latin typeface="Arial"/>
              </a:rPr>
              <a:t>Partnerships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7576" y="32278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32461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Supermarkets &amp; discounters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7576" y="36850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37033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Health-insurer bonuses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41422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41605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Corporate health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7576" y="45994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7C9A6A"/>
                </a:solidFill>
                <a:latin typeface="Arial"/>
              </a:rPr>
              <a:t>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8" y="4617720"/>
            <a:ext cx="3063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Live testing → 10-KPI funnel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349240"/>
            <a:ext cx="10543032" cy="777240"/>
          </a:xfrm>
          <a:prstGeom prst="roundRect">
            <a:avLst>
              <a:gd name="adj" fmla="val 8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458968"/>
            <a:ext cx="10058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F7B4F"/>
                </a:solidFill>
                <a:latin typeface="Arial"/>
              </a:rPr>
              <a:t>The bet:  </a:t>
            </a:r>
            <a:r>
              <a:rPr sz="1300" b="0" i="0">
                <a:solidFill>
                  <a:srgbClr val="1D1D21"/>
                </a:solidFill>
                <a:latin typeface="Arial"/>
              </a:rPr>
              <a:t>do people trust a receipt-based tip enough to change their next cart — and does the daily tap stick?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44652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6419088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641908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E6F74"/>
                </a:solidFill>
                <a:latin typeface="Arial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749808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NUTRIWISE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4800" b="1" i="0">
                <a:solidFill>
                  <a:srgbClr val="1D1D21"/>
                </a:solidFill>
                <a:latin typeface="Arial"/>
              </a:rPr>
              <a:t>Thank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00400"/>
            <a:ext cx="3108960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429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1">
                <a:solidFill>
                  <a:srgbClr val="5F7B4F"/>
                </a:solidFill>
                <a:latin typeface="Arial"/>
              </a:rPr>
              <a:t>Upload a grocery receipt. Get one smarter thing to buy next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4515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Jennifer Rake &amp; Stuart Kasemeier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434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4515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jennifer.rake@arcor.de   · Stuart: [add email]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3434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PROJECT &amp;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64515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D1D21"/>
                </a:solidFill>
                <a:latin typeface="Arial"/>
              </a:rPr>
              <a:t>github.com/letstuit94/naehrbert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E6F74"/>
                </a:solidFill>
                <a:latin typeface="Arial"/>
              </a:rPr>
              <a:t>Appendix: personas · tech stack · business model — Questions welcome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APPENDIX · PERSONA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914400"/>
            <a:ext cx="685800" cy="685800"/>
          </a:xfrm>
          <a:prstGeom prst="ellipse">
            <a:avLst/>
          </a:prstGeom>
          <a:solidFill>
            <a:srgbClr val="F3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B36A4A"/>
                </a:solidFill>
                <a:latin typeface="Arial"/>
              </a:rPr>
              <a:t>SB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32688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D1D21"/>
                </a:solidFill>
                <a:latin typeface="Arial"/>
              </a:rPr>
              <a:t>Sara Bauer, 25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E6F74"/>
                </a:solidFill>
                <a:latin typeface="Arial"/>
              </a:rPr>
              <a:t>Master's student · Munich · Vegan 2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1042415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F3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1051560"/>
            <a:ext cx="1691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B36A4A"/>
                </a:solidFill>
                <a:latin typeface="Arial"/>
              </a:rPr>
              <a:t>Dietary Restrictor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DAILY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4028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Cooks most meals (ethics + budget)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5117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~8-dish rotation, narrow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86207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Reads labels · B12 (unsure of dose)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PSYCHOLOGICAL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22199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24028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Diet = identity &amp;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5328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55117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"Am I actually healthy?"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84378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86207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Reacts badly to preachy 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DECISION-MAKING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679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8620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Researches ethics + privacy policies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17880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9709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Active in vegan groups &amp; Reddit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897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50799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Rejects "vegan filter" apps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5661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BIGGEST FRUSTRATIONS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8679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388620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"Vegan = checkbox, not default"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17880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19709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Constant chicken protein recs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4897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36A4A"/>
                </a:solidFill>
                <a:latin typeface="Arial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450799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Iron/omega-3/zinc — contradictory answers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257800"/>
            <a:ext cx="10543032" cy="868680"/>
          </a:xfrm>
          <a:prstGeom prst="roundRect">
            <a:avLst>
              <a:gd name="adj" fmla="val 6000"/>
            </a:avLst>
          </a:prstGeom>
          <a:solidFill>
            <a:srgbClr val="F3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349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36A4A"/>
                </a:solidFill>
                <a:latin typeface="Arial"/>
              </a:rPr>
              <a:t>SECRET MOTIVATION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5961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Shut down "but where do you get your protein?" — with data proving she's healthier than they are.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44652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6419088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41908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E6F74"/>
                </a:solidFill>
                <a:latin typeface="Arial"/>
              </a:rPr>
              <a:t>appendix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APPENDIX · PERSONA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914400"/>
            <a:ext cx="685800" cy="685800"/>
          </a:xfrm>
          <a:prstGeom prst="ellipse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5F7B4F"/>
                </a:solidFill>
                <a:latin typeface="Arial"/>
              </a:rPr>
              <a:t>TK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32688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D1D21"/>
                </a:solidFill>
                <a:latin typeface="Arial"/>
              </a:rPr>
              <a:t>Tobias Kramer, 38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E6F74"/>
                </a:solidFill>
                <a:latin typeface="Arial"/>
              </a:rPr>
              <a:t>Project Manager · Hamburg · Married, 2 kids, no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1042415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1051560"/>
            <a:ext cx="1691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5F7B4F"/>
                </a:solidFill>
                <a:latin typeface="Arial"/>
              </a:rPr>
              <a:t>Busy Professional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DAILY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4028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Out 7:30–19:00 · kids need dinner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5117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Leftovers or fast food; desk sandwich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86207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Cooks only weekends (2 of 14 meals)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PSYCHOLOGICAL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22199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24028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Good role model, no life overhaul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5328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55117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Runs work life in Notion — likes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84378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86207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Would engage if friction is 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DECISION-MAKING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679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8620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Buys on trusted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17880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9709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Too busy to 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897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50799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Pays for time — complexity is the barrier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5661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BIGGEST FRUSTRATIONS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8679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388620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"No 2 hours to figure out eating well"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17880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19709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Quit MyFitnessPal after 4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4897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450799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Hates apps needing daily input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257800"/>
            <a:ext cx="10543032" cy="868680"/>
          </a:xfrm>
          <a:prstGeom prst="roundRect">
            <a:avLst>
              <a:gd name="adj" fmla="val 6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349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5F7B4F"/>
                </a:solidFill>
                <a:latin typeface="Arial"/>
              </a:rPr>
              <a:t>SECRET MOTIVATION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5961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Scared of getting sick — dad's heart attack at 55. The cholesterol comment landed hard. Wants to hear he'll be fine.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44652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6419088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41908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E6F74"/>
                </a:solidFill>
                <a:latin typeface="Arial"/>
              </a:rPr>
              <a:t>appendix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APPENDIX · PERSONA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914400"/>
            <a:ext cx="685800" cy="685800"/>
          </a:xfrm>
          <a:prstGeom prst="ellipse">
            <a:avLst/>
          </a:prstGeom>
          <a:solidFill>
            <a:srgbClr val="E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6B62C4"/>
                </a:solidFill>
                <a:latin typeface="Arial"/>
              </a:rPr>
              <a:t>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932688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D1D21"/>
                </a:solidFill>
                <a:latin typeface="Arial"/>
              </a:rPr>
              <a:t>Lena Müller, 29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E6F74"/>
                </a:solidFill>
                <a:latin typeface="Arial"/>
              </a:rPr>
              <a:t>UX Designer · Berlin · Lives alone, gym 3×/week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1042415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1051560"/>
            <a:ext cx="1691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B62C4"/>
                </a:solidFill>
                <a:latin typeface="Arial"/>
              </a:rPr>
              <a:t>Early Adopter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DAILY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4028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Skips breakfast · lunch near 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5117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Tracks workouts in Strava, never a macro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86207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Meal-preps ~monthly · saves unused recipes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PSYCHOLOGICAL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22199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24028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Control without a second 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5328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55117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"Someone who works out" =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84378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86207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Nutrition feels overwhelming, shameful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DECISION-MAKING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679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8620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Tries 3 apps free before committing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17880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9709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Reads reviews obsessively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897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50799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Ugly app = instant 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5661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E6F74"/>
                </a:solidFill>
                <a:latin typeface="Arial"/>
              </a:rPr>
              <a:t>BIGGEST FRUSTRATIONS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8679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388620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"Eat healthy but always tired"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17880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19709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Hates calorie counting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4897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B62C4"/>
                </a:solidFill>
                <a:latin typeface="Arial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450799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D1D21"/>
                </a:solidFill>
                <a:latin typeface="Arial"/>
              </a:rPr>
              <a:t>Apps feel built for bodybuilders / 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257800"/>
            <a:ext cx="10543032" cy="868680"/>
          </a:xfrm>
          <a:prstGeom prst="roundRect">
            <a:avLst>
              <a:gd name="adj" fmla="val 6000"/>
            </a:avLst>
          </a:prstGeom>
          <a:solidFill>
            <a:srgbClr val="E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349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6B62C4"/>
                </a:solidFill>
                <a:latin typeface="Arial"/>
              </a:rPr>
              <a:t>SECRET MOTIVATION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5961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D1D21"/>
                </a:solidFill>
                <a:latin typeface="Arial"/>
              </a:rPr>
              <a:t>Stop feeling guilty about food and still look good. An app that makes her feel she's doing enough is the win.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44652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6419088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41908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E6F74"/>
                </a:solidFill>
                <a:latin typeface="Arial"/>
              </a:rPr>
              <a:t>appendix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APPENDIX ·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D1D21"/>
                </a:solidFill>
                <a:latin typeface="Arial"/>
              </a:rPr>
              <a:t>What it's built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1417320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975104"/>
            <a:ext cx="7772400" cy="402336"/>
          </a:xfrm>
          <a:prstGeom prst="roundRect">
            <a:avLst>
              <a:gd name="adj" fmla="val 3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1975104"/>
            <a:ext cx="7406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React 19 · React Router 7 · TypeScript · Vite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87168"/>
            <a:ext cx="10515600" cy="10972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23744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578608"/>
            <a:ext cx="7772400" cy="402336"/>
          </a:xfrm>
          <a:prstGeom prst="roundRect">
            <a:avLst>
              <a:gd name="adj" fmla="val 3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578608"/>
            <a:ext cx="7406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FastAPI · Uvicorn · Pydantic v2 · Python 3.11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90672"/>
            <a:ext cx="10515600" cy="10972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27248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OCR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182112"/>
            <a:ext cx="7772400" cy="402336"/>
          </a:xfrm>
          <a:prstGeom prst="roundRect">
            <a:avLst>
              <a:gd name="adj" fmla="val 3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182112"/>
            <a:ext cx="7406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Tesseract · PyMuPDF · OpenCV · on-device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94176"/>
            <a:ext cx="10515600" cy="10972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3075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Matching /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785615"/>
            <a:ext cx="7772400" cy="402336"/>
          </a:xfrm>
          <a:prstGeom prst="roundRect">
            <a:avLst>
              <a:gd name="adj" fmla="val 3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3785615"/>
            <a:ext cx="7406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BLS 4.0 · OpenFoodFacts · tiered resolver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297680"/>
            <a:ext cx="10515600" cy="10972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34256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389120"/>
            <a:ext cx="7772400" cy="402336"/>
          </a:xfrm>
          <a:prstGeom prst="roundRect">
            <a:avLst>
              <a:gd name="adj" fmla="val 3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4389120"/>
            <a:ext cx="7406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Supabase · PostgreSQL · Row-Level 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901184"/>
            <a:ext cx="10515600" cy="10972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AI (optional)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992624"/>
            <a:ext cx="7772400" cy="402336"/>
          </a:xfrm>
          <a:prstGeom prst="roundRect">
            <a:avLst>
              <a:gd name="adj" fmla="val 3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992624"/>
            <a:ext cx="7406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Gemini 2.5 Flash · recipes + coach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504688"/>
            <a:ext cx="10515600" cy="10972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41264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D1D21"/>
                </a:solidFill>
                <a:latin typeface="Arial"/>
              </a:rPr>
              <a:t>Tooling / CI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5596128"/>
            <a:ext cx="7772400" cy="402336"/>
          </a:xfrm>
          <a:prstGeom prst="roundRect">
            <a:avLst>
              <a:gd name="adj" fmla="val 30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5596128"/>
            <a:ext cx="7406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pytest · ruff · ESLint · Prettier · pre-commit · GitHub 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6108192"/>
            <a:ext cx="10515600" cy="10972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644652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419088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41908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E6F74"/>
                </a:solidFill>
                <a:latin typeface="Arial"/>
              </a:rPr>
              <a:t>appendix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5F7B4F"/>
                </a:solidFill>
                <a:latin typeface="Arial"/>
              </a:rPr>
              <a:t>APPENDIX ·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D1D21"/>
                </a:solidFill>
                <a:latin typeface="Arial"/>
              </a:rPr>
              <a:t>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17320" cy="45720"/>
          </a:xfrm>
          <a:prstGeom prst="rect">
            <a:avLst/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176272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673352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F7B4F"/>
                </a:solidFill>
                <a:latin typeface="Arial"/>
              </a:rPr>
              <a:t>KEY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29384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BLS 4.0 (food table)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144268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Open Food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Hosting (Supabase)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574036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LLM (Google Gemini)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88920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Health insurers (future)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1600200"/>
            <a:ext cx="2176272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673352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F7B4F"/>
                </a:solidFill>
                <a:latin typeface="Arial"/>
              </a:rPr>
              <a:t>KEY ACTIVITIES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929384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Nutrient-gap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144268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Coaching &amp; recipes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359152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Personalization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574036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GDPR data handling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0632" y="3246120"/>
            <a:ext cx="2176272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3319272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F7B4F"/>
                </a:solidFill>
                <a:latin typeface="Arial"/>
              </a:rPr>
              <a:t>KEY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575304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BLS 4.0 + OFF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790188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Tiered matching resolver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005072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Nutrition/gap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219956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2-person 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8344" y="1600200"/>
            <a:ext cx="2176272" cy="3200400"/>
          </a:xfrm>
          <a:prstGeom prst="roundRect">
            <a:avLst>
              <a:gd name="adj" fmla="val 5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48072" y="1673352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F7B4F"/>
                </a:solidFill>
                <a:latin typeface="Arial"/>
              </a:rPr>
              <a:t>VALUE PROPOSITIONS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1929384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Personalized, not one-size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2144268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Instant nutrient-gap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2359152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Auto shopping list to goals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8072" y="2574036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Respects allergies &amp; diets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2" y="2788920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Privacy-first, fully GDPR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06055" y="1600200"/>
            <a:ext cx="2176272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15783" y="1673352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F7B4F"/>
                </a:solidFill>
                <a:latin typeface="Arial"/>
              </a:rPr>
              <a:t>CUSTOMER RELATIONSHIPS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5783" y="1929384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AI coach (chat)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5783" y="2144268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Weekly check-ins &amp; nudges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5783" y="2359152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Gamification: streaks/goals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5783" y="2574036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Self-service onboarding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06055" y="3246120"/>
            <a:ext cx="2176272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15783" y="3319272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F7B4F"/>
                </a:solidFill>
                <a:latin typeface="Arial"/>
              </a:rPr>
              <a:t>CHANNELS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5783" y="3575304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Web app (React PWA)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15783" y="3790188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Health/fitness social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15783" y="4005072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Word-of-mouth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5783" y="4219956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Later: app store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73768" y="1600200"/>
            <a:ext cx="2176272" cy="3200400"/>
          </a:xfrm>
          <a:prstGeom prst="roundRect">
            <a:avLst>
              <a:gd name="adj" fmla="val 5000"/>
            </a:avLst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83496" y="1673352"/>
            <a:ext cx="19933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F7B4F"/>
                </a:solidFill>
                <a:latin typeface="Arial"/>
              </a:rPr>
              <a:t>CUSTOMER SEGMENTS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83496" y="1929384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Health-minded 25–45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83496" y="2144268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Nutrition goals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3496" y="2359152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Vegan/veggie/allergy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3496" y="2574036"/>
            <a:ext cx="1975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Busy professionals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892040"/>
            <a:ext cx="6711696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" y="4965192"/>
            <a:ext cx="6528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F7B4F"/>
                </a:solidFill>
                <a:latin typeface="Arial"/>
              </a:rPr>
              <a:t>COST STRUCTURE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5221224"/>
            <a:ext cx="6510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Gemini API (token) · Hosting (Supabase) · Postgres · Dev (capstone 0€) · GDPR setup · Marketing (organic)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06055" y="4892040"/>
            <a:ext cx="4443983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15783" y="4965192"/>
            <a:ext cx="42611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F7B4F"/>
                </a:solidFill>
                <a:latin typeface="Arial"/>
              </a:rPr>
              <a:t>REVENUE STREAMS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15783" y="5221224"/>
            <a:ext cx="4242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Freemium → Premium · B2B insurer licensing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15783" y="5436108"/>
            <a:ext cx="4242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7C9A6A"/>
                </a:solidFill>
                <a:latin typeface="Arial"/>
              </a:rPr>
              <a:t>· </a:t>
            </a:r>
            <a:r>
              <a:rPr sz="850" b="0" i="0">
                <a:solidFill>
                  <a:srgbClr val="1D1D21"/>
                </a:solidFill>
                <a:latin typeface="Arial"/>
              </a:rPr>
              <a:t>Affiliate grocery commissions · Corporate wellness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99846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1">
                <a:solidFill>
                  <a:srgbClr val="6E6F74"/>
                </a:solidFill>
                <a:latin typeface="Arial"/>
              </a:rPr>
              <a:t>Reflects the built product stack — BLS 4.0 · Open Food Facts · Supabase · Gemini · React.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644652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7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6419088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6E6F74"/>
                </a:solidFill>
                <a:latin typeface="Arial"/>
              </a:rPr>
              <a:t>NutriWise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641908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6E6F74"/>
                </a:solidFill>
                <a:latin typeface="Arial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